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맑은 고딕"/>
              </a:rPr>
              <a:t>EQ-PMS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맑은 고딕"/>
              </a:rPr>
              <a:t>장비 프로젝트 셋업 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0E7FF"/>
                </a:solidFill>
                <a:latin typeface="맑은 고딕"/>
              </a:rPr>
              <a:t>사용자 교육 — 신규 기능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맑은 고딕"/>
              </a:rPr>
              <a:t>AX 혁신실  · 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오늘 배우는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약 55슬라이드 / 1시간 강의 + Q&amp;A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486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488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시스템 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3230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EQ-PMS가 해결하는 문제 (3분)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79776"/>
            <a:ext cx="5486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95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254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시작하기 / 권한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08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로그인 · 메뉴 · 역할 (10분)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56432"/>
            <a:ext cx="5486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021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대시보드 / 프로젝트 / 일정·간트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856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매일 쓰는 화면 (15분)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33087"/>
            <a:ext cx="5486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42815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178807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회의록 · 검수 · 이슈/AS · 인력 · 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62271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주요 워크플로우 (15분)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09744"/>
            <a:ext cx="5486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1947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5546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38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자동 작성 + 팀 종합 (10분)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961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532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보고서 / FAQ /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8155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마무리 (10분)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한 줄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기록은 한 곳에, 보고는 자동으로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엑셀/메일/카톡 분산 → EQ-PMS 단일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394960" cy="3840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맑은 고딕"/>
              </a:rPr>
              <a:t>기존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일정 = 엑셀 파일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회의록 = 워드 / 메일 첨부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이슈 = 카톡 / 슬랙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주간 보고 = 매주 30분 수기 작성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버전 충돌 / 자료 분실 빈번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2286000"/>
            <a:ext cx="5394960" cy="3840480"/>
          </a:xfrm>
          <a:prstGeom prst="rect">
            <a:avLst/>
          </a:prstGeom>
          <a:solidFill>
            <a:srgbClr val="E0E7FF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514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12E81"/>
                </a:solidFill>
                <a:latin typeface="맑은 고딕"/>
              </a:rPr>
              <a:t>EQ-PMS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06324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프로젝트 일정 / 간트 / 검수 통합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회의록 = 다중 파일 + 타임라인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이슈 = 모바일 사진 첨부 + 알림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주간 보고 = 자동 작성 (1분)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0F172A"/>
                </a:solidFill>
                <a:latin typeface="맑은 고딕"/>
              </a:rPr>
              <a:t>Drive 자동 폴더링 / Sheets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시스템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맑은 고딕"/>
              </a:rPr>
              <a:t>EQ-PMS가 무엇이고, 무엇을 해결하나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시스템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EQ-PMS는 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반도체 / 디스플레이 / 2차전지 장비 셋업 프로젝트 전용 PMS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본사 관리자 · 현장 PM · 엔지니어 · 고객사가 같은 화면을 공유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Google Drive + Google Sheets 기반 — 별도 서버 불필요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모바일 / PC 자동 전환 (768px 미만 = 모바일 모드)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도메인별 검수표 / 간트 / 자격(출입증·안전·비자) 관리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기록의 흐름: 작성 → 자동 저장 → 자동 보고 → Excel/PDF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6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시스템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메뉴 구조 (좌측 사이드바)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권한·기능 활성화 여부에 따라 메뉴 노출 자동 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/ 프로젝트 관리 / 이슈·펀치 관리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AS 통합 관리 / 자재·스페어 / 사이트·유틸 마스터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인력·리소스 / 버전 릴리즈 관리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★ 주간 업무 보고 (활성화 + 권한 보유 시)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사용자 관리 (ADMIN) / 시스템 설정 (ADMIN)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사이드바 하단 “메뉴 접기” 버튼 → 컨텐츠 영역 확대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7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시스템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데이터는 어디에 저장되나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별도 백엔드 없이 Google Workspace를 그대로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모든 변경 → Google Sheets DB에 자동 저장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첨부 파일 → Google Drive 자동 폴더 분류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[루트] / [고객사] / [프로젝트명-PRJxxxxxx] / [카테고리]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카테고리: 명세서 / 도면 / 회의록 / 기타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엑셀 파일 따로 관리 X = 버전 충돌 없음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단일 파일 최대 18MB (GAS 한도) — 큰 파일은 Drive 직접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시작하기 / 권한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맑은 고딕"/>
              </a:rPr>
              <a:t>로그인 · 메뉴 · 4 역할 + 팀장 부가권한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9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시작하기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로그인 / 비밀번호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관리자가 발급한 ID/비밀번호로 로그인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최초 접속 시 비밀번호 변경 강제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우측 상단 키 아이콘 → 언제든 비밀번호 변경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비밀번호 분실 = ADMIN에게 재설정 요청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재설정 후 다시 1회 강제 변경 절차 진행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10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시작하기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헤더 아이콘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우측 상단의 5개 아이콘 — 자주 쓰는 기능 모음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🔔 알림 센터 — 전사 신규 활동 모아보기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🌐 모드 전환 — PC ↔ 모바일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🔑 비밀번호 변경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❓ 도움말 — 이 가이드 모달 (탭별로 상세)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🚪 로그아웃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11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시작하기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알림 센터 (🔔)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출근 직후 5초만에 전사 어제 무슨 일이 있었는지 파악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포함: 공유 노트 / 신규 이슈 / 고객 요청 / AS / 버전 / 출장 / 추가 작업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미확인 건수 빨간 뱃지 + 항목 클릭 시 해당 화면으로 점프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필터 칩: 전체 / 미확인 / 종류별 (공유노트·이슈·고객요청·AS·버전)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“모두 읽음” 버튼으로 일괄 처리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마지막 본 시각은 사용자별로 저장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12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권한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4개 기본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사용자 관리에서 ADMIN이 지정. 한 명당 하나만 부여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11680"/>
          <a:ext cx="1106424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6949440"/>
              </a:tblGrid>
              <a:tr h="32552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누가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기능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25526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본사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모든 기능 + 사용자 관리 + 사인 취소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526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현장 PM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프로젝트/이슈/자재/AS 전반, 담당자 변경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5526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현장 엔지니어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본인 배정 프로젝트의 진행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52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CUSTOMER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고객사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자기 회사 프로젝트 조회 + 요청 + 검수 서명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13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권한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부가 권한 — 팀장 (NEW)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기본 역할과 별도로 부여 / 사용자 관리 → “팀장” 토글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PM과 무관 — 같은 사람이 둘 다일 수도, 분리될 수도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1064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권한 — 같은 부서(dept) 부서원의 주간 보고 검토 / 승인 / 반려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권한 — 팀 종합 보고서 작성 (부서원 보고를 자동 통합)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ADMIN은 자동으로 전사 권한 보유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“PM = 프로젝트 책임자, 팀장 = 부서장”으로 의미가 구분된다.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활성화 — 사용자 관리에서 “팀장” 컬럼 토글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참고 — 부서(dept) 값이 비어있으면 팀장-부서원 매칭이 안 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14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권한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권한 한눈에 보기 — 자주 쓰는 7가지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전체 32항목은 도움말 → 권한별 기능 탭 참조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생성 — ADMIN / PM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검수 사인 — CUSTOMER (ADMIN 대리 가능)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사인 취소 / Buy-off 후 검수표 수정 — ADMIN 단독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도메인(산업군) 사후 수정 — ADMIN 단독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주간 보고 검토 — 팀장(같은 부서) / ADMIN(전사)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이슈 / AS / 자재 등록 — ADMIN / PM / ENGINEER 공통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시스템 설정 / 사용자 관리 — ADMIN 단독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대시보드 / 프로젝트 / 일정·간트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맑은 고딕"/>
              </a:rPr>
              <a:t>매일 쓰는 화면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16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대시보드 한눈에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상단 KPI 5장 + 좌측 간트/인력 + 우측 이슈/AS 위젯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12E81"/>
                </a:solidFill>
                <a:latin typeface="맑은 고딕"/>
              </a:rPr>
              <a:t>KPI 카드 5장 (모두 클릭 가능)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7315200" cy="35661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맑은 고딕"/>
              </a:rPr>
              <a:t>전체 프로젝트 일정 (간트) + 인력 배치 사이드바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743200"/>
            <a:ext cx="3657600" cy="1691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미해결 이슈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24612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severity 가로 스택 + 최근 3건
헤더 클릭 → 전체 팝업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4617720"/>
            <a:ext cx="3657600" cy="1691640"/>
          </a:xfrm>
          <a:prstGeom prst="rect">
            <a:avLst/>
          </a:prstGeom>
          <a:solidFill>
            <a:srgbClr val="9D4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54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AS 미완료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1206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유형별 막대 + 최근 3건
헤더 클릭 → 긴급출동 우선 팝업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17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KPI 카드 5장 — 모두 클릭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AS는 KPI에서 빠지고 우측 위젯으로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8007" y="228600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8007" y="2286000"/>
            <a:ext cx="109728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327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맑은 고딕"/>
              </a:rPr>
              <a:t>미해결 이슈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2788920"/>
            <a:ext cx="1828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심각도순 이슈 팝업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8287" y="228600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58287" y="2286000"/>
            <a:ext cx="109728" cy="18288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2607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맑은 고딕"/>
              </a:rPr>
              <a:t>지연·위험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607" y="2788920"/>
            <a:ext cx="1828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위험점수순 프로젝트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228600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8567" y="2286000"/>
            <a:ext cx="109728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2887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맑은 고딕"/>
              </a:rPr>
              <a:t>임박 마일스톤 30일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2887" y="2788920"/>
            <a:ext cx="1828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D-day 순 마일스톤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8847" y="228600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38847" y="2286000"/>
            <a:ext cx="109728" cy="1828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3167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맑은 고딕"/>
              </a:rPr>
              <a:t>고객 요청 미처리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3167" y="2788920"/>
            <a:ext cx="1828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긴급도순 / 클릭 시 고객요청 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79127" y="228600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79127" y="2286000"/>
            <a:ext cx="109728" cy="1828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3447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맑은 고딕"/>
              </a:rPr>
              <a:t>평균 진척률 (진행중)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3447" y="2788920"/>
            <a:ext cx="1828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delta 뱃지 + 4버킷 분포 + 계획 위치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34155"/>
                </a:solidFill>
                <a:latin typeface="맑은 고딕"/>
              </a:rPr>
              <a:t>5장 모두 클릭 가능 — 전용 팝업으로 전체 리스트 + 필터링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029200"/>
            <a:ext cx="9418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“AS는 회사 입장 critical 지표지만 KPI 자리는 5개로 한정” → 위젯에서 별도 추적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“신규 착수” KPI는 제거 — 분석 모달에서 시계열로 확인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AS 항목 클릭 시 프로젝트 모달이 AS 탭이 활성화된 상태로 열림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18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우측 위젯 — 이슈 / 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상하 2단 분할 — 항상 보이게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상단 — 미해결 이슈: severity 가로 스택 + 최근 3건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헤더 클릭 = 전체 이슈 팝업 (severity 순)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하단 — AS 미완료: 유형별 막대 + 최근 3건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유형: 긴급출동 / 정기점검 / 부품교체 / 불량수리 / 보증수리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헤더 클릭 = 긴급출동 우선 정렬 팝업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리스트 클릭 = 해당 프로젝트 모달이 AS 탭 활성 상태로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19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간트 — 색상 / 마일스톤 ◆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차트 위 범례 줄에 상시 표시 — 노란색은 두 가지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54406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막대 (프로젝트 상태)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54406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548640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맑은 고딕"/>
              </a:rPr>
              <a:t>파랑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42616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</a:rPr>
              <a:t>진행중 (정상)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46120"/>
            <a:ext cx="548640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154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맑은 고딕"/>
              </a:rPr>
              <a:t>노랑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91256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</a:rPr>
              <a:t>마감임박 — 납기 여유 적음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794760"/>
            <a:ext cx="548640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703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맑은 고딕"/>
              </a:rPr>
              <a:t>빨강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739896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</a:rPr>
              <a:t>이슈발생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43400"/>
            <a:ext cx="548640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251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맑은 고딕"/>
              </a:rPr>
              <a:t>초록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288536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맑은 고딕"/>
              </a:rPr>
              <a:t>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한 막대 안에서 — 좌측(진한 색) = 경과 기간 / 우측(60% 투명) = 예정 기간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2011680"/>
            <a:ext cx="5440680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04825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마일스톤 ◆ 다이아몬드 (긴급도 우선)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2395728"/>
            <a:ext cx="54406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2578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11D48"/>
                </a:solidFill>
                <a:latin typeface="맑은 고딕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6334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맑은 고딕"/>
              </a:rPr>
              <a:t>빨간 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6334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D-7 이내 임박 (긴급)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30358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맑은 고딕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0906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맑은 고딕"/>
              </a:rPr>
              <a:t>노란 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D-30 이내 임박 (주의)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34930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3F5E"/>
                </a:solidFill>
                <a:latin typeface="맑은 고딕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35478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3F5E"/>
                </a:solidFill>
                <a:latin typeface="맑은 고딕"/>
              </a:rPr>
              <a:t>핑크 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35478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단계(Phase) 마일스톤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950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9D4EDD"/>
                </a:solidFill>
                <a:latin typeface="맑은 고딕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40050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D4EDD"/>
                </a:solidFill>
                <a:latin typeface="맑은 고딕"/>
              </a:rPr>
              <a:t>보라 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2" y="40050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셋업 작업 마일스톤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44074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맑은 고딕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44622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맑은 고딕"/>
              </a:rPr>
              <a:t>파랑 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2" y="446227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프로젝트 납기일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49834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지난 마일스톤은 40% 흐림 / 다이아몬드 hover = 이름·종류·날짜·D-N 툴팁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20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분석 / 회의록 모달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헤더 버튼이 분리되어 분석과 회의록을 따로 본다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고급 분석 = Lead Time / MTTR / 도메인 / 월별 / AS / 고객요청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회의록 = 프로젝트별 그룹 + 내부 amber 타임라인 브랜치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기본 모두 접힘 / 헤더 클릭 시 펼침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우측 ↗ = 해당 프로젝트 회의록 탭으로 점프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우측 상단 “전체 펼치기/접기” 토글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검색 / 프로젝트 / 작성자 필터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종합 Excel에 회의록 50건 별도 시트로 추가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21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프로젝트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프로젝트 생성 (3단계)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도메인 선택 → 셋업 일정 + 검수표 자동 세팅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1) 좌측 메뉴 → 프로젝트 관리 → “새 프로젝트”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2) 도메인(반도체/디스플레이/2차전지) 선택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도메인별 8단계 + 검수표 자동 세팅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도메인 사후 수정은 ADMIN 단독 — 처음부터 정확히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3) 메인 PM(인력 풀에서) 선택 → 저장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시작일/납기일은 “미정” 체크박스로 비워둘 수 있음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22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프로젝트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프로젝트 상세 — 7개 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탭 구조 + 모달 z-index 안내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일정 — 단계별 / 셋업 두 서브탭 + 편집 모달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참고 자료 — 명세서·도면·기타 (Drive 자동 폴더링)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회의록 — 빠른/상세 모드 + 다중 파일 + 타임라인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검수표 — Buy-off 워크플로우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추가 대응 — 워런티 단계 변경 추적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이슈 / 고객요청 / AS / 자재 / 버전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이력 — 모든 활동 시간순 (클릭 시 해당 탭으로 점프)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23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프로젝트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단계(Phase) 8단계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영업/수주 → 설계 → 구매/자재 → 제조/조립 → 출하 → 현장 셋업 → 워런티 →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도메인별로 자동 세팅된 8단계가 기본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검수 사인 시 자동으로 워런티 단계 진입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마지막 단계(완료) = 진짜 완료 처리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단계 칩 클릭 = 임의 단계로 이동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이름 바꿔도 마지막 단계는 “완료 처리 단계”로 인식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24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프로젝트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프로젝트 정보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리스트의 프로젝트명/고객사 셀 클릭 = 수정 모달 (ADMIN/PM)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이름 · 고객사 · 사이트 · 일정 · 담당자 모두 수정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장비 코드 관리 — 코드/모델/일련번호 (파란 배지로 4개까지)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Enter로 빠른 추가 / 한 프로젝트에 여러 코드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2차전지 (사이클러/EOL) — 전압/전류/사양 (보라 배지)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산업군 수정 = ADMIN 단독 (활동 로그 자동 기록)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일정 미정 — 시작일/납기 “미정” 체크박스로 비워두기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25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프로젝트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담당자 / 출장 일정 통합 모달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리스트 담당자 셀 클릭 = 한 모달에서 모두 처리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① 메인 PM 변경 (사유 기록, 이력 자동)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② 추가 인력 멀티 배정 (체크박스 토글)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③ 출장 일정 — 한 사람이 같은 프로젝트에 여러 번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출발일/복귀일/메모(예: 셋업 1차, Buy-off 입회)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④ 출장 수정 = 변경 전/후 + 사유 + 수정자/일시 자동 이력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출장 = 인력 화면 + 대시보드에 자동 반영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현장 파견 / 출장 예정 / 복귀 N일 전 D-Day 표시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26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일정 / 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일정 탭 — 두 모달 패턴 통일 (개편)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“셋업 일정” 탭 → “일정” 탭으로 변경 + 두 서브탭 모두 모달 편집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일정 탭 안에 [프로젝트 단계별] / [셋업 일정] 두 서브탭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양쪽 모두 헤더 박스 + [단계 편집] / [셋업 일정 편집] 버튼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클릭 시 모달 (1280px) — 일괄 추가·수정·삭제·순서·일정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표는 읽기 전용 — 직접 수정 사고 방지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변경은 활동 이력 자동 (PHASE_DEFINE / SETUP_DEFINE)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27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일정 / 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단계 편집 모달 (PM 이상)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이름 변경 / 추가 / 삭제 / 순서 / 일정 / 마일스톤 한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단계마다 시작일/종료일 직접 지정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“균등 분배” — 프로젝트 시작~종료를 단계 수로 자동 분배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“일정 비우기” — 모든 단계 일정 초기화 (간트는 균등 분배 폴백)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마일스톤(SOP) 토글 — 켜면 간트에 빨간 ◆ + SOP 라벨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표준 8단계로 초기화 버튼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활동 이력에 PHASE_DEFINE (추가 N · 수정 M · 삭제 K) 자동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28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일정 / 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간트차트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우측 상단 리스트 / 간트차트 토글 + 두 서브탭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단계별 탭 — 각 프로젝트 한 행, 막대 8단계 색 분할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완료=진하게 / 현재=70% / 예정=흐림, 외곽선 = 프로젝트 색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셋업 일정 탭 — 프로젝트별 그룹 헤더 + 색상 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헤더에 담당자/단계/진척률/작업수까지 함께 표시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마일스톤 — 빨간 ◆ + 종료일 라벨 (D-7 이내 펄스)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출장 일정 — 인디고 막대 자동 표시 (담당자 + 일자)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오늘 표시 — 빨간 점선 + “▼ 오늘” 알약 (날짜 안 가림)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29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일정 / 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간트 조작 / 필터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휠 = 줌, Shift+휠 = 가로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줌 0.5x ~ 4x / ZoomIn/Out/오늘 버튼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차트 진입 시 today-1개월 자동 스크롤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좌측 칸 = 가로 스크롤 무관 / 월·일 헤더 = sticky-top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다중 필터 — 좌상단 체크박스 드롭다운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검색 + 전체 선택/해제 + “전체 보기로 초기화” 버튼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관리 우측 상단 도메인 필터 (반도체/디스플레이/2차전지)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담당자 필터와 AND 조건 — 리스트/간트 양쪽 적용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회의록 · 검수 · 이슈/AS · 인력 · 버전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맑은 고딕"/>
              </a:rPr>
              <a:t>주요 워크플로우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31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회의록 · 참고자료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회의록 — 빠른 / 상세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프로젝트 → 회의록 탭. “+ 새 회의록 작성”으로 펼침/접힘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54406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48256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빠른 모드 — 일상 미팅 메모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42032"/>
            <a:ext cx="5166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본문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한줄 요약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첨부 파일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미팅 후 빨리 메모 남길 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필드 최소화 = 작성 시간 1분 이내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011680"/>
            <a:ext cx="5440680" cy="384048"/>
          </a:xfrm>
          <a:prstGeom prst="rect">
            <a:avLst/>
          </a:prstGeom>
          <a:solidFill>
            <a:srgbClr val="9D4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048256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상세 모드 — 정식 회의록 양식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2395728"/>
            <a:ext cx="54406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542032"/>
            <a:ext cx="5166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회의 일시 (datetime)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참석자 (쉼표 구분)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논의 내용 / 한줄 요약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결정사항 / 액션 아이템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200">
                <a:solidFill>
                  <a:srgbClr val="334155"/>
                </a:solidFill>
                <a:latin typeface="맑은 고딕"/>
              </a:rPr>
              <a:t>첨부 — 다중 파일 (`2/3 · 45%` 진행률)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32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회의록 · 참고자료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회의록 = 타임라인 브랜치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좌측 amber 세로선 + 캘린더 스타일 날짜 노드(월/일/요일)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색상은 신선도 — 최근=진하게, 오래된 것=흐리게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작성자 / 시간 / 상대시간 / 요약 / 본문 / 결정 / 액션 / 첨부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첨부 파일은 [프로젝트]/회의록 폴더로 자동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회의록 모달도 프로젝트별 그룹 + 동일 타임라인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헤더 클릭 = 펼침 / ↗ = 회의록 탭 점프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33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회의록 · 참고자료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참고자료 (회의록과 분리)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명세서·도면·기타 자료는 “참고 자료” 탭에서 별도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업로드 시 카테고리 선택 → Drive 자동 분류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[루트]/[고객사]/[프로젝트]/[카테고리]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카테고리: 명세서 / 도면 / 기타 (회의록은 회의록 탭만)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목록 화면에서 카테고리 필터 칩으로 그룹별 보기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단일 파일 최대 18MB (GAS 한도)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큰 파일은 Drive 직접 업로드 후 링크 공유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사전 작업 — 시스템 설정에서 Drive 루트 폴더 + 연결 테스트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34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검수 / Buy-off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검수표 작성 → 사인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검수 사인 시 자동으로 워런티 단계 진입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1) 프로젝트 → 검수표 탭 (도메인별 기본 항목 자동)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2) 항목별 OK / NG / 대기 표시 (NG 시 특이사항)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3) 모든 항목 OK → 서명 영역 활성화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4) CUSTOMER 로그인 또는 ADMIN 대리 서명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5) 서명 완료 → 자동 워런티 단계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항목은 자유롭게 추가/삭제 가능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35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검수 / Buy-off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ADMIN — 사후 수정 / 사인 취소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사인 후에도 ADMIN은 검수 항목 수정 가능 — 모든 행위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Buy-off 후 검수 항목 수정 (ADMIN 단독)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잘못된 사인 = “사인 취소” 버튼으로 서명 데이터 삭제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단계 자동 롤백 (현장 셋업)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모든 변경은 활동 이력에 SIGN_CANCEL 등으로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최종 보고서 PDF — 검수표 탭에서 인쇄/저장 (고객사 송부용)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36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이슈 / AS /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이슈 / 펀치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현장 사진 + 빠른 등록 + 이력 추적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좌측 메뉴 → 이슈/펀치 관리 → “현장 이슈 등록”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모바일 모드 = 사진 첨부와 함께 빠르게 등록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중요도 High / Medium / Low 자동 색상 분류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이슈 제목 / 담당자 수정 = ADMIN 단독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변경 전/후 + 사유 + 수정자/일시 자동 이력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“수정 이력 (N)” 토글로 전체 변경 내역 확인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37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이슈 / AS /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AS 통합 관리 + 고객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전 프로젝트 AS를 한 화면에서 + 고객사 직접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좌측 메뉴 “AS 통합 관리” = AS 부서용 통합 화면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검색 + 프로젝트 / 유형 / 상태 3중 필터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AS 카드 클릭 = 모달이 AS 탭이 활성화된 채로 열림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모달 닫으면 AS 페이지에 그대로 남음 (페이지 전환 X)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AS 위젯 클릭도 동일하게 AS 탭으로 자동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고객 요청 = 프로젝트별 고객요청 탭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고객사 직접 등록 + 응답 댓글 누적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“반영 완료/반려” 시 처리 결과 명시 입력 필수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38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이슈 / AS /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추가 대응 작업 (워런티 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검수 완료 후 변경사항을 셋업 일정과 분리해 추적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유형 — 기능 추가 / 개선 / 버그 / UI / 공정 튜닝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요청자 + 작업 내용 + 예정일 입력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상태 — 대기 → 검토중 → 진행중 → 완료/반려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고객 요청 탭 = 단순 요청 기록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추가 대응 탭 = 실제 개발/구현 작업 추적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혼동 금지 — 두 탭의 역할은 다르다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39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인력 / 리소스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엔지니어 등록 + 활동 이력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이름 매칭으로 본인 명의 활동만 자동 집계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좌측 메뉴 → 인력/리소스 → “엔지니어 추가”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이름 / 직급 / 부서 / 위치 / 수동 상태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활성 프로젝트 체크박스로 배정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리스트 우측 시계 아이콘 = 활동 이력 모달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출장 / 이슈 / 노트 / 버전 / AS / 요청 / PM변경 통합 타임라인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필터 칩 + 상단 검색창으로 내용/프로젝트 검색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40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인력 / 리소스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자격 정보 (출입증 / 안전 / 비자)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리스트 “자격/만료” 셀 클릭 = 자격 관리 모달 (3 탭)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한 사람이 여러 출입증 / 여러 안전교육 / 여러 비자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안전교육 = 만료없음 옵션 (상시 교육)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“상시 (만료없음)” 배지 / 자동 만료 카운트 제외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만료 = 빨간 배지 / 30일 이내 임박 = 노란 배지 자동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비자 “필요/만료” = 비자 이슈로 자동 카운트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인력 요약 카드에서 위험 인력 한눈에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41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인력 / 리소스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한눈에 보기 — 3컬럼 + 알림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페이지 상단 = 대시보드 모달과 같은 풍부 레이아웃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6장 통계 — 전체 / 가용 / 현장 파견 / 출장 예정 / 자격 / 비자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3컬럼 그리드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현장별 인력 배치 — 사이트 그룹 + 복귀 D-day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출장 일정 — 예정(D-7 강조) + 복귀 임박(30일)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가용 인력 풀 — 이름+직급+부서 + “대기” 배지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인력 알림 (풀 폭) — 자격/비자 이슈 카드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헤더 우측 “8주 가용성” 버튼 → 히트맵 모달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하단 = 엔지니어 상세 테이블 (CRUD)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42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버전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프로젝트별 버전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리스트 버전 컬럼 셀 클릭 = 모달 / 모달 안 닫힘 = 연속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카테고리 (HW / SW / 충방전기 FW / 인터페이스 FW 등)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추천 칩 클릭 = 빠른 입력 / 자유 입력도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버전 (예: v1.0.0) → 배포일 → 변경 노트 (필수)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Enter / Ctrl+Enter로 빠른 등록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변경 노트 비우면 “이력을 입력하세요” 에러 — 추적성 강제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수정/삭제는 카드 우측 연필/휴지통 아이콘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43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버전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카테고리 통일 / 전사 통합 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“최신 버전이 뭐였지?” = 카테고리 필터로 5초 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카테고리 인덱스 = 도메인 추천 순서로 자동 정렬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예: 2차전지 → HW → SW → 충방전기 FW → 인터페이스 FW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자유 입력 카테고리는 추천 다음에 한글 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좌측 메뉴 “버전 릴리즈 관리” = 전 프로젝트 통합 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시간 역순 + 카테고리/도메인/프로젝트 필터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맑은 고딕"/>
              </a:rPr>
              <a:t>자동 작성 + 팀 종합 — 평균 30분 → 1분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45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왜 이 기능을 쓰나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수기 작성 X — 시스템 활동 자동 집계 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주간 보고 작성 시간 90% 단축 — 평균 30분 → 1분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10642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한 주간 시스템에 등록된 본인 활동을 분석해 보고서 초안 자동 생성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이슈 / 회의록 / AS / 고객요청 / 버전 / 출장 / 추가 대응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“100% 자동 작성” 버튼 1번이면 끝 — 필요한 부분만 다듬기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“자동 + Excel” / “자동 + PDF” 단축 버튼 — 자동 작성 → 추출 한 번에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워드/엑셀 따로 X — 시스템 안에서 작성 → 제출 → 승인까지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팀장은 부서원 보고 받기 + 팀 종합 보고서 자동 작성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46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활성화 / 권한 (ADMIN 1회)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활성화 + 권한이 없으면 사이드바 메뉴 자체가 숨김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1) 시스템 설정 → 주간 업무 보고 기능 토글 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하단 sticky “전체 설정 저장” 버튼 — 모든 설정 한 번에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2) 사용자 관리 — 사용자별 권한 부여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“주간 보고” 토글 ON — 작성·제출·조회 권한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“팀장” 토글 ON — 같은 부서 부서원 보고 검토/승인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팀장 = PM과 별도. 같은 사람일 수도, 분리될 수도 있다.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ADMIN은 자동으로 전사 권한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47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자동 집계 — 어떤 활동이 어디로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매칭 기준 = 본인 이름. 다른 사람 명의 항목은 미포함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1168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961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섹션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들어가는 활동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금주 실적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회의록 · 처리된 이슈/AS · 완료된 셋업 · 검수 사인 · 버전 릴리즈 · 출장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차주 계획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다음 주 시작 셋업 · 임박 마일스톤 · 미해결 고객요청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이슈 / 리스크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High 이슈 · 지연 프로젝트 · 자격 만료 임박 · 중대 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48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작성 워크플로우 (1분이면 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임시저장 → 제출 → 팀장 승인/반려 — 한 화면에서 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1) 좌측 메뉴 → 주간 업무 보고 → 주차 선택 (기본 = 이번 주)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2) “100% 자동 작성” 버튼 클릭 — 3개 섹션 자동 채움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3) 필요 시 텍스트 가감 / 수정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4) “임시 저장” 또는 “제출”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5) 팀장 검토 → 승인 / 반려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반려 시 사유는 작성자 화면 상단에 붉은 배너로 강조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수정 후 재제출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단축 버튼 — “자동 + Excel” / “자동 + PDF”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49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팀장 — 검토 + 팀 종합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“팀원 보기” 탭 = 부서원 카드 + 팀 종합 카드 한 화면에서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부서원 카드 클릭 = 같은 화면 모달 (탭 이동 없음)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보고 내용 + 활동 근거를 함께 본다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모달 안에서 직접 승인 / 반려(사유)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팀 종합 보고서 카드 클릭 = 자동 통합 모달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사람별 그룹 — 【 김팀장 】 ... 【 홍길동 】 ...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4개 통계 박스 (부서원/제출/승인/미제출)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팀장 종합 코멘트 + 3개 섹션 자동 채움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임시저장 / 제출 / Excel / PDF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부서원 보고가 추가/수정될 때마다 다시 열면 자동 재집계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50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★ 주간 업무 보고 (NEW)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샘플 + 사용 가이드 (페이지 내장)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주간 업무 보고 페이지 우측 상단 “샘플 + 사용 가이드” 버튼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30초 사용법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샘플 보고서 (자동 생성 결과 예시)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자동 집계 데이터 일람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권한별 접근 (일반 / 팀장 / ADMIN)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워크플로우 + 반려 처리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팀 종합 보고서 + 팀장 종합 보고서 시각 샘플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처음 쓰는 사람도 샘플만 보면 양식·기대치 파악 가능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640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활동 이력 · 알림 · 보고서 · 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E7FF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52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활동 이력 /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이력 탭 — 클릭하면 점프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“이게 언제 누가 한 거지?” = 이력 탭 한 번이면 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→ 이력 탭 = 모든 활동 시간순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항목 클릭 → 해당 탭으로 자동 이동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TASK / PHASE / MANAGER / SIGN / VERSION / TRIP → 일정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EXTRA → 추가 대응 / CHECKLIST → 검수표 / ISSUE → 이슈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REQUEST → 고객요청 / AS → AS / NOTE → 회의록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hover 시 인디고 border + ↗ 아이콘으로 시각화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53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활동 이력 /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알림 센터 활용 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출근 직후 5초 = 어제 무슨 일이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필터 칩으로 본인 관심 항목만 (예: AS만)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“모두 읽음” 일괄 처리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마지막 본 시각은 사용자별 저장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푸시는 아니지만 미확인 뱃지가 시각적으로 강함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헤더 종 아이콘이 항상 우측 상단에 — 어디서든 클릭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54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보고서 / Excel /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Excel 추출 — 보고용 스타일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별도 후처리 없이 그대로 보고용으로 송부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모든 Excel = 대시보드형 스타일 자동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진한 블루 헤더 + 흰색 굵은 글씨 + 헤더 행 고정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자동 필터 / 한글 가중치 컬럼 너비 / 얼룩말 행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상태별 자동 컬러 (완료=초록 / 지연·NG=빨강 / 대기=노랑)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진행률(%) 자동 컬러, ISO 날짜 → YYYY-MM-DD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55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보고서 / Excel /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추출 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메뉴마다 우측 상단에 Excel 버튼 — 같은 위치 일관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→ 종합 리포트 = 차트 + 14시트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기본통계 / 도메인 / 프로젝트별 / 지연 / 이슈 / 요청 / AS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담당자변경 / 엔지니어 / 활동이력 / 마일스톤 / 임박이벤트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8주 히트맵 / 최근 회의록 50건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관리 — 리스트 / 상세 (프로젝트별 시트 분리)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인력/리소스 — 3시트 / 이슈·자재·사이트·AS·버전 단독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주간 보고 — 본인 1시트 / 팀 종합 = 헤더 + 부서원별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56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보고서 / Excel /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PDF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브라우저 인쇄 다이얼로그 → “PDF로 저장” — 별도 라이브러리 X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검수표 탭 → 최종 완료 보고서 (PDF) — 고객사 인수인계용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→ PDF 출력 — 임원 보고용 1장 양식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KPI 5장 + 임박 마일스톤 + 인력 임박 + 도메인별 진척률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주간 업무 보고 → 자동 + PDF — 팀장/임원 보고용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팀 종합 보고 PDF — 부서별 단일 페이지 양식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57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권한별 매주 루틴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엔지니어 — 매주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하루 5분, 주간 1분이면 충분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출근 — 종 아이콘으로 신규 활동 확인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본인 배정 프로젝트의 셋업 일정 진행 + 검수표 입력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회의록 / 이슈 등록 / AS 처리 / 버전 등록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출장 일정 확인 (자동 반영)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금요일 — 주간 업무 보고 “100% 자동 작성” → 제출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58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권한별 매주 루틴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PM / 팀장 — 매주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팀 종합 보고서도 5~10분이면 충분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642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대시보드 KPI 5장 점검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64748B"/>
                </a:solidFill>
                <a:latin typeface="맑은 고딕"/>
              </a:rPr>
              <a:t>    –  </a:t>
            </a:r>
            <a:r>
              <a:rPr sz="1400">
                <a:solidFill>
                  <a:srgbClr val="334155"/>
                </a:solidFill>
                <a:latin typeface="맑은 고딕"/>
              </a:rPr>
              <a:t>지연·위험 / 고객 요청 / 미해결 이슈 우선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프로젝트 진척률 점검 + 단계 이동 + 담당자/출장 조정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이슈 우선순위 / AS 부서 협력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(팀장) 부서원 주간 보고 검토·승인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•  </a:t>
            </a:r>
            <a:r>
              <a:rPr sz="1400">
                <a:solidFill>
                  <a:srgbClr val="334155"/>
                </a:solidFill>
                <a:latin typeface="맑은 고딕"/>
              </a:rPr>
              <a:t>(팀장) 월요일 — 팀 종합 보고서 자동 작성 → 제출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59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자주 묻는 질문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11680"/>
          <a:ext cx="1106424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답변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시작일/납기가 정해지지 않았는데?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“미정” 체크박스로 비워두기 — 간트도 안전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도메인을 잘못 골랐어요.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ADMIN에게 요청 (활동 로그 자동 기록)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Buy-off 후 검수 항목 수정하려면?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ADMIN만 가능 — 사인 취소도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모바일에서 사진 빠르게 첨부?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모바일 모드에서 이슈 등록 (768px 미만 자동)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같은 사람이 한 프로젝트에 출장 여러 번?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가능 — 사유와 함께 모두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60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자주 묻는 질문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11680"/>
          <a:ext cx="1106424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답변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주간 보고를 다른 사람이 볼 수 있나요?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본인 + 팀장(같은 부서) + ADMIN. 그 외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팀장인데 옆 부서 보고도 보고 싶어요.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같은 dept만 가능 — 다른 부서는 ADMIN 권한 필요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자동 집계가 빠진 것 같아요.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본인 이름 명의 활동만 잡힘 — 다른 사람이 한 일은 미포함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사이드바에 주간 보고 메뉴가 안 보여요.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① 시스템 설정 기능 ON  ② 사용자 “주간 보고” 토글 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3088">
                <a:tc>
                  <a:txBody>
                    <a:bodyPr lIns="40000" rIns="40000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맑은 고딕"/>
                        </a:rPr>
                        <a:t>첨부 18MB 넘는 파일은?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/>
                    <a:lstStyle/>
                    <a:p>
                      <a:pPr algn="ctr"/>
                      <a:r>
                        <a:rPr sz="1100">
                          <a:solidFill>
                            <a:srgbClr val="334155"/>
                          </a:solidFill>
                          <a:latin typeface="맑은 고딕"/>
                        </a:rPr>
                        <a:t>Drive에 직접 올리고 링크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EQ-PMS 사용자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836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61 /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맑은 고딕"/>
              </a:rPr>
              <a:t>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맑은 고딕"/>
              </a:rPr>
              <a:t>오늘 핵심 5가지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다음 주 첫 주간 보고 = 함께 시연 후 각자 작성하는 시간 권장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4572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64008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기록은 EQ-PMS 한 곳에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엑셀/메일 분산 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449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26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간트는 휠 = 줌, Shift+휠 = 가로 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오늘 버튼으로 today-1개월 점프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221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회의록 = 빠른/상세 모드 + 다중 파일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41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대시보드 회의록 모달 = 프로젝트별 그룹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64008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994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주간 보고 = 자동 작성 + 1분 다듬기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18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팀장은 팀 종합 보고서까지 자동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12079"/>
            <a:ext cx="640080" cy="6400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7667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577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맑은 고딕"/>
              </a:rPr>
              <a:t>모르겠으면 헤더의 ❓ 도움말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96127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이 가이드 그대로 들어 있음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맑은 고딕"/>
              </a:rPr>
              <a:t>지원 / 문의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맑은 고딕"/>
              </a:rPr>
              <a:t>•  </a:t>
            </a:r>
            <a:r>
              <a:rPr sz="1400">
                <a:solidFill>
                  <a:srgbClr val="E0E7FF"/>
                </a:solidFill>
                <a:latin typeface="맑은 고딕"/>
              </a:rPr>
              <a:t>시스템 문의 — AX 혁신실 / 본 프로젝트 담당자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맑은 고딕"/>
              </a:rPr>
              <a:t>•  </a:t>
            </a:r>
            <a:r>
              <a:rPr sz="1400">
                <a:solidFill>
                  <a:srgbClr val="E0E7FF"/>
                </a:solidFill>
                <a:latin typeface="맑은 고딕"/>
              </a:rPr>
              <a:t>권한 / 계정 — ADMIN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맑은 고딕"/>
              </a:rPr>
              <a:t>•  </a:t>
            </a:r>
            <a:r>
              <a:rPr sz="1400">
                <a:solidFill>
                  <a:srgbClr val="E0E7FF"/>
                </a:solidFill>
                <a:latin typeface="맑은 고딕"/>
              </a:rPr>
              <a:t>버그 · 개선 요청 — 사내 채널 또는 직접 등록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맑은 고딕"/>
              </a:rPr>
              <a:t>•  </a:t>
            </a:r>
            <a:r>
              <a:rPr sz="1400">
                <a:solidFill>
                  <a:srgbClr val="E0E7FF"/>
                </a:solidFill>
                <a:latin typeface="맑은 고딕"/>
              </a:rPr>
              <a:t>피드백 환영 — 신규 기능은 사용 패턴 기반으로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7FF"/>
                </a:solidFill>
                <a:latin typeface="맑은 고딕"/>
              </a:rPr>
              <a:t>EQ-PMS · v2.0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