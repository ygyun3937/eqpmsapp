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FDB58-85B5-A057-20D6-9A8D6DBB3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7D10F8-E49C-3482-4C71-3E645491AA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0C838E-CD58-272B-5EBA-1012F91F4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83F0-6F0D-47F3-A0C0-36AECC138F6A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3604AA-08F4-D159-F80D-981B6A7AC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23A4A2-27E5-2FB2-19D9-A97A05F78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B19E-DFFA-46CD-BA20-60F2102576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397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A3D0C8-C9B2-9D3A-9DE2-0A24322DC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33EE65-CEE8-F299-B80E-D2BEED302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2E83B0-9F0F-CC20-3537-8C03CAADA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83F0-6F0D-47F3-A0C0-36AECC138F6A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ACE359-1214-B192-5C0D-3B58F8B0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CC8633-28C9-F27E-5A5F-19C4DF74C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B19E-DFFA-46CD-BA20-60F2102576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460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E83D8-CF23-3369-26B6-6747DCA6E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45FEFE-70CB-BA9A-46B5-AD4719D9B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AE7147-9CFF-6FA8-8745-81DB20E09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83F0-6F0D-47F3-A0C0-36AECC138F6A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D60C99-BF2A-3635-79A5-16DB24415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D0943B-15F4-6054-C2C5-6F921AC6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B19E-DFFA-46CD-BA20-60F2102576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365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CD05B-E952-A0D9-AB3B-D3321502E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7B45A9-7075-8901-8692-31E72563AC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9D0F9C-9F39-23DD-39F5-22357F535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8198E5-E8BC-5A35-8258-0F80F1203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83F0-6F0D-47F3-A0C0-36AECC138F6A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5FC882-0FE0-2AA8-A636-580D6037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F65D26-CD12-E40C-ADF0-F4757E4C6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B19E-DFFA-46CD-BA20-60F2102576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872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9ADC8A-3E9C-A3BD-8557-9C2109379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F03DEF-417A-7168-5B4A-E3417E1A9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D6E36B-1574-8B6A-F0E0-80D0C120B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6154A2-2966-234B-40C5-EE1E801C1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0C6CB6-5A4B-F403-AC1A-BE6F51D315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9C754CB-8C1A-C838-9B1D-67F5CFE8B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83F0-6F0D-47F3-A0C0-36AECC138F6A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05B5D18-9D45-16C8-AA36-974DBAD70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D26CF9E-37A9-1541-26F3-F85B8BD69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B19E-DFFA-46CD-BA20-60F2102576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34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BF3E0-5628-BBC8-848F-32D88F03E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B631FAD-A4EE-0803-4BA0-9D2F68FD1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83F0-6F0D-47F3-A0C0-36AECC138F6A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DC61B4-A96B-5E9C-8F1B-D61D93213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620F2F-71A9-7FD2-B701-766DA92D7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B19E-DFFA-46CD-BA20-60F2102576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693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F864AD-5713-DEB2-2E45-6B9A888D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83F0-6F0D-47F3-A0C0-36AECC138F6A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76FDA0-2F89-E659-A287-EA29C3573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1CC3BD-EAE5-3B47-D0CA-69A18ABA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B19E-DFFA-46CD-BA20-60F2102576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731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444D28-AB1F-76FB-D615-3FCD101B6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DA4A54-D9B1-33F8-E64C-557D2FD63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1A4585-D78B-4AE6-6CD0-31FF581DE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E97A23-F4EA-698A-4DFC-3D5A51056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83F0-6F0D-47F3-A0C0-36AECC138F6A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0CC128-7A4F-8781-02AC-3B5337D25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535A26-291B-D5D1-5C6D-5FCBCE0D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B19E-DFFA-46CD-BA20-60F2102576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041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C5D8E-DF8B-7FE7-FFEF-E624A5B4F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88B1BF-0670-E112-5E75-2E46D2E07F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E4808E-3915-4D31-BE01-7634D755C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539F4F-337B-76E4-F8D0-49DBA534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83F0-6F0D-47F3-A0C0-36AECC138F6A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A67018-14DC-71B6-5976-B1B6501FD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7609E8-B43F-C990-422C-2EC94629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B19E-DFFA-46CD-BA20-60F2102576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893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0F8C6C-1790-C08D-4407-7037B0354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1D1597-F8AD-7971-A5F6-52AE97CEF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220687-6D40-736D-9701-FF04053D7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83F0-6F0D-47F3-A0C0-36AECC138F6A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66F2F2-5646-5E2B-1274-2D9695C4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F7E594-EEF3-CD3C-0FE4-68494E680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B19E-DFFA-46CD-BA20-60F2102576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686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154A75-E4DC-4EAC-5475-5CE77F1939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2ADE4B-3DB4-C4FD-9E83-5554B55DD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F80972-0931-50F7-F202-13524C4B2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83F0-6F0D-47F3-A0C0-36AECC138F6A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445FA6-0E93-C130-B4E2-4B707659C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C9A49A-0736-6117-5F7B-6E8665424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B19E-DFFA-46CD-BA20-60F2102576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253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D28109-FE88-35DA-D44F-1F713DD9F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D11292-2B6A-4504-F58C-9141FD41D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AEEC7B-9AB8-7832-5CBE-07CBDB33F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783F0-6F0D-47F3-A0C0-36AECC138F6A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AA6573-173A-ABC5-523C-4310402D8C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845E27-0226-66B1-4138-C63BD9A8E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2B19E-DFFA-46CD-BA20-60F21025768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00" name="AccentBar"/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gradFill>
            <a:gsLst>
              <a:gs pos="0">
                <a:srgbClr val="00D4AA"/>
              </a:gs>
              <a:gs pos="50000">
                <a:srgbClr val="667EEA"/>
              </a:gs>
              <a:gs pos="100000">
                <a:srgbClr val="F6AD55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1" name="CornerAccent"/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gradFill>
            <a:gsLst>
              <a:gs pos="0">
                <a:srgbClr val="00D4AA">
                  <a:alpha val="15000"/>
                </a:srgbClr>
              </a:gs>
              <a:gs pos="100000">
                <a:srgbClr val="667EEA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62942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F0F0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8D6E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8D6E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8D6E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9pPr>
    </p:bodyStyle>
    <p:otherStyle>
      <a:defPPr>
        <a:defRPr lang="ko-KR">
          <a:solidFill>
            <a:srgbClr val="C8D6E5"/>
          </a:solidFill>
        </a:defRPr>
      </a:defPPr>
      <a:lvl1pPr marL="0" algn="l" defTabSz="914400" rtl="0" eaLnBrk="1" latinLnBrk="1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1FCD6B-73D0-44BD-A9D0-36DEC9EFA392}"/>
              </a:ext>
            </a:extLst>
          </p:cNvPr>
          <p:cNvSpPr txBox="1"/>
          <p:nvPr/>
        </p:nvSpPr>
        <p:spPr>
          <a:xfrm>
            <a:off x="1016000" y="2286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USER TRAINING</a:t>
            </a:r>
            <a:endParaRPr lang="ko-KR" altLang="en-US" sz="14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254D6-6979-4AE4-BB54-00F0DE8BD77F}"/>
              </a:ext>
            </a:extLst>
          </p:cNvPr>
          <p:cNvSpPr txBox="1"/>
          <p:nvPr/>
        </p:nvSpPr>
        <p:spPr>
          <a:xfrm>
            <a:off x="1016000" y="2730500"/>
            <a:ext cx="10160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4800" b="1">
                <a:solidFill>
                  <a:srgbClr val="F0F0F0"/>
                </a:solidFill>
                <a:latin typeface="맑은 고딕"/>
                <a:ea typeface="맑은 고딕"/>
              </a:rPr>
              <a:t>EQ-PMS </a:t>
            </a:r>
            <a:r>
              <a:rPr lang="ko-KR" altLang="en-US" sz="4800" b="1">
                <a:solidFill>
                  <a:srgbClr val="F0F0F0"/>
                </a:solidFill>
                <a:latin typeface="맑은 고딕"/>
                <a:ea typeface="맑은 고딕"/>
              </a:rPr>
              <a:t>사용자 교육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4B6B28-AEE6-4E5E-B7ED-50B0015DC4CD}"/>
              </a:ext>
            </a:extLst>
          </p:cNvPr>
          <p:cNvSpPr/>
          <p:nvPr/>
        </p:nvSpPr>
        <p:spPr>
          <a:xfrm>
            <a:off x="1016000" y="3873500"/>
            <a:ext cx="762000" cy="381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93707F-3C2E-4503-B2B8-6C25A6B39247}"/>
              </a:ext>
            </a:extLst>
          </p:cNvPr>
          <p:cNvSpPr txBox="1"/>
          <p:nvPr/>
        </p:nvSpPr>
        <p:spPr>
          <a:xfrm>
            <a:off x="1016000" y="4064000"/>
            <a:ext cx="1016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>
                <a:solidFill>
                  <a:srgbClr val="C8D6E5"/>
                </a:solidFill>
                <a:latin typeface="맑은 고딕"/>
                <a:ea typeface="맑은 고딕"/>
              </a:rPr>
              <a:t>직원용 운영 매뉴얼  </a:t>
            </a:r>
            <a:r>
              <a:rPr lang="en-US" altLang="ko-KR" sz="20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2000">
                <a:solidFill>
                  <a:srgbClr val="C8D6E5"/>
                </a:solidFill>
                <a:latin typeface="맑은 고딕"/>
                <a:ea typeface="맑은 고딕"/>
              </a:rPr>
              <a:t>신규 기능 안내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B25C9F-8698-447D-9E01-ACE5BF768F14}"/>
              </a:ext>
            </a:extLst>
          </p:cNvPr>
          <p:cNvSpPr txBox="1"/>
          <p:nvPr/>
        </p:nvSpPr>
        <p:spPr>
          <a:xfrm>
            <a:off x="1016000" y="6223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시나리오 기반 교육 슬라이드 </a:t>
            </a:r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약 </a:t>
            </a:r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55</a:t>
            </a:r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장 </a:t>
            </a:r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· 1</a:t>
            </a:r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시간 강의</a:t>
            </a:r>
          </a:p>
        </p:txBody>
      </p:sp>
    </p:spTree>
    <p:extLst>
      <p:ext uri="{BB962C8B-B14F-4D97-AF65-F5344CB8AC3E}">
        <p14:creationId xmlns:p14="http://schemas.microsoft.com/office/powerpoint/2010/main" val="2879165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FD51CA-8D58-401A-9224-25EC92B01CD2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ADMIN · </a:t>
            </a:r>
            <a:r>
              <a:rPr lang="ko-KR" altLang="en-US" sz="1200" b="1">
                <a:solidFill>
                  <a:srgbClr val="00D4AA"/>
                </a:solidFill>
                <a:latin typeface="맑은 고딕"/>
                <a:ea typeface="맑은 고딕"/>
              </a:rPr>
              <a:t>사전 준비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C9CA9-7A34-442C-80FB-D0E4209E1654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강의 전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1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회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관리자 체크리스트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094747-B575-4B65-9303-6B6FD2283531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2D39CC-2272-4633-BC35-7581DB80DB29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강의 시점 모든 항목 완료되어 있어야 실습 가능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18C043-EC98-41FE-9AE8-7ACD3118C088}"/>
              </a:ext>
            </a:extLst>
          </p:cNvPr>
          <p:cNvSpPr/>
          <p:nvPr/>
        </p:nvSpPr>
        <p:spPr>
          <a:xfrm>
            <a:off x="762000" y="2159000"/>
            <a:ext cx="10668000" cy="3810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74001B-B9A1-444E-BDD6-CE1000BA0B9F}"/>
              </a:ext>
            </a:extLst>
          </p:cNvPr>
          <p:cNvSpPr txBox="1"/>
          <p:nvPr/>
        </p:nvSpPr>
        <p:spPr>
          <a:xfrm>
            <a:off x="1143000" y="2476500"/>
            <a:ext cx="9906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① 시스템 설정  → 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Google Drive 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루트 폴더 연결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+ 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연결 테스트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OK</a:t>
            </a:r>
            <a:endParaRPr lang="ko-KR" altLang="en-US" sz="16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769F7F-7D22-40F4-BA0B-6F6C6D0CCF9C}"/>
              </a:ext>
            </a:extLst>
          </p:cNvPr>
          <p:cNvSpPr txBox="1"/>
          <p:nvPr/>
        </p:nvSpPr>
        <p:spPr>
          <a:xfrm>
            <a:off x="1143000" y="3136900"/>
            <a:ext cx="9906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② 시스템 설정  →  주간 업무 보고 기능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ON  →  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전체 설정 저장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58AFA-12FD-4BC1-A2BD-12B0BC9D9E92}"/>
              </a:ext>
            </a:extLst>
          </p:cNvPr>
          <p:cNvSpPr txBox="1"/>
          <p:nvPr/>
        </p:nvSpPr>
        <p:spPr>
          <a:xfrm>
            <a:off x="1143000" y="3797300"/>
            <a:ext cx="9906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③ 사용자 관리  →  직원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ID/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비밀번호 발급 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+  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부서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(dept) 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입력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D5F0E3-9387-421F-AC0E-13FC5F8045C4}"/>
              </a:ext>
            </a:extLst>
          </p:cNvPr>
          <p:cNvSpPr txBox="1"/>
          <p:nvPr/>
        </p:nvSpPr>
        <p:spPr>
          <a:xfrm>
            <a:off x="1143000" y="4457700"/>
            <a:ext cx="9906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④ 사용자 관리  →  부서장에게 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"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팀장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"  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토글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ON</a:t>
            </a:r>
            <a:endParaRPr lang="ko-KR" altLang="en-US" sz="16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B6337-2FDE-4F06-8B2A-463EF5CC14A1}"/>
              </a:ext>
            </a:extLst>
          </p:cNvPr>
          <p:cNvSpPr txBox="1"/>
          <p:nvPr/>
        </p:nvSpPr>
        <p:spPr>
          <a:xfrm>
            <a:off x="1143000" y="5118100"/>
            <a:ext cx="9906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⑤ 사용자 관리  →  사용자별 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"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주간 보고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"  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토글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ON  (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필요 인원만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16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74E03B-277F-4477-BAF2-3B299F89418F}"/>
              </a:ext>
            </a:extLst>
          </p:cNvPr>
          <p:cNvSpPr txBox="1"/>
          <p:nvPr/>
        </p:nvSpPr>
        <p:spPr>
          <a:xfrm>
            <a:off x="762000" y="62230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6AD55"/>
                </a:solidFill>
                <a:latin typeface="맑은 고딕"/>
                <a:ea typeface="맑은 고딕"/>
              </a:rPr>
              <a:t>⚠  </a:t>
            </a:r>
            <a:r>
              <a:rPr lang="en-US" altLang="ko-KR" sz="1200">
                <a:solidFill>
                  <a:srgbClr val="F6AD55"/>
                </a:solidFill>
                <a:latin typeface="맑은 고딕"/>
                <a:ea typeface="맑은 고딕"/>
              </a:rPr>
              <a:t>dept </a:t>
            </a:r>
            <a:r>
              <a:rPr lang="ko-KR" altLang="en-US" sz="1200">
                <a:solidFill>
                  <a:srgbClr val="F6AD55"/>
                </a:solidFill>
                <a:latin typeface="맑은 고딕"/>
                <a:ea typeface="맑은 고딕"/>
              </a:rPr>
              <a:t>값이 비어 있으면 팀장</a:t>
            </a:r>
            <a:r>
              <a:rPr lang="en-US" altLang="ko-KR" sz="1200">
                <a:solidFill>
                  <a:srgbClr val="F6AD55"/>
                </a:solidFill>
                <a:latin typeface="맑은 고딕"/>
                <a:ea typeface="맑은 고딕"/>
              </a:rPr>
              <a:t>–</a:t>
            </a:r>
            <a:r>
              <a:rPr lang="ko-KR" altLang="en-US" sz="1200">
                <a:solidFill>
                  <a:srgbClr val="F6AD55"/>
                </a:solidFill>
                <a:latin typeface="맑은 고딕"/>
                <a:ea typeface="맑은 고딕"/>
              </a:rPr>
              <a:t>부서원 매칭이 안 됨</a:t>
            </a:r>
          </a:p>
        </p:txBody>
      </p:sp>
    </p:spTree>
    <p:extLst>
      <p:ext uri="{BB962C8B-B14F-4D97-AF65-F5344CB8AC3E}">
        <p14:creationId xmlns:p14="http://schemas.microsoft.com/office/powerpoint/2010/main" val="1763417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F7660B-CD09-4D37-8EE5-CC1B78A66491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OVERVIEW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AFE67E-D2D4-4B6F-BBBE-025D6AB4CB3B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오늘 배우는 것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C7CB964-21D2-4F6E-B866-D3F2E044E18C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6C5144-835E-4529-82BC-B2F1118CC476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총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1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시간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Q&amp;A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별도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6E4FE1-2A34-49E4-A706-013791329FAD}"/>
              </a:ext>
            </a:extLst>
          </p:cNvPr>
          <p:cNvSpPr/>
          <p:nvPr/>
        </p:nvSpPr>
        <p:spPr>
          <a:xfrm>
            <a:off x="762000" y="2286000"/>
            <a:ext cx="1016000" cy="4572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31F516-4410-4EA4-AA81-9BC29090D893}"/>
              </a:ext>
            </a:extLst>
          </p:cNvPr>
          <p:cNvSpPr txBox="1"/>
          <p:nvPr/>
        </p:nvSpPr>
        <p:spPr>
          <a:xfrm>
            <a:off x="762000" y="2387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1A2A3A"/>
                </a:solidFill>
                <a:latin typeface="맑은 고딕"/>
                <a:ea typeface="맑은 고딕"/>
              </a:rPr>
              <a:t>3</a:t>
            </a:r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596358-A0CD-49BC-A95A-47BF10FB91CA}"/>
              </a:ext>
            </a:extLst>
          </p:cNvPr>
          <p:cNvSpPr/>
          <p:nvPr/>
        </p:nvSpPr>
        <p:spPr>
          <a:xfrm>
            <a:off x="1778000" y="2286000"/>
            <a:ext cx="9652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8AAB76-9AEE-4733-8DCE-798FB06DFACB}"/>
              </a:ext>
            </a:extLst>
          </p:cNvPr>
          <p:cNvSpPr txBox="1"/>
          <p:nvPr/>
        </p:nvSpPr>
        <p:spPr>
          <a:xfrm>
            <a:off x="2032000" y="2374900"/>
            <a:ext cx="914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시스템이 무엇을 해결하는지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E7234A-3A15-4618-B81F-6CE0F78F9640}"/>
              </a:ext>
            </a:extLst>
          </p:cNvPr>
          <p:cNvSpPr/>
          <p:nvPr/>
        </p:nvSpPr>
        <p:spPr>
          <a:xfrm>
            <a:off x="762000" y="2921000"/>
            <a:ext cx="1016000" cy="4572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D7E94-ECB5-404C-B73C-513078365012}"/>
              </a:ext>
            </a:extLst>
          </p:cNvPr>
          <p:cNvSpPr txBox="1"/>
          <p:nvPr/>
        </p:nvSpPr>
        <p:spPr>
          <a:xfrm>
            <a:off x="762000" y="3022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1A2A3A"/>
                </a:solidFill>
                <a:latin typeface="맑은 고딕"/>
                <a:ea typeface="맑은 고딕"/>
              </a:rPr>
              <a:t>15</a:t>
            </a:r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B784E5-AE34-4C84-AF97-1F76C2448E0C}"/>
              </a:ext>
            </a:extLst>
          </p:cNvPr>
          <p:cNvSpPr/>
          <p:nvPr/>
        </p:nvSpPr>
        <p:spPr>
          <a:xfrm>
            <a:off x="1778000" y="2921000"/>
            <a:ext cx="9652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2B0181-DBFC-427F-B5FB-9C1E1EFBA4D5}"/>
              </a:ext>
            </a:extLst>
          </p:cNvPr>
          <p:cNvSpPr txBox="1"/>
          <p:nvPr/>
        </p:nvSpPr>
        <p:spPr>
          <a:xfrm>
            <a:off x="2032000" y="3009900"/>
            <a:ext cx="914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매일 쓰는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7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가지 화면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D4D8179-04A7-4DF5-ACD8-00726BDF6C6F}"/>
              </a:ext>
            </a:extLst>
          </p:cNvPr>
          <p:cNvSpPr/>
          <p:nvPr/>
        </p:nvSpPr>
        <p:spPr>
          <a:xfrm>
            <a:off x="762000" y="3556000"/>
            <a:ext cx="1016000" cy="4572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04E561-9A92-40C5-A55D-20A6A3643389}"/>
              </a:ext>
            </a:extLst>
          </p:cNvPr>
          <p:cNvSpPr txBox="1"/>
          <p:nvPr/>
        </p:nvSpPr>
        <p:spPr>
          <a:xfrm>
            <a:off x="762000" y="3657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1A2A3A"/>
                </a:solidFill>
                <a:latin typeface="맑은 고딕"/>
                <a:ea typeface="맑은 고딕"/>
              </a:rPr>
              <a:t>10</a:t>
            </a:r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DA7708F-D3E0-4F0C-AC37-EDB5C1610397}"/>
              </a:ext>
            </a:extLst>
          </p:cNvPr>
          <p:cNvSpPr/>
          <p:nvPr/>
        </p:nvSpPr>
        <p:spPr>
          <a:xfrm>
            <a:off x="1778000" y="3556000"/>
            <a:ext cx="9652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90AAAC-DC28-4D5F-8AB2-702D66E2F213}"/>
              </a:ext>
            </a:extLst>
          </p:cNvPr>
          <p:cNvSpPr txBox="1"/>
          <p:nvPr/>
        </p:nvSpPr>
        <p:spPr>
          <a:xfrm>
            <a:off x="2032000" y="3644900"/>
            <a:ext cx="914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00D4AA"/>
                </a:solidFill>
                <a:latin typeface="맑은 고딕"/>
                <a:ea typeface="맑은 고딕"/>
              </a:rPr>
              <a:t>한 주에 한 번 쓰는 주간 보고  ★ 신규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4FE375-0390-46DB-9661-6D7D4EB74436}"/>
              </a:ext>
            </a:extLst>
          </p:cNvPr>
          <p:cNvSpPr/>
          <p:nvPr/>
        </p:nvSpPr>
        <p:spPr>
          <a:xfrm>
            <a:off x="762000" y="4191000"/>
            <a:ext cx="1016000" cy="4572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AAF2F7-EF23-4240-A6DE-5A941ABF80DC}"/>
              </a:ext>
            </a:extLst>
          </p:cNvPr>
          <p:cNvSpPr txBox="1"/>
          <p:nvPr/>
        </p:nvSpPr>
        <p:spPr>
          <a:xfrm>
            <a:off x="762000" y="4292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1A2A3A"/>
                </a:solidFill>
                <a:latin typeface="맑은 고딕"/>
                <a:ea typeface="맑은 고딕"/>
              </a:rPr>
              <a:t>5</a:t>
            </a:r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40ED11-8E1B-41C2-AD1C-F1C7578CC36D}"/>
              </a:ext>
            </a:extLst>
          </p:cNvPr>
          <p:cNvSpPr/>
          <p:nvPr/>
        </p:nvSpPr>
        <p:spPr>
          <a:xfrm>
            <a:off x="1778000" y="4191000"/>
            <a:ext cx="9652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9A1748-FEC5-48E9-ADC5-BB3991AC778E}"/>
              </a:ext>
            </a:extLst>
          </p:cNvPr>
          <p:cNvSpPr txBox="1"/>
          <p:nvPr/>
        </p:nvSpPr>
        <p:spPr>
          <a:xfrm>
            <a:off x="2032000" y="4279900"/>
            <a:ext cx="914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권한별로 무엇을 할 수 있나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95F2198-9F9C-4352-A3DD-37D6D69B7442}"/>
              </a:ext>
            </a:extLst>
          </p:cNvPr>
          <p:cNvSpPr/>
          <p:nvPr/>
        </p:nvSpPr>
        <p:spPr>
          <a:xfrm>
            <a:off x="762000" y="4826000"/>
            <a:ext cx="1016000" cy="4572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6DB3A9-3EE6-4A25-BA16-0A3A8DD6C576}"/>
              </a:ext>
            </a:extLst>
          </p:cNvPr>
          <p:cNvSpPr txBox="1"/>
          <p:nvPr/>
        </p:nvSpPr>
        <p:spPr>
          <a:xfrm>
            <a:off x="762000" y="4927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1A2A3A"/>
                </a:solidFill>
                <a:latin typeface="맑은 고딕"/>
                <a:ea typeface="맑은 고딕"/>
              </a:rPr>
              <a:t>10</a:t>
            </a:r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6288D98-6F79-43F3-90CB-357726F9C7E3}"/>
              </a:ext>
            </a:extLst>
          </p:cNvPr>
          <p:cNvSpPr/>
          <p:nvPr/>
        </p:nvSpPr>
        <p:spPr>
          <a:xfrm>
            <a:off x="1778000" y="4826000"/>
            <a:ext cx="9652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12A302-E4E5-4520-9E36-EF283306A704}"/>
              </a:ext>
            </a:extLst>
          </p:cNvPr>
          <p:cNvSpPr txBox="1"/>
          <p:nvPr/>
        </p:nvSpPr>
        <p:spPr>
          <a:xfrm>
            <a:off x="2032000" y="4914900"/>
            <a:ext cx="914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보고서 추출 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자주 묻는 질문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7C7E53-1C27-405E-834F-EDC2A8E7B3D5}"/>
              </a:ext>
            </a:extLst>
          </p:cNvPr>
          <p:cNvSpPr txBox="1"/>
          <p:nvPr/>
        </p:nvSpPr>
        <p:spPr>
          <a:xfrm>
            <a:off x="762000" y="6096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이번 라운드 핵심 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주간 업무 보고 자동 작성 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간트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/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일정 모달 통일</a:t>
            </a:r>
          </a:p>
        </p:txBody>
      </p:sp>
    </p:spTree>
    <p:extLst>
      <p:ext uri="{BB962C8B-B14F-4D97-AF65-F5344CB8AC3E}">
        <p14:creationId xmlns:p14="http://schemas.microsoft.com/office/powerpoint/2010/main" val="1133865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0CAE1-9415-48D7-A681-694DA5405AA5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KEY MESSAGE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CAB2B3-BD79-4AA4-9E88-A63FB665465F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한 줄 요약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1ED367-5F1C-4168-84FB-B23DA4DB45FE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60C75-6485-4747-A2F4-34BC2EDAF945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프로젝트 셋업의 모든 기록을 한 곳에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보고는 자동으로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0C52DD-D537-4A80-B90D-070B2052C5CF}"/>
              </a:ext>
            </a:extLst>
          </p:cNvPr>
          <p:cNvSpPr/>
          <p:nvPr/>
        </p:nvSpPr>
        <p:spPr>
          <a:xfrm>
            <a:off x="762000" y="2286000"/>
            <a:ext cx="4826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21041-7650-4F11-BEA3-0AE125A687E1}"/>
              </a:ext>
            </a:extLst>
          </p:cNvPr>
          <p:cNvSpPr txBox="1"/>
          <p:nvPr/>
        </p:nvSpPr>
        <p:spPr>
          <a:xfrm>
            <a:off x="1016000" y="25400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E53E3E"/>
                </a:solidFill>
                <a:latin typeface="맑은 고딕"/>
                <a:ea typeface="맑은 고딕"/>
              </a:rPr>
              <a:t>기존 운영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80C408-FD57-4E42-9403-1522C6A769C7}"/>
              </a:ext>
            </a:extLst>
          </p:cNvPr>
          <p:cNvSpPr txBox="1"/>
          <p:nvPr/>
        </p:nvSpPr>
        <p:spPr>
          <a:xfrm>
            <a:off x="1016000" y="30480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엑셀 파일 버전 충돌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BE9A78-B33C-4B07-A7DD-82949FE1426E}"/>
              </a:ext>
            </a:extLst>
          </p:cNvPr>
          <p:cNvSpPr txBox="1"/>
          <p:nvPr/>
        </p:nvSpPr>
        <p:spPr>
          <a:xfrm>
            <a:off x="1016000" y="34544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워드 회의록 분산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096E7D-B99C-44B2-82CE-F79D8A9FD51E}"/>
              </a:ext>
            </a:extLst>
          </p:cNvPr>
          <p:cNvSpPr txBox="1"/>
          <p:nvPr/>
        </p:nvSpPr>
        <p:spPr>
          <a:xfrm>
            <a:off x="1016000" y="38608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메일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카톡 전달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CE288C-D6E0-445F-BB58-9E9A8B3DAE98}"/>
              </a:ext>
            </a:extLst>
          </p:cNvPr>
          <p:cNvSpPr txBox="1"/>
          <p:nvPr/>
        </p:nvSpPr>
        <p:spPr>
          <a:xfrm>
            <a:off x="1016000" y="42672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보고서 수기 작성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FD8FF3-9457-4743-83BA-F132A4A07ED2}"/>
              </a:ext>
            </a:extLst>
          </p:cNvPr>
          <p:cNvSpPr txBox="1"/>
          <p:nvPr/>
        </p:nvSpPr>
        <p:spPr>
          <a:xfrm>
            <a:off x="1016000" y="46736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이력 추적 어려움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BF35EB-D936-4FFA-B478-8531A8071B0B}"/>
              </a:ext>
            </a:extLst>
          </p:cNvPr>
          <p:cNvSpPr txBox="1"/>
          <p:nvPr/>
        </p:nvSpPr>
        <p:spPr>
          <a:xfrm>
            <a:off x="5651500" y="3873500"/>
            <a:ext cx="63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600" b="1">
                <a:solidFill>
                  <a:srgbClr val="00D4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D189200-0E81-42DA-9906-E81C302F6255}"/>
              </a:ext>
            </a:extLst>
          </p:cNvPr>
          <p:cNvSpPr/>
          <p:nvPr/>
        </p:nvSpPr>
        <p:spPr>
          <a:xfrm>
            <a:off x="6350000" y="2286000"/>
            <a:ext cx="5080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78907D-6C9B-4E3C-997F-38927F3F3AA9}"/>
              </a:ext>
            </a:extLst>
          </p:cNvPr>
          <p:cNvSpPr txBox="1"/>
          <p:nvPr/>
        </p:nvSpPr>
        <p:spPr>
          <a:xfrm>
            <a:off x="6604000" y="25400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600" b="1">
                <a:solidFill>
                  <a:srgbClr val="00D4AA"/>
                </a:solidFill>
                <a:latin typeface="맑은 고딕"/>
                <a:ea typeface="맑은 고딕"/>
              </a:rPr>
              <a:t>EQ-PMS</a:t>
            </a:r>
            <a:endParaRPr lang="ko-KR" altLang="en-US" sz="16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42A5EB-38F4-4E87-9CA8-17BFB82C6C59}"/>
              </a:ext>
            </a:extLst>
          </p:cNvPr>
          <p:cNvSpPr txBox="1"/>
          <p:nvPr/>
        </p:nvSpPr>
        <p:spPr>
          <a:xfrm>
            <a:off x="6604000" y="3048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단일 시스템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한 곳에 기록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1ECF3C-419C-4A40-B2DE-3D7D16493C89}"/>
              </a:ext>
            </a:extLst>
          </p:cNvPr>
          <p:cNvSpPr txBox="1"/>
          <p:nvPr/>
        </p:nvSpPr>
        <p:spPr>
          <a:xfrm>
            <a:off x="6604000" y="3454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Google Drive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자동 분류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962F15-2243-4AFB-A306-B8D6FF5FC3B8}"/>
              </a:ext>
            </a:extLst>
          </p:cNvPr>
          <p:cNvSpPr txBox="1"/>
          <p:nvPr/>
        </p:nvSpPr>
        <p:spPr>
          <a:xfrm>
            <a:off x="6604000" y="38608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알림 센터로 한눈에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51D429-BD3A-4D73-BB3A-EE0798876360}"/>
              </a:ext>
            </a:extLst>
          </p:cNvPr>
          <p:cNvSpPr txBox="1"/>
          <p:nvPr/>
        </p:nvSpPr>
        <p:spPr>
          <a:xfrm>
            <a:off x="6604000" y="42672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주간 보고 자동 작성  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9D064D-A76A-4ADE-873A-890D0CBB25CD}"/>
              </a:ext>
            </a:extLst>
          </p:cNvPr>
          <p:cNvSpPr txBox="1"/>
          <p:nvPr/>
        </p:nvSpPr>
        <p:spPr>
          <a:xfrm>
            <a:off x="6604000" y="46736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활동 이력 시간순 추적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81E435-9C95-424E-B4D7-AC54D5310F96}"/>
              </a:ext>
            </a:extLst>
          </p:cNvPr>
          <p:cNvSpPr txBox="1"/>
          <p:nvPr/>
        </p:nvSpPr>
        <p:spPr>
          <a:xfrm>
            <a:off x="762000" y="6096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주간 보고 작성 시간 </a:t>
            </a:r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90% 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단축</a:t>
            </a:r>
          </a:p>
        </p:txBody>
      </p:sp>
    </p:spTree>
    <p:extLst>
      <p:ext uri="{BB962C8B-B14F-4D97-AF65-F5344CB8AC3E}">
        <p14:creationId xmlns:p14="http://schemas.microsoft.com/office/powerpoint/2010/main" val="366171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2E0E4B-FEC5-4625-8574-1B8DF52B24B0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SYSTEM OVERVIEW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7FFCD-5C3F-415B-B285-E711353144C9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EQ-PMS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는 무엇인가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DEEF80-073E-4267-BDC0-5BE955C08E85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A2BBDF-00E3-4832-9475-B770A36DA657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반도체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디스플레이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2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차전지 장비 셋업 프로젝트 전용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PMS</a:t>
            </a:r>
            <a:endParaRPr lang="ko-KR" altLang="en-US" sz="1400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4C09E5-CA96-41C5-A343-B0B718DC84AC}"/>
              </a:ext>
            </a:extLst>
          </p:cNvPr>
          <p:cNvSpPr/>
          <p:nvPr/>
        </p:nvSpPr>
        <p:spPr>
          <a:xfrm>
            <a:off x="762000" y="2286000"/>
            <a:ext cx="76200" cy="762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AE4F4D-FF11-48E1-974A-CF5A4D26FAD6}"/>
              </a:ext>
            </a:extLst>
          </p:cNvPr>
          <p:cNvSpPr txBox="1"/>
          <p:nvPr/>
        </p:nvSpPr>
        <p:spPr>
          <a:xfrm>
            <a:off x="1016000" y="22860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F0F0F0"/>
                </a:solidFill>
                <a:latin typeface="맑은 고딕"/>
                <a:ea typeface="맑은 고딕"/>
              </a:rPr>
              <a:t>도메인 특화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853A68-F737-40A8-9A4C-4B601BB5223D}"/>
              </a:ext>
            </a:extLst>
          </p:cNvPr>
          <p:cNvSpPr txBox="1"/>
          <p:nvPr/>
        </p:nvSpPr>
        <p:spPr>
          <a:xfrm>
            <a:off x="1016000" y="26416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반도체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디스플레이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/ 2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차전지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산업별 검수표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간트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자격 관리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FD441F3-7EE3-4C13-A255-D137B3B072ED}"/>
              </a:ext>
            </a:extLst>
          </p:cNvPr>
          <p:cNvSpPr/>
          <p:nvPr/>
        </p:nvSpPr>
        <p:spPr>
          <a:xfrm>
            <a:off x="762000" y="3238500"/>
            <a:ext cx="76200" cy="762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406F2B-1581-4024-B419-9E49D649D458}"/>
              </a:ext>
            </a:extLst>
          </p:cNvPr>
          <p:cNvSpPr txBox="1"/>
          <p:nvPr/>
        </p:nvSpPr>
        <p:spPr>
          <a:xfrm>
            <a:off x="1016000" y="32385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F0F0F0"/>
                </a:solidFill>
                <a:latin typeface="맑은 고딕"/>
                <a:ea typeface="맑은 고딕"/>
              </a:rPr>
              <a:t>단일 화면 공유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877BB5-6B47-42EF-A3C7-AA58B7DB4200}"/>
              </a:ext>
            </a:extLst>
          </p:cNvPr>
          <p:cNvSpPr txBox="1"/>
          <p:nvPr/>
        </p:nvSpPr>
        <p:spPr>
          <a:xfrm>
            <a:off x="1016000" y="35941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본사 관리자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현장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PM ·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엔지니어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고객사가 같은 화면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8D37E-32D6-4FE7-AEE8-342FE58C93BD}"/>
              </a:ext>
            </a:extLst>
          </p:cNvPr>
          <p:cNvSpPr/>
          <p:nvPr/>
        </p:nvSpPr>
        <p:spPr>
          <a:xfrm>
            <a:off x="762000" y="4191000"/>
            <a:ext cx="76200" cy="762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650913-3258-4094-87DB-C272323890AB}"/>
              </a:ext>
            </a:extLst>
          </p:cNvPr>
          <p:cNvSpPr txBox="1"/>
          <p:nvPr/>
        </p:nvSpPr>
        <p:spPr>
          <a:xfrm>
            <a:off x="1016000" y="41910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F0F0F0"/>
                </a:solidFill>
                <a:latin typeface="맑은 고딕"/>
                <a:ea typeface="맑은 고딕"/>
              </a:rPr>
              <a:t>Google </a:t>
            </a:r>
            <a:r>
              <a:rPr lang="ko-KR" altLang="en-US" b="1">
                <a:solidFill>
                  <a:srgbClr val="F0F0F0"/>
                </a:solidFill>
                <a:latin typeface="맑은 고딕"/>
                <a:ea typeface="맑은 고딕"/>
              </a:rPr>
              <a:t>기반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198099-B336-4404-9E6B-EB08A131BB56}"/>
              </a:ext>
            </a:extLst>
          </p:cNvPr>
          <p:cNvSpPr txBox="1"/>
          <p:nvPr/>
        </p:nvSpPr>
        <p:spPr>
          <a:xfrm>
            <a:off x="1016000" y="45466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Google Drive + Google Sheets —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별도 서버 불필요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8D66D21-69EE-412C-9860-65F5E70335FC}"/>
              </a:ext>
            </a:extLst>
          </p:cNvPr>
          <p:cNvSpPr/>
          <p:nvPr/>
        </p:nvSpPr>
        <p:spPr>
          <a:xfrm>
            <a:off x="762000" y="5143500"/>
            <a:ext cx="76200" cy="762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A73E12-774F-4008-94EA-DFE0D195A1F6}"/>
              </a:ext>
            </a:extLst>
          </p:cNvPr>
          <p:cNvSpPr txBox="1"/>
          <p:nvPr/>
        </p:nvSpPr>
        <p:spPr>
          <a:xfrm>
            <a:off x="1016000" y="51435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F0F0F0"/>
                </a:solidFill>
                <a:latin typeface="맑은 고딕"/>
                <a:ea typeface="맑은 고딕"/>
              </a:rPr>
              <a:t>자동 모드 전환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FC6337-CD87-433F-99B0-4CD2CC1E0F65}"/>
              </a:ext>
            </a:extLst>
          </p:cNvPr>
          <p:cNvSpPr txBox="1"/>
          <p:nvPr/>
        </p:nvSpPr>
        <p:spPr>
          <a:xfrm>
            <a:off x="1016000" y="54991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PC ↔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모바일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(768px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미만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=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모바일 모드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)</a:t>
            </a:r>
            <a:endParaRPr lang="ko-KR" altLang="en-US" sz="1400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58517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603059-1FC7-4E4F-BA4F-DE0A0B94F96B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SYSTEM OVERVIEW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3180E0-E989-4222-A20D-615107BAF4D3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메뉴 구조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좌측 사이드바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60A26A-4AD3-464A-A0B9-DEFB1EB7440F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515393-EDA9-4ECA-BCAF-EABFE922CC08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권한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기능 활성화 여부에 따라 메뉴 노출 자동 조정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7D6F0B-C1B9-4A37-ABAE-960CD725928D}"/>
              </a:ext>
            </a:extLst>
          </p:cNvPr>
          <p:cNvSpPr/>
          <p:nvPr/>
        </p:nvSpPr>
        <p:spPr>
          <a:xfrm>
            <a:off x="762000" y="2286000"/>
            <a:ext cx="2540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1E9386-1366-4AAF-8E5A-7462509C71A2}"/>
              </a:ext>
            </a:extLst>
          </p:cNvPr>
          <p:cNvSpPr txBox="1"/>
          <p:nvPr/>
        </p:nvSpPr>
        <p:spPr>
          <a:xfrm>
            <a:off x="762000" y="25654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대시보드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D02CC3C-5F18-47C6-96D3-E8A08020EFA0}"/>
              </a:ext>
            </a:extLst>
          </p:cNvPr>
          <p:cNvSpPr/>
          <p:nvPr/>
        </p:nvSpPr>
        <p:spPr>
          <a:xfrm>
            <a:off x="3454400" y="2286000"/>
            <a:ext cx="2540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0919A9-A487-4ABC-9463-62515A0BF19E}"/>
              </a:ext>
            </a:extLst>
          </p:cNvPr>
          <p:cNvSpPr txBox="1"/>
          <p:nvPr/>
        </p:nvSpPr>
        <p:spPr>
          <a:xfrm>
            <a:off x="3454400" y="25654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BEDC0E-E0FF-4220-963E-BA2636509BAB}"/>
              </a:ext>
            </a:extLst>
          </p:cNvPr>
          <p:cNvSpPr/>
          <p:nvPr/>
        </p:nvSpPr>
        <p:spPr>
          <a:xfrm>
            <a:off x="6146800" y="2286000"/>
            <a:ext cx="2540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5AF4AB-D780-46FD-998F-CCDDDB304C0A}"/>
              </a:ext>
            </a:extLst>
          </p:cNvPr>
          <p:cNvSpPr txBox="1"/>
          <p:nvPr/>
        </p:nvSpPr>
        <p:spPr>
          <a:xfrm>
            <a:off x="6146800" y="25654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이슈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펀치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258842F-3F2D-4895-8298-68B074D5AB77}"/>
              </a:ext>
            </a:extLst>
          </p:cNvPr>
          <p:cNvSpPr/>
          <p:nvPr/>
        </p:nvSpPr>
        <p:spPr>
          <a:xfrm>
            <a:off x="8839200" y="2286000"/>
            <a:ext cx="2540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5DC465-4F8D-47BA-B30B-C15FD8B7374E}"/>
              </a:ext>
            </a:extLst>
          </p:cNvPr>
          <p:cNvSpPr txBox="1"/>
          <p:nvPr/>
        </p:nvSpPr>
        <p:spPr>
          <a:xfrm>
            <a:off x="8839200" y="25654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AS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통합 관리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614576E-32E5-4F24-8C70-35FE1AAB2147}"/>
              </a:ext>
            </a:extLst>
          </p:cNvPr>
          <p:cNvSpPr/>
          <p:nvPr/>
        </p:nvSpPr>
        <p:spPr>
          <a:xfrm>
            <a:off x="762000" y="3327400"/>
            <a:ext cx="2540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D67E25-8CE6-48F8-AE3B-884CB8B2BDC7}"/>
              </a:ext>
            </a:extLst>
          </p:cNvPr>
          <p:cNvSpPr txBox="1"/>
          <p:nvPr/>
        </p:nvSpPr>
        <p:spPr>
          <a:xfrm>
            <a:off x="762000" y="36068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자재 관리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C40B6A-C4D4-4DBC-8592-2CD6FF5C7F58}"/>
              </a:ext>
            </a:extLst>
          </p:cNvPr>
          <p:cNvSpPr/>
          <p:nvPr/>
        </p:nvSpPr>
        <p:spPr>
          <a:xfrm>
            <a:off x="3454400" y="3327400"/>
            <a:ext cx="2540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832EED-A173-473A-A1BE-AE712047A6A9}"/>
              </a:ext>
            </a:extLst>
          </p:cNvPr>
          <p:cNvSpPr txBox="1"/>
          <p:nvPr/>
        </p:nvSpPr>
        <p:spPr>
          <a:xfrm>
            <a:off x="3454400" y="36068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사이트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유틸 마스터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7C8F2FD-F93A-4495-894E-D2D6B49D09CD}"/>
              </a:ext>
            </a:extLst>
          </p:cNvPr>
          <p:cNvSpPr/>
          <p:nvPr/>
        </p:nvSpPr>
        <p:spPr>
          <a:xfrm>
            <a:off x="6146800" y="3327400"/>
            <a:ext cx="2540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600D38-3136-4D6D-A3D8-599DDD9DFF72}"/>
              </a:ext>
            </a:extLst>
          </p:cNvPr>
          <p:cNvSpPr txBox="1"/>
          <p:nvPr/>
        </p:nvSpPr>
        <p:spPr>
          <a:xfrm>
            <a:off x="6146800" y="36068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인력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리소스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F9D08EA-EB0E-4B34-9A83-E722F71DA230}"/>
              </a:ext>
            </a:extLst>
          </p:cNvPr>
          <p:cNvSpPr/>
          <p:nvPr/>
        </p:nvSpPr>
        <p:spPr>
          <a:xfrm>
            <a:off x="8839200" y="3327400"/>
            <a:ext cx="2540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931EB9-A145-4301-B6DC-A33164B7CF6A}"/>
              </a:ext>
            </a:extLst>
          </p:cNvPr>
          <p:cNvSpPr txBox="1"/>
          <p:nvPr/>
        </p:nvSpPr>
        <p:spPr>
          <a:xfrm>
            <a:off x="8839200" y="36068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버전 릴리즈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0889E75-4B1D-4200-BCD5-5714B7E2B2C4}"/>
              </a:ext>
            </a:extLst>
          </p:cNvPr>
          <p:cNvSpPr/>
          <p:nvPr/>
        </p:nvSpPr>
        <p:spPr>
          <a:xfrm>
            <a:off x="762000" y="4368800"/>
            <a:ext cx="2540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3B8C84-30F8-43B8-8B0A-E73985B22DFE}"/>
              </a:ext>
            </a:extLst>
          </p:cNvPr>
          <p:cNvSpPr txBox="1"/>
          <p:nvPr/>
        </p:nvSpPr>
        <p:spPr>
          <a:xfrm>
            <a:off x="762000" y="46482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6AD55"/>
                </a:solidFill>
                <a:latin typeface="맑은 고딕"/>
                <a:ea typeface="맑은 고딕"/>
              </a:rPr>
              <a:t>사용자 관리  </a:t>
            </a:r>
            <a:r>
              <a:rPr lang="en-US" altLang="ko-KR" sz="1400">
                <a:solidFill>
                  <a:srgbClr val="F6AD55"/>
                </a:solidFill>
                <a:latin typeface="맑은 고딕"/>
                <a:ea typeface="맑은 고딕"/>
              </a:rPr>
              <a:t>(ADMIN)</a:t>
            </a:r>
            <a:endParaRPr lang="ko-KR" altLang="en-US" sz="1400">
              <a:solidFill>
                <a:srgbClr val="F6AD55"/>
              </a:solidFill>
              <a:latin typeface="맑은 고딕"/>
              <a:ea typeface="맑은 고딕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D58DF7E-7416-4B49-9C8F-7C42167AC791}"/>
              </a:ext>
            </a:extLst>
          </p:cNvPr>
          <p:cNvSpPr/>
          <p:nvPr/>
        </p:nvSpPr>
        <p:spPr>
          <a:xfrm>
            <a:off x="3454400" y="4368800"/>
            <a:ext cx="2540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427ECD-0C30-438A-860B-3DA917BB504D}"/>
              </a:ext>
            </a:extLst>
          </p:cNvPr>
          <p:cNvSpPr txBox="1"/>
          <p:nvPr/>
        </p:nvSpPr>
        <p:spPr>
          <a:xfrm>
            <a:off x="3454400" y="46482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6AD55"/>
                </a:solidFill>
                <a:latin typeface="맑은 고딕"/>
                <a:ea typeface="맑은 고딕"/>
              </a:rPr>
              <a:t>시스템 설정  </a:t>
            </a:r>
            <a:r>
              <a:rPr lang="en-US" altLang="ko-KR" sz="1400">
                <a:solidFill>
                  <a:srgbClr val="F6AD55"/>
                </a:solidFill>
                <a:latin typeface="맑은 고딕"/>
                <a:ea typeface="맑은 고딕"/>
              </a:rPr>
              <a:t>(ADMIN)</a:t>
            </a:r>
            <a:endParaRPr lang="ko-KR" altLang="en-US" sz="1400">
              <a:solidFill>
                <a:srgbClr val="F6AD55"/>
              </a:solidFill>
              <a:latin typeface="맑은 고딕"/>
              <a:ea typeface="맑은 고딕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48B24E7-CC7B-4BAC-97F9-A3FFFA53B91E}"/>
              </a:ext>
            </a:extLst>
          </p:cNvPr>
          <p:cNvSpPr/>
          <p:nvPr/>
        </p:nvSpPr>
        <p:spPr>
          <a:xfrm>
            <a:off x="6146800" y="4368800"/>
            <a:ext cx="2540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003EF5-843D-4A0F-9640-50875C061D05}"/>
              </a:ext>
            </a:extLst>
          </p:cNvPr>
          <p:cNvSpPr txBox="1"/>
          <p:nvPr/>
        </p:nvSpPr>
        <p:spPr>
          <a:xfrm>
            <a:off x="6146800" y="46482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주간 업무 보고  ★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4DF7015-D413-49CE-8BD7-1F0DDD71B7C8}"/>
              </a:ext>
            </a:extLst>
          </p:cNvPr>
          <p:cNvSpPr/>
          <p:nvPr/>
        </p:nvSpPr>
        <p:spPr>
          <a:xfrm>
            <a:off x="8839200" y="4368800"/>
            <a:ext cx="2540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E7AD1E-8139-4611-8808-20A49A4DA850}"/>
              </a:ext>
            </a:extLst>
          </p:cNvPr>
          <p:cNvSpPr txBox="1"/>
          <p:nvPr/>
        </p:nvSpPr>
        <p:spPr>
          <a:xfrm>
            <a:off x="8839200" y="46482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메뉴 접기  버튼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D30B13-3338-4DA1-B701-A77F01D93360}"/>
              </a:ext>
            </a:extLst>
          </p:cNvPr>
          <p:cNvSpPr txBox="1"/>
          <p:nvPr/>
        </p:nvSpPr>
        <p:spPr>
          <a:xfrm>
            <a:off x="762000" y="6096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사이드바 하단 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"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메뉴 접기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" 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버튼  →  컨텐츠 영역 확대</a:t>
            </a:r>
          </a:p>
        </p:txBody>
      </p:sp>
    </p:spTree>
    <p:extLst>
      <p:ext uri="{BB962C8B-B14F-4D97-AF65-F5344CB8AC3E}">
        <p14:creationId xmlns:p14="http://schemas.microsoft.com/office/powerpoint/2010/main" val="3381825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01C6A9-4CFF-4487-9F98-A51EF91010B8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SYSTEM OVERVIEW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F7ED6-0169-47BC-A559-2606C19E67D7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데이터는 어디에 저장되나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65A8ED-49B3-4C41-B2F1-CC8EB72D54C1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4D160-EA58-48A4-A8D9-715B0A729084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엑셀 파일 별도 관리 불필요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버전 충돌 없음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2D6D1F-9FD6-4227-8F35-073F45FB0643}"/>
              </a:ext>
            </a:extLst>
          </p:cNvPr>
          <p:cNvSpPr/>
          <p:nvPr/>
        </p:nvSpPr>
        <p:spPr>
          <a:xfrm>
            <a:off x="762000" y="2286000"/>
            <a:ext cx="5080000" cy="317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A44DA-824A-4DA0-9268-017F558AD378}"/>
              </a:ext>
            </a:extLst>
          </p:cNvPr>
          <p:cNvSpPr txBox="1"/>
          <p:nvPr/>
        </p:nvSpPr>
        <p:spPr>
          <a:xfrm>
            <a:off x="1016000" y="25400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00D4AA"/>
                </a:solidFill>
                <a:latin typeface="맑은 고딕"/>
                <a:ea typeface="맑은 고딕"/>
              </a:rPr>
              <a:t>Google Sheets</a:t>
            </a:r>
            <a:endParaRPr lang="ko-KR" altLang="en-US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892527-0588-4595-81DE-0CBA7FAA91C4}"/>
              </a:ext>
            </a:extLst>
          </p:cNvPr>
          <p:cNvSpPr txBox="1"/>
          <p:nvPr/>
        </p:nvSpPr>
        <p:spPr>
          <a:xfrm>
            <a:off x="1016000" y="2921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데이터베이스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(DB)</a:t>
            </a:r>
            <a:endParaRPr lang="ko-KR" altLang="en-US" sz="1300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1015C-7BDE-483C-8C17-7CB2825EA8B6}"/>
              </a:ext>
            </a:extLst>
          </p:cNvPr>
          <p:cNvSpPr txBox="1"/>
          <p:nvPr/>
        </p:nvSpPr>
        <p:spPr>
          <a:xfrm>
            <a:off x="1016000" y="3429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모든 변경 자동 저장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41D41F-C687-4864-B663-C9B042B2D43E}"/>
              </a:ext>
            </a:extLst>
          </p:cNvPr>
          <p:cNvSpPr txBox="1"/>
          <p:nvPr/>
        </p:nvSpPr>
        <p:spPr>
          <a:xfrm>
            <a:off x="1016000" y="3835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활동 이력 시간순 누적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1D3C87-D7E9-4CC2-AD3A-34969DCD852F}"/>
              </a:ext>
            </a:extLst>
          </p:cNvPr>
          <p:cNvSpPr txBox="1"/>
          <p:nvPr/>
        </p:nvSpPr>
        <p:spPr>
          <a:xfrm>
            <a:off x="1016000" y="42418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사용자 변경 사항 즉시 반영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E5AFF1C-1F46-439C-896B-6BF316ABE653}"/>
              </a:ext>
            </a:extLst>
          </p:cNvPr>
          <p:cNvSpPr/>
          <p:nvPr/>
        </p:nvSpPr>
        <p:spPr>
          <a:xfrm>
            <a:off x="6350000" y="2286000"/>
            <a:ext cx="5080000" cy="317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BEF497-92EA-496C-9DE2-E83D4CF6C343}"/>
              </a:ext>
            </a:extLst>
          </p:cNvPr>
          <p:cNvSpPr txBox="1"/>
          <p:nvPr/>
        </p:nvSpPr>
        <p:spPr>
          <a:xfrm>
            <a:off x="6604000" y="25400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00D4AA"/>
                </a:solidFill>
                <a:latin typeface="맑은 고딕"/>
                <a:ea typeface="맑은 고딕"/>
              </a:rPr>
              <a:t>Google Drive</a:t>
            </a:r>
            <a:endParaRPr lang="ko-KR" altLang="en-US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7613F9-3C9E-4E12-8A1C-0726A44EF4C9}"/>
              </a:ext>
            </a:extLst>
          </p:cNvPr>
          <p:cNvSpPr txBox="1"/>
          <p:nvPr/>
        </p:nvSpPr>
        <p:spPr>
          <a:xfrm>
            <a:off x="6604000" y="2921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첨부 파일 자동 분류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466E37-1BD4-4ACB-9237-72B2AAA005CD}"/>
              </a:ext>
            </a:extLst>
          </p:cNvPr>
          <p:cNvSpPr txBox="1"/>
          <p:nvPr/>
        </p:nvSpPr>
        <p:spPr>
          <a:xfrm>
            <a:off x="6604000" y="3429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[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루트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]/[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고객사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]/[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프로젝트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]/[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카테고리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]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9A7B38-1E0D-450A-B622-2FAD23D709CE}"/>
              </a:ext>
            </a:extLst>
          </p:cNvPr>
          <p:cNvSpPr txBox="1"/>
          <p:nvPr/>
        </p:nvSpPr>
        <p:spPr>
          <a:xfrm>
            <a:off x="6604000" y="3835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카테고리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: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명세서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도면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회의록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기타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64A139-63AD-419F-B2F0-7C6DD8F39626}"/>
              </a:ext>
            </a:extLst>
          </p:cNvPr>
          <p:cNvSpPr txBox="1"/>
          <p:nvPr/>
        </p:nvSpPr>
        <p:spPr>
          <a:xfrm>
            <a:off x="6604000" y="42418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단일 파일 최대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18MB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815644-5D27-40B6-AC12-DEDC544CC582}"/>
              </a:ext>
            </a:extLst>
          </p:cNvPr>
          <p:cNvSpPr txBox="1"/>
          <p:nvPr/>
        </p:nvSpPr>
        <p:spPr>
          <a:xfrm>
            <a:off x="762000" y="5842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6AD55"/>
                </a:solidFill>
                <a:latin typeface="맑은 고딕"/>
                <a:ea typeface="맑은 고딕"/>
              </a:rPr>
              <a:t>사전 작업 </a:t>
            </a:r>
            <a:r>
              <a:rPr lang="en-US" altLang="ko-KR" sz="1300">
                <a:solidFill>
                  <a:srgbClr val="F6AD55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1300">
                <a:solidFill>
                  <a:srgbClr val="F6AD55"/>
                </a:solidFill>
                <a:latin typeface="맑은 고딕"/>
                <a:ea typeface="맑은 고딕"/>
              </a:rPr>
              <a:t>시스템 설정에서 </a:t>
            </a:r>
            <a:r>
              <a:rPr lang="en-US" altLang="ko-KR" sz="1300">
                <a:solidFill>
                  <a:srgbClr val="F6AD55"/>
                </a:solidFill>
                <a:latin typeface="맑은 고딕"/>
                <a:ea typeface="맑은 고딕"/>
              </a:rPr>
              <a:t>Drive </a:t>
            </a:r>
            <a:r>
              <a:rPr lang="ko-KR" altLang="en-US" sz="1300">
                <a:solidFill>
                  <a:srgbClr val="F6AD55"/>
                </a:solidFill>
                <a:latin typeface="맑은 고딕"/>
                <a:ea typeface="맑은 고딕"/>
              </a:rPr>
              <a:t>루트 폴더 등록 </a:t>
            </a:r>
            <a:r>
              <a:rPr lang="en-US" altLang="ko-KR" sz="1300">
                <a:solidFill>
                  <a:srgbClr val="F6AD55"/>
                </a:solidFill>
                <a:latin typeface="맑은 고딕"/>
                <a:ea typeface="맑은 고딕"/>
              </a:rPr>
              <a:t>+ </a:t>
            </a:r>
            <a:r>
              <a:rPr lang="ko-KR" altLang="en-US" sz="1300">
                <a:solidFill>
                  <a:srgbClr val="F6AD55"/>
                </a:solidFill>
                <a:latin typeface="맑은 고딕"/>
                <a:ea typeface="맑은 고딕"/>
              </a:rPr>
              <a:t>연결 테스트</a:t>
            </a:r>
          </a:p>
        </p:txBody>
      </p:sp>
    </p:spTree>
    <p:extLst>
      <p:ext uri="{BB962C8B-B14F-4D97-AF65-F5344CB8AC3E}">
        <p14:creationId xmlns:p14="http://schemas.microsoft.com/office/powerpoint/2010/main" val="2867795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AB400C-B9F3-4F2A-AD7C-D1D292A33E34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GETTING STARTED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8ABD00-7697-47FD-89A7-02DABD6D09AF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로그인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비밀번호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D1FAFD-2D04-4E2B-8E38-CE8F41B96D1A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2586CE-70DD-4FE4-AA12-2F1EFB406EEF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관리자가 발급한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ID/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비밀번호로 시작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D837DAA-B508-4527-82C6-15B2B4ED00F1}"/>
              </a:ext>
            </a:extLst>
          </p:cNvPr>
          <p:cNvSpPr/>
          <p:nvPr/>
        </p:nvSpPr>
        <p:spPr>
          <a:xfrm>
            <a:off x="762000" y="2286000"/>
            <a:ext cx="635000" cy="6350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EEB768-3D30-4972-8211-8C88B3FE2CA6}"/>
              </a:ext>
            </a:extLst>
          </p:cNvPr>
          <p:cNvSpPr txBox="1"/>
          <p:nvPr/>
        </p:nvSpPr>
        <p:spPr>
          <a:xfrm>
            <a:off x="762000" y="2413000"/>
            <a:ext cx="63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1A2A3A"/>
                </a:solidFill>
                <a:latin typeface="맑은 고딕"/>
                <a:ea typeface="맑은 고딕"/>
              </a:rPr>
              <a:t>1</a:t>
            </a:r>
            <a:endParaRPr lang="ko-KR" altLang="en-US" sz="20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2663C1-64C0-4C2D-9538-1F738EB5504E}"/>
              </a:ext>
            </a:extLst>
          </p:cNvPr>
          <p:cNvSpPr txBox="1"/>
          <p:nvPr/>
        </p:nvSpPr>
        <p:spPr>
          <a:xfrm>
            <a:off x="1651000" y="2438400"/>
            <a:ext cx="977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>
                <a:solidFill>
                  <a:srgbClr val="F0F0F0"/>
                </a:solidFill>
                <a:latin typeface="맑은 고딕"/>
                <a:ea typeface="맑은 고딕"/>
              </a:rPr>
              <a:t>관리자 발급 </a:t>
            </a:r>
            <a:r>
              <a:rPr lang="en-US" altLang="ko-KR">
                <a:solidFill>
                  <a:srgbClr val="F0F0F0"/>
                </a:solidFill>
                <a:latin typeface="맑은 고딕"/>
                <a:ea typeface="맑은 고딕"/>
              </a:rPr>
              <a:t>ID/</a:t>
            </a:r>
            <a:r>
              <a:rPr lang="ko-KR" altLang="en-US">
                <a:solidFill>
                  <a:srgbClr val="F0F0F0"/>
                </a:solidFill>
                <a:latin typeface="맑은 고딕"/>
                <a:ea typeface="맑은 고딕"/>
              </a:rPr>
              <a:t>비밀번호로 로그인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32E9CB1-2B90-4EBA-85FC-BD8A6FFB25FE}"/>
              </a:ext>
            </a:extLst>
          </p:cNvPr>
          <p:cNvSpPr/>
          <p:nvPr/>
        </p:nvSpPr>
        <p:spPr>
          <a:xfrm>
            <a:off x="762000" y="3175000"/>
            <a:ext cx="635000" cy="6350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4D6827-D0B5-45C0-8943-12688DD9138B}"/>
              </a:ext>
            </a:extLst>
          </p:cNvPr>
          <p:cNvSpPr txBox="1"/>
          <p:nvPr/>
        </p:nvSpPr>
        <p:spPr>
          <a:xfrm>
            <a:off x="762000" y="3302000"/>
            <a:ext cx="63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1A2A3A"/>
                </a:solidFill>
                <a:latin typeface="맑은 고딕"/>
                <a:ea typeface="맑은 고딕"/>
              </a:rPr>
              <a:t>2</a:t>
            </a:r>
            <a:endParaRPr lang="ko-KR" altLang="en-US" sz="20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84A368-BFEC-4715-97FF-DC2A7053CF79}"/>
              </a:ext>
            </a:extLst>
          </p:cNvPr>
          <p:cNvSpPr txBox="1"/>
          <p:nvPr/>
        </p:nvSpPr>
        <p:spPr>
          <a:xfrm>
            <a:off x="1651000" y="3327400"/>
            <a:ext cx="977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>
                <a:solidFill>
                  <a:srgbClr val="F0F0F0"/>
                </a:solidFill>
                <a:latin typeface="맑은 고딕"/>
                <a:ea typeface="맑은 고딕"/>
              </a:rPr>
              <a:t>최초 접속 시 비밀번호 변경 강제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6482FBC-2AD1-41FA-95B9-179D010A7C6B}"/>
              </a:ext>
            </a:extLst>
          </p:cNvPr>
          <p:cNvSpPr/>
          <p:nvPr/>
        </p:nvSpPr>
        <p:spPr>
          <a:xfrm>
            <a:off x="762000" y="4064000"/>
            <a:ext cx="635000" cy="6350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98E884-AAD6-4CC3-85A1-EB35E72BB3DD}"/>
              </a:ext>
            </a:extLst>
          </p:cNvPr>
          <p:cNvSpPr txBox="1"/>
          <p:nvPr/>
        </p:nvSpPr>
        <p:spPr>
          <a:xfrm>
            <a:off x="762000" y="4191000"/>
            <a:ext cx="63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1A2A3A"/>
                </a:solidFill>
                <a:latin typeface="맑은 고딕"/>
                <a:ea typeface="맑은 고딕"/>
              </a:rPr>
              <a:t>3</a:t>
            </a:r>
            <a:endParaRPr lang="ko-KR" altLang="en-US" sz="20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030687-D246-44A4-BB44-2BE0B7F7C95C}"/>
              </a:ext>
            </a:extLst>
          </p:cNvPr>
          <p:cNvSpPr txBox="1"/>
          <p:nvPr/>
        </p:nvSpPr>
        <p:spPr>
          <a:xfrm>
            <a:off x="1651000" y="4216400"/>
            <a:ext cx="977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>
                <a:solidFill>
                  <a:srgbClr val="F0F0F0"/>
                </a:solidFill>
                <a:latin typeface="맑은 고딕"/>
                <a:ea typeface="맑은 고딕"/>
              </a:rPr>
              <a:t>우측 상단 키 아이콘 </a:t>
            </a:r>
            <a:r>
              <a:rPr lang="en-US" altLang="ko-KR">
                <a:solidFill>
                  <a:srgbClr val="F0F0F0"/>
                </a:solidFill>
                <a:latin typeface="맑은 고딕"/>
                <a:ea typeface="맑은 고딕"/>
              </a:rPr>
              <a:t>— </a:t>
            </a:r>
            <a:r>
              <a:rPr lang="ko-KR" altLang="en-US">
                <a:solidFill>
                  <a:srgbClr val="F0F0F0"/>
                </a:solidFill>
                <a:latin typeface="맑은 고딕"/>
                <a:ea typeface="맑은 고딕"/>
              </a:rPr>
              <a:t>언제든 변경 가능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D644B0C-7ADC-4755-8FC7-0FA034ABE986}"/>
              </a:ext>
            </a:extLst>
          </p:cNvPr>
          <p:cNvSpPr/>
          <p:nvPr/>
        </p:nvSpPr>
        <p:spPr>
          <a:xfrm>
            <a:off x="762000" y="4953000"/>
            <a:ext cx="635000" cy="6350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AC3C97-6A8E-46FD-820F-0476E4901256}"/>
              </a:ext>
            </a:extLst>
          </p:cNvPr>
          <p:cNvSpPr txBox="1"/>
          <p:nvPr/>
        </p:nvSpPr>
        <p:spPr>
          <a:xfrm>
            <a:off x="762000" y="5080000"/>
            <a:ext cx="63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1A2A3A"/>
                </a:solidFill>
                <a:latin typeface="맑은 고딕"/>
                <a:ea typeface="맑은 고딕"/>
              </a:rPr>
              <a:t>4</a:t>
            </a:r>
            <a:endParaRPr lang="ko-KR" altLang="en-US" sz="20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2FABD3-E7B4-4E44-B4B4-E26AB10CB907}"/>
              </a:ext>
            </a:extLst>
          </p:cNvPr>
          <p:cNvSpPr txBox="1"/>
          <p:nvPr/>
        </p:nvSpPr>
        <p:spPr>
          <a:xfrm>
            <a:off x="1651000" y="5105400"/>
            <a:ext cx="977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>
                <a:solidFill>
                  <a:srgbClr val="F0F0F0"/>
                </a:solidFill>
                <a:latin typeface="맑은 고딕"/>
                <a:ea typeface="맑은 고딕"/>
              </a:rPr>
              <a:t>비밀번호 분실 시 </a:t>
            </a:r>
            <a:r>
              <a:rPr lang="en-US" altLang="ko-KR">
                <a:solidFill>
                  <a:srgbClr val="F0F0F0"/>
                </a:solidFill>
                <a:latin typeface="맑은 고딕"/>
                <a:ea typeface="맑은 고딕"/>
              </a:rPr>
              <a:t>ADMIN</a:t>
            </a:r>
            <a:r>
              <a:rPr lang="ko-KR" altLang="en-US">
                <a:solidFill>
                  <a:srgbClr val="F0F0F0"/>
                </a:solidFill>
                <a:latin typeface="맑은 고딕"/>
                <a:ea typeface="맑은 고딕"/>
              </a:rPr>
              <a:t>에게 재설정 요청</a:t>
            </a:r>
          </a:p>
        </p:txBody>
      </p:sp>
    </p:spTree>
    <p:extLst>
      <p:ext uri="{BB962C8B-B14F-4D97-AF65-F5344CB8AC3E}">
        <p14:creationId xmlns:p14="http://schemas.microsoft.com/office/powerpoint/2010/main" val="1461156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47B73F-5506-4CAF-B2EC-5501BD10A8B1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GETTING STARTED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7808A2-B70F-4F2D-B624-7423BBAA0C90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헤더 아이콘 안내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0B64CC-F991-4DD6-9744-47B97E008460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A8F77C-B552-4BEB-B943-E3DBD3C40F1A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우측 상단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5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개 아이콘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매일 사용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62E0424-7D4D-4010-9B63-5522D79763F6}"/>
              </a:ext>
            </a:extLst>
          </p:cNvPr>
          <p:cNvSpPr/>
          <p:nvPr/>
        </p:nvSpPr>
        <p:spPr>
          <a:xfrm>
            <a:off x="762000" y="2286000"/>
            <a:ext cx="10668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46BE72-4756-4B58-94A1-4045B70A2B3F}"/>
              </a:ext>
            </a:extLst>
          </p:cNvPr>
          <p:cNvSpPr txBox="1"/>
          <p:nvPr/>
        </p:nvSpPr>
        <p:spPr>
          <a:xfrm>
            <a:off x="1016000" y="2413000"/>
            <a:ext cx="50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>
                <a:solidFill>
                  <a:srgbClr val="F0F0F0"/>
                </a:solidFill>
                <a:latin typeface="맑은 고딕"/>
                <a:ea typeface="맑은 고딕"/>
              </a:rPr>
              <a:t>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F6CE18-76AC-4931-ADA4-9E378E86E730}"/>
              </a:ext>
            </a:extLst>
          </p:cNvPr>
          <p:cNvSpPr txBox="1"/>
          <p:nvPr/>
        </p:nvSpPr>
        <p:spPr>
          <a:xfrm>
            <a:off x="1651000" y="24638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알림 센터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84B308-A040-420A-8CA0-1937D2FB4C4E}"/>
              </a:ext>
            </a:extLst>
          </p:cNvPr>
          <p:cNvSpPr txBox="1"/>
          <p:nvPr/>
        </p:nvSpPr>
        <p:spPr>
          <a:xfrm>
            <a:off x="4318000" y="2463800"/>
            <a:ext cx="685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전사 신규 활동 모아보기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A4FDD1-C6AC-4D4F-A7B4-966A55FF7EE0}"/>
              </a:ext>
            </a:extLst>
          </p:cNvPr>
          <p:cNvSpPr/>
          <p:nvPr/>
        </p:nvSpPr>
        <p:spPr>
          <a:xfrm>
            <a:off x="762000" y="3048000"/>
            <a:ext cx="10668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16252B-43A5-4987-A473-79F5982096A2}"/>
              </a:ext>
            </a:extLst>
          </p:cNvPr>
          <p:cNvSpPr txBox="1"/>
          <p:nvPr/>
        </p:nvSpPr>
        <p:spPr>
          <a:xfrm>
            <a:off x="1016000" y="3175000"/>
            <a:ext cx="50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>
                <a:solidFill>
                  <a:srgbClr val="F0F0F0"/>
                </a:solidFill>
                <a:latin typeface="맑은 고딕"/>
                <a:ea typeface="맑은 고딕"/>
              </a:rPr>
              <a:t>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8CDB0E-639F-48D0-873B-C1B0D44292D2}"/>
              </a:ext>
            </a:extLst>
          </p:cNvPr>
          <p:cNvSpPr txBox="1"/>
          <p:nvPr/>
        </p:nvSpPr>
        <p:spPr>
          <a:xfrm>
            <a:off x="1651000" y="32258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모드 전환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EDB5EF-D244-43CD-AE40-ED631A692E8E}"/>
              </a:ext>
            </a:extLst>
          </p:cNvPr>
          <p:cNvSpPr txBox="1"/>
          <p:nvPr/>
        </p:nvSpPr>
        <p:spPr>
          <a:xfrm>
            <a:off x="4318000" y="3225800"/>
            <a:ext cx="685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PC ↔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모바일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190CA4-9656-4DA3-AE86-127C9C46F03B}"/>
              </a:ext>
            </a:extLst>
          </p:cNvPr>
          <p:cNvSpPr/>
          <p:nvPr/>
        </p:nvSpPr>
        <p:spPr>
          <a:xfrm>
            <a:off x="762000" y="3810000"/>
            <a:ext cx="10668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1BDCCC-5DFC-4709-9A5D-1FEA4AADB2B4}"/>
              </a:ext>
            </a:extLst>
          </p:cNvPr>
          <p:cNvSpPr txBox="1"/>
          <p:nvPr/>
        </p:nvSpPr>
        <p:spPr>
          <a:xfrm>
            <a:off x="1016000" y="3937000"/>
            <a:ext cx="50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>
                <a:solidFill>
                  <a:srgbClr val="F0F0F0"/>
                </a:solidFill>
                <a:latin typeface="맑은 고딕"/>
                <a:ea typeface="맑은 고딕"/>
              </a:rPr>
              <a:t>🔑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7958F6-5D24-4251-A007-7E4B463F1A0C}"/>
              </a:ext>
            </a:extLst>
          </p:cNvPr>
          <p:cNvSpPr txBox="1"/>
          <p:nvPr/>
        </p:nvSpPr>
        <p:spPr>
          <a:xfrm>
            <a:off x="1651000" y="39878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비밀번호 변경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792BF0-E851-4740-8A4E-81C11DE879A6}"/>
              </a:ext>
            </a:extLst>
          </p:cNvPr>
          <p:cNvSpPr txBox="1"/>
          <p:nvPr/>
        </p:nvSpPr>
        <p:spPr>
          <a:xfrm>
            <a:off x="4318000" y="3987800"/>
            <a:ext cx="685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언제든지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3B39F9E-4C3F-4A85-B8EA-4475E4617506}"/>
              </a:ext>
            </a:extLst>
          </p:cNvPr>
          <p:cNvSpPr/>
          <p:nvPr/>
        </p:nvSpPr>
        <p:spPr>
          <a:xfrm>
            <a:off x="762000" y="4572000"/>
            <a:ext cx="10668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6B8AF0-BC4E-41B2-B895-CDD543D85302}"/>
              </a:ext>
            </a:extLst>
          </p:cNvPr>
          <p:cNvSpPr txBox="1"/>
          <p:nvPr/>
        </p:nvSpPr>
        <p:spPr>
          <a:xfrm>
            <a:off x="1016000" y="4699000"/>
            <a:ext cx="50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>
                <a:solidFill>
                  <a:srgbClr val="F0F0F0"/>
                </a:solidFill>
                <a:latin typeface="맑은 고딕"/>
                <a:ea typeface="맑은 고딕"/>
              </a:rPr>
              <a:t>❓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762C0E-BAA2-4E04-935D-22D0153F327A}"/>
              </a:ext>
            </a:extLst>
          </p:cNvPr>
          <p:cNvSpPr txBox="1"/>
          <p:nvPr/>
        </p:nvSpPr>
        <p:spPr>
          <a:xfrm>
            <a:off x="1651000" y="47498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도움말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5B2F2B-8AB3-4095-9F89-C21E2253444E}"/>
              </a:ext>
            </a:extLst>
          </p:cNvPr>
          <p:cNvSpPr txBox="1"/>
          <p:nvPr/>
        </p:nvSpPr>
        <p:spPr>
          <a:xfrm>
            <a:off x="4318000" y="4749800"/>
            <a:ext cx="685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이 가이드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853220A-A278-48D5-A94C-427FAF8FBEBC}"/>
              </a:ext>
            </a:extLst>
          </p:cNvPr>
          <p:cNvSpPr/>
          <p:nvPr/>
        </p:nvSpPr>
        <p:spPr>
          <a:xfrm>
            <a:off x="762000" y="5334000"/>
            <a:ext cx="10668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829566-EF45-47C5-8899-6AF8E5D455FA}"/>
              </a:ext>
            </a:extLst>
          </p:cNvPr>
          <p:cNvSpPr txBox="1"/>
          <p:nvPr/>
        </p:nvSpPr>
        <p:spPr>
          <a:xfrm>
            <a:off x="1016000" y="5461000"/>
            <a:ext cx="50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>
                <a:solidFill>
                  <a:srgbClr val="F0F0F0"/>
                </a:solidFill>
                <a:latin typeface="맑은 고딕"/>
                <a:ea typeface="맑은 고딕"/>
              </a:rPr>
              <a:t>🚪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4933F0-66F6-4AD8-9FBA-E750853D47B6}"/>
              </a:ext>
            </a:extLst>
          </p:cNvPr>
          <p:cNvSpPr txBox="1"/>
          <p:nvPr/>
        </p:nvSpPr>
        <p:spPr>
          <a:xfrm>
            <a:off x="1651000" y="55118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로그아웃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B59025-3112-4C96-9167-6C8B9E524409}"/>
              </a:ext>
            </a:extLst>
          </p:cNvPr>
          <p:cNvSpPr txBox="1"/>
          <p:nvPr/>
        </p:nvSpPr>
        <p:spPr>
          <a:xfrm>
            <a:off x="4318000" y="5511800"/>
            <a:ext cx="685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ko-KR" altLang="en-US" sz="1400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3053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65F299-951D-4629-96ED-079EED05248C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GETTING STARTED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A272C1-7638-4051-9267-ED4DB04862A7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알림 센터 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🔔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3200" b="1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BDE5B3-8BCB-42A3-8A8B-7C393D62C457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61C40-CFD0-48E6-B9A2-19CE52ACEE2E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출근 직후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5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초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어제 전사에서 무슨 일이 있었는지 한눈에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22F99-BFE6-4757-94E2-71C1F3FF120D}"/>
              </a:ext>
            </a:extLst>
          </p:cNvPr>
          <p:cNvSpPr txBox="1"/>
          <p:nvPr/>
        </p:nvSpPr>
        <p:spPr>
          <a:xfrm>
            <a:off x="762000" y="22225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포함되는 활동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190061A-E1F0-4C64-BB3C-CB7601090983}"/>
              </a:ext>
            </a:extLst>
          </p:cNvPr>
          <p:cNvSpPr/>
          <p:nvPr/>
        </p:nvSpPr>
        <p:spPr>
          <a:xfrm>
            <a:off x="762000" y="2603500"/>
            <a:ext cx="1397000" cy="4064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63B9D6-B3D1-41F4-829A-354B7AD74C1D}"/>
              </a:ext>
            </a:extLst>
          </p:cNvPr>
          <p:cNvSpPr txBox="1"/>
          <p:nvPr/>
        </p:nvSpPr>
        <p:spPr>
          <a:xfrm>
            <a:off x="762000" y="2679700"/>
            <a:ext cx="139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공유 노트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725DA8-45B2-4D9B-BB7F-8DAA653106F7}"/>
              </a:ext>
            </a:extLst>
          </p:cNvPr>
          <p:cNvSpPr/>
          <p:nvPr/>
        </p:nvSpPr>
        <p:spPr>
          <a:xfrm>
            <a:off x="2260600" y="2603500"/>
            <a:ext cx="1397000" cy="4064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5BEFDC-1AAB-4651-8C49-C960AD62B833}"/>
              </a:ext>
            </a:extLst>
          </p:cNvPr>
          <p:cNvSpPr txBox="1"/>
          <p:nvPr/>
        </p:nvSpPr>
        <p:spPr>
          <a:xfrm>
            <a:off x="2260600" y="2679700"/>
            <a:ext cx="139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신규 이슈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594A50-BEC1-4D0B-8C87-A0AE2F82FD9E}"/>
              </a:ext>
            </a:extLst>
          </p:cNvPr>
          <p:cNvSpPr/>
          <p:nvPr/>
        </p:nvSpPr>
        <p:spPr>
          <a:xfrm>
            <a:off x="3759200" y="2603500"/>
            <a:ext cx="1397000" cy="4064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41507B-51F5-465A-A6A4-F1B1AE251AFA}"/>
              </a:ext>
            </a:extLst>
          </p:cNvPr>
          <p:cNvSpPr txBox="1"/>
          <p:nvPr/>
        </p:nvSpPr>
        <p:spPr>
          <a:xfrm>
            <a:off x="3759200" y="2679700"/>
            <a:ext cx="139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고객 요청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D71F27E-AC1B-4504-AADD-595303DFDDBE}"/>
              </a:ext>
            </a:extLst>
          </p:cNvPr>
          <p:cNvSpPr/>
          <p:nvPr/>
        </p:nvSpPr>
        <p:spPr>
          <a:xfrm>
            <a:off x="5257800" y="2603500"/>
            <a:ext cx="1397000" cy="4064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F8F11B-1D01-4CA3-9A27-051CED9887E9}"/>
              </a:ext>
            </a:extLst>
          </p:cNvPr>
          <p:cNvSpPr txBox="1"/>
          <p:nvPr/>
        </p:nvSpPr>
        <p:spPr>
          <a:xfrm>
            <a:off x="5257800" y="2679700"/>
            <a:ext cx="139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AS</a:t>
            </a:r>
            <a:endParaRPr lang="ko-KR" altLang="en-US" sz="13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7D5BD0D-2484-42DA-B462-311C8D1EB61B}"/>
              </a:ext>
            </a:extLst>
          </p:cNvPr>
          <p:cNvSpPr/>
          <p:nvPr/>
        </p:nvSpPr>
        <p:spPr>
          <a:xfrm>
            <a:off x="6756400" y="2603500"/>
            <a:ext cx="1397000" cy="4064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E6A2A7-1349-42AC-AD05-C52157CC34EC}"/>
              </a:ext>
            </a:extLst>
          </p:cNvPr>
          <p:cNvSpPr txBox="1"/>
          <p:nvPr/>
        </p:nvSpPr>
        <p:spPr>
          <a:xfrm>
            <a:off x="6756400" y="2679700"/>
            <a:ext cx="139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버전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4CC6946-774E-4816-B624-89BEBF1990BF}"/>
              </a:ext>
            </a:extLst>
          </p:cNvPr>
          <p:cNvSpPr/>
          <p:nvPr/>
        </p:nvSpPr>
        <p:spPr>
          <a:xfrm>
            <a:off x="8255000" y="2603500"/>
            <a:ext cx="1397000" cy="4064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FC75E2-6058-45B5-B35B-DD1D9A2860B0}"/>
              </a:ext>
            </a:extLst>
          </p:cNvPr>
          <p:cNvSpPr txBox="1"/>
          <p:nvPr/>
        </p:nvSpPr>
        <p:spPr>
          <a:xfrm>
            <a:off x="8255000" y="2679700"/>
            <a:ext cx="139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출장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73BD79-C77A-482C-8844-AF08D738BFA1}"/>
              </a:ext>
            </a:extLst>
          </p:cNvPr>
          <p:cNvSpPr/>
          <p:nvPr/>
        </p:nvSpPr>
        <p:spPr>
          <a:xfrm>
            <a:off x="9753600" y="2603500"/>
            <a:ext cx="1397000" cy="4064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D3DCCE-7B55-488D-90D4-E883703AD813}"/>
              </a:ext>
            </a:extLst>
          </p:cNvPr>
          <p:cNvSpPr txBox="1"/>
          <p:nvPr/>
        </p:nvSpPr>
        <p:spPr>
          <a:xfrm>
            <a:off x="9753600" y="2679700"/>
            <a:ext cx="139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추가 작업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84B789-E85D-4FD2-9AA6-BFD8072069D5}"/>
              </a:ext>
            </a:extLst>
          </p:cNvPr>
          <p:cNvSpPr txBox="1"/>
          <p:nvPr/>
        </p:nvSpPr>
        <p:spPr>
          <a:xfrm>
            <a:off x="762000" y="33655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주요 기능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D622EF-C0EF-49D6-B045-7EC26AD27323}"/>
              </a:ext>
            </a:extLst>
          </p:cNvPr>
          <p:cNvSpPr txBox="1"/>
          <p:nvPr/>
        </p:nvSpPr>
        <p:spPr>
          <a:xfrm>
            <a:off x="762000" y="3746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미확인 건수 빨간 뱃지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+ 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항목 클릭 시 해당 화면으로 점프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B37AD6-6BBB-4828-9A9E-00F2304F49AE}"/>
              </a:ext>
            </a:extLst>
          </p:cNvPr>
          <p:cNvSpPr txBox="1"/>
          <p:nvPr/>
        </p:nvSpPr>
        <p:spPr>
          <a:xfrm>
            <a:off x="762000" y="41529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필터 칩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전체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미확인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종류별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13F7B3-3DAF-4166-AC4C-ADB9B3B3B98A}"/>
              </a:ext>
            </a:extLst>
          </p:cNvPr>
          <p:cNvSpPr txBox="1"/>
          <p:nvPr/>
        </p:nvSpPr>
        <p:spPr>
          <a:xfrm>
            <a:off x="762000" y="45593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·  "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모두 읽음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"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버튼으로 일괄 처리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A39114-6655-468F-A6EE-7FE21C3EBCE8}"/>
              </a:ext>
            </a:extLst>
          </p:cNvPr>
          <p:cNvSpPr txBox="1"/>
          <p:nvPr/>
        </p:nvSpPr>
        <p:spPr>
          <a:xfrm>
            <a:off x="762000" y="49657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마지막 본 시각은 사용자별 저장</a:t>
            </a:r>
          </a:p>
        </p:txBody>
      </p:sp>
    </p:spTree>
    <p:extLst>
      <p:ext uri="{BB962C8B-B14F-4D97-AF65-F5344CB8AC3E}">
        <p14:creationId xmlns:p14="http://schemas.microsoft.com/office/powerpoint/2010/main" val="733426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F23EF1-ABA5-4528-83E4-DC1BD4136EC9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PERMISSIONS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0FC36-1EC3-4290-BD65-A7179ECC250A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4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개 기본 역할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E2B6DB3-3308-46A0-892A-FA305C1DA524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6F986-E003-48E6-9B44-DC6E7486D468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한 명당 하나의 역할만 부여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ADMIN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이 사용자 관리에서 지정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0E0871-5085-4F5A-B8A7-C6A067415517}"/>
              </a:ext>
            </a:extLst>
          </p:cNvPr>
          <p:cNvSpPr/>
          <p:nvPr/>
        </p:nvSpPr>
        <p:spPr>
          <a:xfrm>
            <a:off x="762000" y="2222500"/>
            <a:ext cx="76200" cy="889000"/>
          </a:xfrm>
          <a:prstGeom prst="rect">
            <a:avLst/>
          </a:prstGeom>
          <a:solidFill>
            <a:srgbClr val="E53E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856778-66B9-4806-9481-D137FBCBF7AD}"/>
              </a:ext>
            </a:extLst>
          </p:cNvPr>
          <p:cNvSpPr/>
          <p:nvPr/>
        </p:nvSpPr>
        <p:spPr>
          <a:xfrm>
            <a:off x="1016000" y="2222500"/>
            <a:ext cx="2032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FF6378-B833-4D82-8A41-22A1AB511FAE}"/>
              </a:ext>
            </a:extLst>
          </p:cNvPr>
          <p:cNvSpPr txBox="1"/>
          <p:nvPr/>
        </p:nvSpPr>
        <p:spPr>
          <a:xfrm>
            <a:off x="1016000" y="2400300"/>
            <a:ext cx="203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700" b="1">
                <a:solidFill>
                  <a:srgbClr val="E53E3E"/>
                </a:solidFill>
                <a:latin typeface="맑은 고딕"/>
                <a:ea typeface="맑은 고딕"/>
              </a:rPr>
              <a:t>ADMIN</a:t>
            </a:r>
            <a:endParaRPr lang="ko-KR" altLang="en-US" sz="1700" b="1">
              <a:solidFill>
                <a:srgbClr val="E53E3E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938D32-7A57-4360-9BFA-933B39C9529D}"/>
              </a:ext>
            </a:extLst>
          </p:cNvPr>
          <p:cNvSpPr txBox="1"/>
          <p:nvPr/>
        </p:nvSpPr>
        <p:spPr>
          <a:xfrm>
            <a:off x="1016000" y="27305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본사 관리자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85A212-5176-4593-B9B4-B19B5DD4DACE}"/>
              </a:ext>
            </a:extLst>
          </p:cNvPr>
          <p:cNvSpPr txBox="1"/>
          <p:nvPr/>
        </p:nvSpPr>
        <p:spPr>
          <a:xfrm>
            <a:off x="3302000" y="2501900"/>
            <a:ext cx="812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모든 기능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+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사용자 관리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+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사인 취소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FEA6E4-6F62-4034-A37B-9671C8AB03FE}"/>
              </a:ext>
            </a:extLst>
          </p:cNvPr>
          <p:cNvSpPr/>
          <p:nvPr/>
        </p:nvSpPr>
        <p:spPr>
          <a:xfrm>
            <a:off x="762000" y="3238500"/>
            <a:ext cx="76200" cy="889000"/>
          </a:xfrm>
          <a:prstGeom prst="rect">
            <a:avLst/>
          </a:prstGeom>
          <a:solidFill>
            <a:srgbClr val="667E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24FA3F-9381-4BDF-8C1A-BB2F3A1B4B0D}"/>
              </a:ext>
            </a:extLst>
          </p:cNvPr>
          <p:cNvSpPr/>
          <p:nvPr/>
        </p:nvSpPr>
        <p:spPr>
          <a:xfrm>
            <a:off x="1016000" y="3238500"/>
            <a:ext cx="2032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77118-D683-436A-B5A9-305D26EC3EBC}"/>
              </a:ext>
            </a:extLst>
          </p:cNvPr>
          <p:cNvSpPr txBox="1"/>
          <p:nvPr/>
        </p:nvSpPr>
        <p:spPr>
          <a:xfrm>
            <a:off x="1016000" y="3416300"/>
            <a:ext cx="203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700" b="1">
                <a:solidFill>
                  <a:srgbClr val="667EEA"/>
                </a:solidFill>
                <a:latin typeface="맑은 고딕"/>
                <a:ea typeface="맑은 고딕"/>
              </a:rPr>
              <a:t>PM</a:t>
            </a:r>
            <a:endParaRPr lang="ko-KR" altLang="en-US" sz="1700" b="1">
              <a:solidFill>
                <a:srgbClr val="667EEA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ECA4BB-B732-4EBA-80DA-BB9F426066BE}"/>
              </a:ext>
            </a:extLst>
          </p:cNvPr>
          <p:cNvSpPr txBox="1"/>
          <p:nvPr/>
        </p:nvSpPr>
        <p:spPr>
          <a:xfrm>
            <a:off x="1016000" y="37465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현장 </a:t>
            </a:r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PM</a:t>
            </a:r>
            <a:endParaRPr lang="ko-KR" altLang="en-US" sz="1200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C920EF-A758-4430-A6EC-DF2C237BB95A}"/>
              </a:ext>
            </a:extLst>
          </p:cNvPr>
          <p:cNvSpPr txBox="1"/>
          <p:nvPr/>
        </p:nvSpPr>
        <p:spPr>
          <a:xfrm>
            <a:off x="3302000" y="3517900"/>
            <a:ext cx="812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프로젝트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/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이슈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/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자재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/AS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전반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담당자 변경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3091680-65F5-4DCE-8424-79B75D2C28DB}"/>
              </a:ext>
            </a:extLst>
          </p:cNvPr>
          <p:cNvSpPr/>
          <p:nvPr/>
        </p:nvSpPr>
        <p:spPr>
          <a:xfrm>
            <a:off x="762000" y="4254500"/>
            <a:ext cx="76200" cy="889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FE72795-D35D-4E14-AC42-E13F1EEA6847}"/>
              </a:ext>
            </a:extLst>
          </p:cNvPr>
          <p:cNvSpPr/>
          <p:nvPr/>
        </p:nvSpPr>
        <p:spPr>
          <a:xfrm>
            <a:off x="1016000" y="4254500"/>
            <a:ext cx="2032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7C966C-D01F-4F24-B345-E330AE4FE3F7}"/>
              </a:ext>
            </a:extLst>
          </p:cNvPr>
          <p:cNvSpPr txBox="1"/>
          <p:nvPr/>
        </p:nvSpPr>
        <p:spPr>
          <a:xfrm>
            <a:off x="1016000" y="4432300"/>
            <a:ext cx="203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700" b="1">
                <a:solidFill>
                  <a:srgbClr val="00D4AA"/>
                </a:solidFill>
                <a:latin typeface="맑은 고딕"/>
                <a:ea typeface="맑은 고딕"/>
              </a:rPr>
              <a:t>ENGINEER</a:t>
            </a:r>
            <a:endParaRPr lang="ko-KR" altLang="en-US" sz="17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CADADC-086A-4DE0-B19A-B3E69C295F10}"/>
              </a:ext>
            </a:extLst>
          </p:cNvPr>
          <p:cNvSpPr txBox="1"/>
          <p:nvPr/>
        </p:nvSpPr>
        <p:spPr>
          <a:xfrm>
            <a:off x="1016000" y="47625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현장 엔지니어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F41EEE-6D10-48C8-A17E-8DD2A944C29B}"/>
              </a:ext>
            </a:extLst>
          </p:cNvPr>
          <p:cNvSpPr txBox="1"/>
          <p:nvPr/>
        </p:nvSpPr>
        <p:spPr>
          <a:xfrm>
            <a:off x="3302000" y="4533900"/>
            <a:ext cx="812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본인 배정 프로젝트의 진행 입력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1B902A9-AD40-4D18-8CC2-32B68AAB60EB}"/>
              </a:ext>
            </a:extLst>
          </p:cNvPr>
          <p:cNvSpPr/>
          <p:nvPr/>
        </p:nvSpPr>
        <p:spPr>
          <a:xfrm>
            <a:off x="762000" y="5270500"/>
            <a:ext cx="76200" cy="8890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DBF9A6A-CFCA-4ADF-A79D-35B7AAD8F18D}"/>
              </a:ext>
            </a:extLst>
          </p:cNvPr>
          <p:cNvSpPr/>
          <p:nvPr/>
        </p:nvSpPr>
        <p:spPr>
          <a:xfrm>
            <a:off x="1016000" y="5270500"/>
            <a:ext cx="2032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7E7B09-9969-450A-91FC-3E7853B1F1E3}"/>
              </a:ext>
            </a:extLst>
          </p:cNvPr>
          <p:cNvSpPr txBox="1"/>
          <p:nvPr/>
        </p:nvSpPr>
        <p:spPr>
          <a:xfrm>
            <a:off x="1016000" y="5448300"/>
            <a:ext cx="203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700" b="1">
                <a:solidFill>
                  <a:srgbClr val="F6AD55"/>
                </a:solidFill>
                <a:latin typeface="맑은 고딕"/>
                <a:ea typeface="맑은 고딕"/>
              </a:rPr>
              <a:t>CUSTOMER</a:t>
            </a:r>
            <a:endParaRPr lang="ko-KR" altLang="en-US" sz="1700" b="1">
              <a:solidFill>
                <a:srgbClr val="F6AD55"/>
              </a:solidFill>
              <a:latin typeface="맑은 고딕"/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7248DA-7A74-47DF-A7C7-4999AA62AD37}"/>
              </a:ext>
            </a:extLst>
          </p:cNvPr>
          <p:cNvSpPr txBox="1"/>
          <p:nvPr/>
        </p:nvSpPr>
        <p:spPr>
          <a:xfrm>
            <a:off x="1016000" y="57785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고객사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29E154-762C-4ABB-A1B2-BDE8F8B55424}"/>
              </a:ext>
            </a:extLst>
          </p:cNvPr>
          <p:cNvSpPr txBox="1"/>
          <p:nvPr/>
        </p:nvSpPr>
        <p:spPr>
          <a:xfrm>
            <a:off x="3302000" y="5549900"/>
            <a:ext cx="812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자기 회사 프로젝트 조회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+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요청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+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검수 서명</a:t>
            </a:r>
          </a:p>
        </p:txBody>
      </p:sp>
    </p:spTree>
    <p:extLst>
      <p:ext uri="{BB962C8B-B14F-4D97-AF65-F5344CB8AC3E}">
        <p14:creationId xmlns:p14="http://schemas.microsoft.com/office/powerpoint/2010/main" val="3464415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5DDAC0-25F2-46A8-BDB4-BC4B76ED6E9A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PERMISSIONS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C77E81-53A5-481A-9E90-48848DB12CE1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부가 권한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팀장  ★ 신규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376FDA6-BB89-4EF4-BD3D-51D7D682A7AC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02D7E3-C589-40F7-A9F1-7BA1437792AB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기본 역할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(PM/ENGINEER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등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)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과 별도로 부여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사용자 관리에서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팀장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컬럼 토글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CFD94C-363A-46A7-AF48-B4D395BCCA0B}"/>
              </a:ext>
            </a:extLst>
          </p:cNvPr>
          <p:cNvSpPr/>
          <p:nvPr/>
        </p:nvSpPr>
        <p:spPr>
          <a:xfrm>
            <a:off x="762000" y="2222500"/>
            <a:ext cx="10668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3AF2A42-98FF-43F3-B8DF-F40A96F4DDB7}"/>
              </a:ext>
            </a:extLst>
          </p:cNvPr>
          <p:cNvSpPr/>
          <p:nvPr/>
        </p:nvSpPr>
        <p:spPr>
          <a:xfrm>
            <a:off x="762000" y="2222500"/>
            <a:ext cx="76200" cy="3556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738EFF-7A8B-4A62-8E72-300AFA437B98}"/>
              </a:ext>
            </a:extLst>
          </p:cNvPr>
          <p:cNvSpPr txBox="1"/>
          <p:nvPr/>
        </p:nvSpPr>
        <p:spPr>
          <a:xfrm>
            <a:off x="1143000" y="24765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00D4AA"/>
                </a:solidFill>
                <a:latin typeface="맑은 고딕"/>
                <a:ea typeface="맑은 고딕"/>
              </a:rPr>
              <a:t>팀장이 할 수 있는 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39FF4D-4C0B-47C3-BFDE-158B6FB15E72}"/>
              </a:ext>
            </a:extLst>
          </p:cNvPr>
          <p:cNvSpPr txBox="1"/>
          <p:nvPr/>
        </p:nvSpPr>
        <p:spPr>
          <a:xfrm>
            <a:off x="1270000" y="2984500"/>
            <a:ext cx="990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같은 부서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(dept) 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부서원의 주간 보고 검토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승인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반려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3048CA-2AEE-44B7-8DD4-6CC736E831C9}"/>
              </a:ext>
            </a:extLst>
          </p:cNvPr>
          <p:cNvSpPr txBox="1"/>
          <p:nvPr/>
        </p:nvSpPr>
        <p:spPr>
          <a:xfrm>
            <a:off x="1270000" y="3467100"/>
            <a:ext cx="990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팀 종합 보고서 자동 작성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부서원 보고를 사람별로 통합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351F84-5E67-4648-9BF4-53EDB9BF7C46}"/>
              </a:ext>
            </a:extLst>
          </p:cNvPr>
          <p:cNvSpPr txBox="1"/>
          <p:nvPr/>
        </p:nvSpPr>
        <p:spPr>
          <a:xfrm>
            <a:off x="1270000" y="3949700"/>
            <a:ext cx="990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·  ADMIN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은 전사 자동 권한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별도 토글 불필요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16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899E711-41CA-4A7E-8009-C1AC4EE6CF45}"/>
              </a:ext>
            </a:extLst>
          </p:cNvPr>
          <p:cNvSpPr/>
          <p:nvPr/>
        </p:nvSpPr>
        <p:spPr>
          <a:xfrm>
            <a:off x="1143000" y="4635500"/>
            <a:ext cx="9906000" cy="889000"/>
          </a:xfrm>
          <a:prstGeom prst="rect">
            <a:avLst/>
          </a:prstGeom>
          <a:solidFill>
            <a:srgbClr val="1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9665AB-FD3F-4963-8F5F-33AD2AB0EB9F}"/>
              </a:ext>
            </a:extLst>
          </p:cNvPr>
          <p:cNvSpPr txBox="1"/>
          <p:nvPr/>
        </p:nvSpPr>
        <p:spPr>
          <a:xfrm>
            <a:off x="1397000" y="4826000"/>
            <a:ext cx="939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F6AD55"/>
                </a:solidFill>
                <a:latin typeface="맑은 고딕"/>
                <a:ea typeface="맑은 고딕"/>
              </a:rPr>
              <a:t>💡  </a:t>
            </a:r>
            <a:r>
              <a:rPr lang="en-US" altLang="ko-KR" sz="1500" b="1">
                <a:solidFill>
                  <a:srgbClr val="F6AD55"/>
                </a:solidFill>
                <a:latin typeface="맑은 고딕"/>
                <a:ea typeface="맑은 고딕"/>
              </a:rPr>
              <a:t>PM = </a:t>
            </a:r>
            <a:r>
              <a:rPr lang="ko-KR" altLang="en-US" sz="1500" b="1">
                <a:solidFill>
                  <a:srgbClr val="F6AD55"/>
                </a:solidFill>
                <a:latin typeface="맑은 고딕"/>
                <a:ea typeface="맑은 고딕"/>
              </a:rPr>
              <a:t>프로젝트 책임자  </a:t>
            </a:r>
            <a:r>
              <a:rPr lang="en-US" altLang="ko-KR" sz="1500" b="1">
                <a:solidFill>
                  <a:srgbClr val="F6AD5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500" b="1">
                <a:solidFill>
                  <a:srgbClr val="F6AD55"/>
                </a:solidFill>
                <a:latin typeface="맑은 고딕"/>
                <a:ea typeface="맑은 고딕"/>
              </a:rPr>
              <a:t>팀장 </a:t>
            </a:r>
            <a:r>
              <a:rPr lang="en-US" altLang="ko-KR" sz="1500" b="1">
                <a:solidFill>
                  <a:srgbClr val="F6AD55"/>
                </a:solidFill>
                <a:latin typeface="맑은 고딕"/>
                <a:ea typeface="맑은 고딕"/>
              </a:rPr>
              <a:t>= </a:t>
            </a:r>
            <a:r>
              <a:rPr lang="ko-KR" altLang="en-US" sz="1500" b="1">
                <a:solidFill>
                  <a:srgbClr val="F6AD55"/>
                </a:solidFill>
                <a:latin typeface="맑은 고딕"/>
                <a:ea typeface="맑은 고딕"/>
              </a:rPr>
              <a:t>부서장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BD49BC-1FA5-4734-ADFB-196DA73A4EF0}"/>
              </a:ext>
            </a:extLst>
          </p:cNvPr>
          <p:cNvSpPr txBox="1"/>
          <p:nvPr/>
        </p:nvSpPr>
        <p:spPr>
          <a:xfrm>
            <a:off x="1397000" y="5143500"/>
            <a:ext cx="939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같은 사람이 둘 다일 수도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,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분리될 수도 있다</a:t>
            </a:r>
          </a:p>
        </p:txBody>
      </p:sp>
    </p:spTree>
    <p:extLst>
      <p:ext uri="{BB962C8B-B14F-4D97-AF65-F5344CB8AC3E}">
        <p14:creationId xmlns:p14="http://schemas.microsoft.com/office/powerpoint/2010/main" val="3039465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291AED-D47A-466A-A693-131D072B2C77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PERMISSIONS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28C65-4260-4C0F-B949-FD96B0455D3D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권한 한눈에 보기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자주 쓰는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7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가지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00946B-E35D-42C7-927E-513477C6A9D8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68D2E-BB8F-465C-8849-562596CFBE7E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전체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32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행 표는 가이드 모달  →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권한별 기능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BC96BD-477E-4316-855E-922782B221BB}"/>
              </a:ext>
            </a:extLst>
          </p:cNvPr>
          <p:cNvSpPr/>
          <p:nvPr/>
        </p:nvSpPr>
        <p:spPr>
          <a:xfrm>
            <a:off x="762000" y="2222500"/>
            <a:ext cx="10668000" cy="4572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AB679-3765-444D-AFEB-EB1708B86FD9}"/>
              </a:ext>
            </a:extLst>
          </p:cNvPr>
          <p:cNvSpPr txBox="1"/>
          <p:nvPr/>
        </p:nvSpPr>
        <p:spPr>
          <a:xfrm>
            <a:off x="1016000" y="23114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기능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003A5-A6A5-4239-B097-38ABF9ADC3A7}"/>
              </a:ext>
            </a:extLst>
          </p:cNvPr>
          <p:cNvSpPr txBox="1"/>
          <p:nvPr/>
        </p:nvSpPr>
        <p:spPr>
          <a:xfrm>
            <a:off x="6096000" y="2311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권한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DF58D0-603B-49FF-BA13-B45FBF41DA6C}"/>
              </a:ext>
            </a:extLst>
          </p:cNvPr>
          <p:cNvSpPr/>
          <p:nvPr/>
        </p:nvSpPr>
        <p:spPr>
          <a:xfrm>
            <a:off x="762000" y="2679700"/>
            <a:ext cx="10668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62BDE9-AC92-4EA9-91E9-55A548131267}"/>
              </a:ext>
            </a:extLst>
          </p:cNvPr>
          <p:cNvSpPr txBox="1"/>
          <p:nvPr/>
        </p:nvSpPr>
        <p:spPr>
          <a:xfrm>
            <a:off x="1016000" y="27686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프로젝트 생성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EA2A89-CC50-4D82-A2A2-141A059F9D81}"/>
              </a:ext>
            </a:extLst>
          </p:cNvPr>
          <p:cNvSpPr txBox="1"/>
          <p:nvPr/>
        </p:nvSpPr>
        <p:spPr>
          <a:xfrm>
            <a:off x="6096000" y="2768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ADMIN  ·  PM</a:t>
            </a:r>
            <a:endParaRPr lang="ko-KR" altLang="en-US" sz="1400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A3EA76E-2B37-4866-9165-032C11220800}"/>
              </a:ext>
            </a:extLst>
          </p:cNvPr>
          <p:cNvSpPr/>
          <p:nvPr/>
        </p:nvSpPr>
        <p:spPr>
          <a:xfrm>
            <a:off x="762000" y="3136900"/>
            <a:ext cx="10668000" cy="457200"/>
          </a:xfrm>
          <a:prstGeom prst="rect">
            <a:avLst/>
          </a:prstGeom>
          <a:solidFill>
            <a:srgbClr val="1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E2F970-6549-453A-93F0-2A56E4D63EAF}"/>
              </a:ext>
            </a:extLst>
          </p:cNvPr>
          <p:cNvSpPr txBox="1"/>
          <p:nvPr/>
        </p:nvSpPr>
        <p:spPr>
          <a:xfrm>
            <a:off x="1016000" y="32258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검수 사인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573AD5-51F4-4DA8-B64E-DED3531D51D2}"/>
              </a:ext>
            </a:extLst>
          </p:cNvPr>
          <p:cNvSpPr txBox="1"/>
          <p:nvPr/>
        </p:nvSpPr>
        <p:spPr>
          <a:xfrm>
            <a:off x="6096000" y="32258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CUSTOMER  (ADMIN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대리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)</a:t>
            </a:r>
            <a:endParaRPr lang="ko-KR" altLang="en-US" sz="1400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BF9439-6EAA-45C8-9D0A-239343B5C6A9}"/>
              </a:ext>
            </a:extLst>
          </p:cNvPr>
          <p:cNvSpPr/>
          <p:nvPr/>
        </p:nvSpPr>
        <p:spPr>
          <a:xfrm>
            <a:off x="762000" y="3594100"/>
            <a:ext cx="10668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C97FF5-26C3-4F61-B0E5-0E0946F0A9D5}"/>
              </a:ext>
            </a:extLst>
          </p:cNvPr>
          <p:cNvSpPr txBox="1"/>
          <p:nvPr/>
        </p:nvSpPr>
        <p:spPr>
          <a:xfrm>
            <a:off x="1016000" y="36830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사인 취소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Buy-off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후 수정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0AF718-7A2E-402D-AA6F-9FCD1EE746C2}"/>
              </a:ext>
            </a:extLst>
          </p:cNvPr>
          <p:cNvSpPr txBox="1"/>
          <p:nvPr/>
        </p:nvSpPr>
        <p:spPr>
          <a:xfrm>
            <a:off x="6096000" y="3683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ADMIN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단독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D67218D-67DF-4BF6-B6F7-877306729027}"/>
              </a:ext>
            </a:extLst>
          </p:cNvPr>
          <p:cNvSpPr/>
          <p:nvPr/>
        </p:nvSpPr>
        <p:spPr>
          <a:xfrm>
            <a:off x="762000" y="4051300"/>
            <a:ext cx="10668000" cy="457200"/>
          </a:xfrm>
          <a:prstGeom prst="rect">
            <a:avLst/>
          </a:prstGeom>
          <a:solidFill>
            <a:srgbClr val="1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0F5EFA-2A94-4908-B719-2C7BB0E14E6C}"/>
              </a:ext>
            </a:extLst>
          </p:cNvPr>
          <p:cNvSpPr txBox="1"/>
          <p:nvPr/>
        </p:nvSpPr>
        <p:spPr>
          <a:xfrm>
            <a:off x="1016000" y="41402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도메인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산업군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)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수정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3660CE-54B0-4A87-B56E-331632153B8B}"/>
              </a:ext>
            </a:extLst>
          </p:cNvPr>
          <p:cNvSpPr txBox="1"/>
          <p:nvPr/>
        </p:nvSpPr>
        <p:spPr>
          <a:xfrm>
            <a:off x="6096000" y="4140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ADMIN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단독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B9287D4-234F-4518-A1C1-FA71690EE947}"/>
              </a:ext>
            </a:extLst>
          </p:cNvPr>
          <p:cNvSpPr/>
          <p:nvPr/>
        </p:nvSpPr>
        <p:spPr>
          <a:xfrm>
            <a:off x="762000" y="4508500"/>
            <a:ext cx="10668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E988FD-0409-40FA-9A03-18A0E5D75C6C}"/>
              </a:ext>
            </a:extLst>
          </p:cNvPr>
          <p:cNvSpPr txBox="1"/>
          <p:nvPr/>
        </p:nvSpPr>
        <p:spPr>
          <a:xfrm>
            <a:off x="1016000" y="45974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주간 보고 검토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BD1FBE-30FF-4B7A-8E35-AA6FAC609D9C}"/>
              </a:ext>
            </a:extLst>
          </p:cNvPr>
          <p:cNvSpPr txBox="1"/>
          <p:nvPr/>
        </p:nvSpPr>
        <p:spPr>
          <a:xfrm>
            <a:off x="6096000" y="4597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팀장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(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같은 부서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)  ·  ADMIN(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전사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)</a:t>
            </a:r>
            <a:endParaRPr lang="ko-KR" altLang="en-US" sz="1400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8191D78-AECB-4732-B55F-5591FE4DA7FE}"/>
              </a:ext>
            </a:extLst>
          </p:cNvPr>
          <p:cNvSpPr/>
          <p:nvPr/>
        </p:nvSpPr>
        <p:spPr>
          <a:xfrm>
            <a:off x="762000" y="4965700"/>
            <a:ext cx="10668000" cy="457200"/>
          </a:xfrm>
          <a:prstGeom prst="rect">
            <a:avLst/>
          </a:prstGeom>
          <a:solidFill>
            <a:srgbClr val="1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F9529A-7AB3-43ED-B489-E0CD41DB3706}"/>
              </a:ext>
            </a:extLst>
          </p:cNvPr>
          <p:cNvSpPr txBox="1"/>
          <p:nvPr/>
        </p:nvSpPr>
        <p:spPr>
          <a:xfrm>
            <a:off x="1016000" y="50546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자재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스페어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/ AS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등록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ABF130-7A5F-4266-AB84-8DE50283248A}"/>
              </a:ext>
            </a:extLst>
          </p:cNvPr>
          <p:cNvSpPr txBox="1"/>
          <p:nvPr/>
        </p:nvSpPr>
        <p:spPr>
          <a:xfrm>
            <a:off x="6096000" y="5054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ADMIN  ·  PM  ·  ENGINEER</a:t>
            </a:r>
            <a:endParaRPr lang="ko-KR" altLang="en-US" sz="1400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E59802A-456F-48D4-91C3-13E7A8A997D1}"/>
              </a:ext>
            </a:extLst>
          </p:cNvPr>
          <p:cNvSpPr/>
          <p:nvPr/>
        </p:nvSpPr>
        <p:spPr>
          <a:xfrm>
            <a:off x="762000" y="5422900"/>
            <a:ext cx="10668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E2208B-EF1D-456B-94EB-83FC5A6A3653}"/>
              </a:ext>
            </a:extLst>
          </p:cNvPr>
          <p:cNvSpPr txBox="1"/>
          <p:nvPr/>
        </p:nvSpPr>
        <p:spPr>
          <a:xfrm>
            <a:off x="1016000" y="55118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시스템 설정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사용자 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5AB6B3-D991-4F94-81B3-0243B1E189E9}"/>
              </a:ext>
            </a:extLst>
          </p:cNvPr>
          <p:cNvSpPr txBox="1"/>
          <p:nvPr/>
        </p:nvSpPr>
        <p:spPr>
          <a:xfrm>
            <a:off x="6096000" y="55118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ADMIN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단독</a:t>
            </a:r>
          </a:p>
        </p:txBody>
      </p:sp>
    </p:spTree>
    <p:extLst>
      <p:ext uri="{BB962C8B-B14F-4D97-AF65-F5344CB8AC3E}">
        <p14:creationId xmlns:p14="http://schemas.microsoft.com/office/powerpoint/2010/main" val="1438323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238126-AE28-417D-8481-F84D762247FD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DASHBOARD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67CB2-6CCD-4084-9247-7763EA7BC9C6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대시보드 한눈에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281E99-541F-45DD-BDF5-B8ECDB8AC5A5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7B660F-2468-4B09-8E78-765FE9318471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카드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5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개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위젯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1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개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간트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1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개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총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7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개 영역만 기억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059C19-3DAD-4A19-BD3D-24BBA79AE2A4}"/>
              </a:ext>
            </a:extLst>
          </p:cNvPr>
          <p:cNvSpPr/>
          <p:nvPr/>
        </p:nvSpPr>
        <p:spPr>
          <a:xfrm>
            <a:off x="762000" y="2222500"/>
            <a:ext cx="1981200" cy="762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D73250-9441-432D-ACDD-69C56DA87BD7}"/>
              </a:ext>
            </a:extLst>
          </p:cNvPr>
          <p:cNvSpPr/>
          <p:nvPr/>
        </p:nvSpPr>
        <p:spPr>
          <a:xfrm>
            <a:off x="762000" y="2222500"/>
            <a:ext cx="1981200" cy="508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BF50C-E71E-4D6A-85A7-256B0B710882}"/>
              </a:ext>
            </a:extLst>
          </p:cNvPr>
          <p:cNvSpPr txBox="1"/>
          <p:nvPr/>
        </p:nvSpPr>
        <p:spPr>
          <a:xfrm>
            <a:off x="762000" y="2501900"/>
            <a:ext cx="198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F0F0F0"/>
                </a:solidFill>
                <a:latin typeface="맑은 고딕"/>
                <a:ea typeface="맑은 고딕"/>
              </a:rPr>
              <a:t>KPI 1</a:t>
            </a:r>
            <a:endParaRPr lang="ko-KR" altLang="en-US" sz="1400" b="1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9F5D50-94EB-4EA1-A203-B6087D3BF348}"/>
              </a:ext>
            </a:extLst>
          </p:cNvPr>
          <p:cNvSpPr/>
          <p:nvPr/>
        </p:nvSpPr>
        <p:spPr>
          <a:xfrm>
            <a:off x="2870200" y="2222500"/>
            <a:ext cx="1981200" cy="762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9E443B-17AC-43F0-8E47-34761711695B}"/>
              </a:ext>
            </a:extLst>
          </p:cNvPr>
          <p:cNvSpPr/>
          <p:nvPr/>
        </p:nvSpPr>
        <p:spPr>
          <a:xfrm>
            <a:off x="2870200" y="2222500"/>
            <a:ext cx="1981200" cy="50800"/>
          </a:xfrm>
          <a:prstGeom prst="rect">
            <a:avLst/>
          </a:prstGeom>
          <a:solidFill>
            <a:srgbClr val="E53E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9D2E18-9EE9-487C-9668-E075CD6C06FC}"/>
              </a:ext>
            </a:extLst>
          </p:cNvPr>
          <p:cNvSpPr txBox="1"/>
          <p:nvPr/>
        </p:nvSpPr>
        <p:spPr>
          <a:xfrm>
            <a:off x="2870200" y="2501900"/>
            <a:ext cx="198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F0F0F0"/>
                </a:solidFill>
                <a:latin typeface="맑은 고딕"/>
                <a:ea typeface="맑은 고딕"/>
              </a:rPr>
              <a:t>KPI 2</a:t>
            </a:r>
            <a:endParaRPr lang="ko-KR" altLang="en-US" sz="1400" b="1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33A88D3-57E3-45A7-84A6-A6CC087DE997}"/>
              </a:ext>
            </a:extLst>
          </p:cNvPr>
          <p:cNvSpPr/>
          <p:nvPr/>
        </p:nvSpPr>
        <p:spPr>
          <a:xfrm>
            <a:off x="4978400" y="2222500"/>
            <a:ext cx="1981200" cy="762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368D06C-7251-4579-9B7D-8BC6528A8A90}"/>
              </a:ext>
            </a:extLst>
          </p:cNvPr>
          <p:cNvSpPr/>
          <p:nvPr/>
        </p:nvSpPr>
        <p:spPr>
          <a:xfrm>
            <a:off x="4978400" y="2222500"/>
            <a:ext cx="1981200" cy="508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4641D7-601B-412A-89F4-9255138A8D7E}"/>
              </a:ext>
            </a:extLst>
          </p:cNvPr>
          <p:cNvSpPr txBox="1"/>
          <p:nvPr/>
        </p:nvSpPr>
        <p:spPr>
          <a:xfrm>
            <a:off x="4978400" y="2501900"/>
            <a:ext cx="198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F0F0F0"/>
                </a:solidFill>
                <a:latin typeface="맑은 고딕"/>
                <a:ea typeface="맑은 고딕"/>
              </a:rPr>
              <a:t>KPI 3</a:t>
            </a:r>
            <a:endParaRPr lang="ko-KR" altLang="en-US" sz="1400" b="1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F00B13-7E50-40BF-B1BD-26E185556C6A}"/>
              </a:ext>
            </a:extLst>
          </p:cNvPr>
          <p:cNvSpPr/>
          <p:nvPr/>
        </p:nvSpPr>
        <p:spPr>
          <a:xfrm>
            <a:off x="7086600" y="2222500"/>
            <a:ext cx="1981200" cy="762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BBDF6BF-A1A4-4865-9E57-650E9F3ECA22}"/>
              </a:ext>
            </a:extLst>
          </p:cNvPr>
          <p:cNvSpPr/>
          <p:nvPr/>
        </p:nvSpPr>
        <p:spPr>
          <a:xfrm>
            <a:off x="7086600" y="2222500"/>
            <a:ext cx="1981200" cy="50800"/>
          </a:xfrm>
          <a:prstGeom prst="rect">
            <a:avLst/>
          </a:prstGeom>
          <a:solidFill>
            <a:srgbClr val="63B3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9FBFD3-5BC1-4C95-81AE-B34520AEB63A}"/>
              </a:ext>
            </a:extLst>
          </p:cNvPr>
          <p:cNvSpPr txBox="1"/>
          <p:nvPr/>
        </p:nvSpPr>
        <p:spPr>
          <a:xfrm>
            <a:off x="7086600" y="2501900"/>
            <a:ext cx="198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F0F0F0"/>
                </a:solidFill>
                <a:latin typeface="맑은 고딕"/>
                <a:ea typeface="맑은 고딕"/>
              </a:rPr>
              <a:t>KPI 4</a:t>
            </a:r>
            <a:endParaRPr lang="ko-KR" altLang="en-US" sz="1400" b="1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1309321-0FC7-4BFA-9D1D-6B6FDE57777E}"/>
              </a:ext>
            </a:extLst>
          </p:cNvPr>
          <p:cNvSpPr/>
          <p:nvPr/>
        </p:nvSpPr>
        <p:spPr>
          <a:xfrm>
            <a:off x="9194800" y="2222500"/>
            <a:ext cx="1981200" cy="762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904C00E-E5EF-496E-87BE-5E63F3E89CBC}"/>
              </a:ext>
            </a:extLst>
          </p:cNvPr>
          <p:cNvSpPr/>
          <p:nvPr/>
        </p:nvSpPr>
        <p:spPr>
          <a:xfrm>
            <a:off x="9194800" y="2222500"/>
            <a:ext cx="1981200" cy="50800"/>
          </a:xfrm>
          <a:prstGeom prst="rect">
            <a:avLst/>
          </a:prstGeom>
          <a:solidFill>
            <a:srgbClr val="38A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AB4B94-5CDD-45E3-B2F5-F123EB9B99FC}"/>
              </a:ext>
            </a:extLst>
          </p:cNvPr>
          <p:cNvSpPr txBox="1"/>
          <p:nvPr/>
        </p:nvSpPr>
        <p:spPr>
          <a:xfrm>
            <a:off x="9194800" y="2501900"/>
            <a:ext cx="198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F0F0F0"/>
                </a:solidFill>
                <a:latin typeface="맑은 고딕"/>
                <a:ea typeface="맑은 고딕"/>
              </a:rPr>
              <a:t>KPI 5</a:t>
            </a:r>
            <a:endParaRPr lang="ko-KR" altLang="en-US" sz="1400" b="1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43CAC13-F3C2-451C-97DC-96D651DB1932}"/>
              </a:ext>
            </a:extLst>
          </p:cNvPr>
          <p:cNvSpPr/>
          <p:nvPr/>
        </p:nvSpPr>
        <p:spPr>
          <a:xfrm>
            <a:off x="762000" y="3175000"/>
            <a:ext cx="6858000" cy="2921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02C330-A149-4B53-AA4D-CEDC7E8FDF6C}"/>
              </a:ext>
            </a:extLst>
          </p:cNvPr>
          <p:cNvSpPr txBox="1"/>
          <p:nvPr/>
        </p:nvSpPr>
        <p:spPr>
          <a:xfrm>
            <a:off x="1016000" y="44450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C8D6E5"/>
                </a:solidFill>
                <a:latin typeface="맑은 고딕"/>
                <a:ea typeface="맑은 고딕"/>
              </a:rPr>
              <a:t>전체 프로젝트 일정 </a:t>
            </a:r>
            <a:r>
              <a:rPr lang="en-US" altLang="ko-KR" sz="1300" b="1">
                <a:solidFill>
                  <a:srgbClr val="C8D6E5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b="1">
                <a:solidFill>
                  <a:srgbClr val="C8D6E5"/>
                </a:solidFill>
                <a:latin typeface="맑은 고딕"/>
                <a:ea typeface="맑은 고딕"/>
              </a:rPr>
              <a:t>간트</a:t>
            </a:r>
            <a:r>
              <a:rPr lang="en-US" altLang="ko-KR" sz="1300" b="1">
                <a:solidFill>
                  <a:srgbClr val="C8D6E5"/>
                </a:solidFill>
                <a:latin typeface="맑은 고딕"/>
                <a:ea typeface="맑은 고딕"/>
              </a:rPr>
              <a:t>)  +  </a:t>
            </a:r>
            <a:r>
              <a:rPr lang="ko-KR" altLang="en-US" sz="1300" b="1">
                <a:solidFill>
                  <a:srgbClr val="C8D6E5"/>
                </a:solidFill>
                <a:latin typeface="맑은 고딕"/>
                <a:ea typeface="맑은 고딕"/>
              </a:rPr>
              <a:t>인력 배치 사이드바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32819F0-B7D6-4060-BD7F-91B2B4406D55}"/>
              </a:ext>
            </a:extLst>
          </p:cNvPr>
          <p:cNvSpPr/>
          <p:nvPr/>
        </p:nvSpPr>
        <p:spPr>
          <a:xfrm>
            <a:off x="7747000" y="3175000"/>
            <a:ext cx="3683000" cy="1397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329E4E0-5350-4B6E-9751-DAF0A823E15B}"/>
              </a:ext>
            </a:extLst>
          </p:cNvPr>
          <p:cNvSpPr/>
          <p:nvPr/>
        </p:nvSpPr>
        <p:spPr>
          <a:xfrm>
            <a:off x="7747000" y="3175000"/>
            <a:ext cx="50800" cy="13970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1AFA0F-2A74-41E0-B652-F36A29F4E54B}"/>
              </a:ext>
            </a:extLst>
          </p:cNvPr>
          <p:cNvSpPr txBox="1"/>
          <p:nvPr/>
        </p:nvSpPr>
        <p:spPr>
          <a:xfrm>
            <a:off x="7937500" y="3683000"/>
            <a:ext cx="342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F0F0F0"/>
                </a:solidFill>
                <a:latin typeface="맑은 고딕"/>
                <a:ea typeface="맑은 고딕"/>
              </a:rPr>
              <a:t>이슈 위젯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E0D6E86-F50D-4DA5-8C23-2BFFB0FCEA61}"/>
              </a:ext>
            </a:extLst>
          </p:cNvPr>
          <p:cNvSpPr/>
          <p:nvPr/>
        </p:nvSpPr>
        <p:spPr>
          <a:xfrm>
            <a:off x="7747000" y="4699000"/>
            <a:ext cx="3683000" cy="1397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51A0FFD-6461-45EB-8F08-D22FB552A7A9}"/>
              </a:ext>
            </a:extLst>
          </p:cNvPr>
          <p:cNvSpPr/>
          <p:nvPr/>
        </p:nvSpPr>
        <p:spPr>
          <a:xfrm>
            <a:off x="7747000" y="4699000"/>
            <a:ext cx="50800" cy="1397000"/>
          </a:xfrm>
          <a:prstGeom prst="rect">
            <a:avLst/>
          </a:prstGeom>
          <a:solidFill>
            <a:srgbClr val="E53E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C2896D-E55F-41C8-AD8D-2312BF3A2E09}"/>
              </a:ext>
            </a:extLst>
          </p:cNvPr>
          <p:cNvSpPr txBox="1"/>
          <p:nvPr/>
        </p:nvSpPr>
        <p:spPr>
          <a:xfrm>
            <a:off x="7937500" y="5207000"/>
            <a:ext cx="342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F0F0F0"/>
                </a:solidFill>
                <a:latin typeface="맑은 고딕"/>
                <a:ea typeface="맑은 고딕"/>
              </a:rPr>
              <a:t>AS </a:t>
            </a:r>
            <a:r>
              <a:rPr lang="ko-KR" altLang="en-US" sz="1400" b="1">
                <a:solidFill>
                  <a:srgbClr val="F0F0F0"/>
                </a:solidFill>
                <a:latin typeface="맑은 고딕"/>
                <a:ea typeface="맑은 고딕"/>
              </a:rPr>
              <a:t>위젯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3EA9EC-60FD-4ABC-ADA4-5AC3D74F7A0D}"/>
              </a:ext>
            </a:extLst>
          </p:cNvPr>
          <p:cNvSpPr txBox="1"/>
          <p:nvPr/>
        </p:nvSpPr>
        <p:spPr>
          <a:xfrm>
            <a:off x="762000" y="62865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상단 </a:t>
            </a:r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KPI 5</a:t>
            </a:r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개  →  좌측 간트 </a:t>
            </a:r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+ </a:t>
            </a:r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인력  →  우측 이슈</a:t>
            </a:r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/AS </a:t>
            </a:r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위젯  →  하단 보조 지표</a:t>
            </a:r>
          </a:p>
        </p:txBody>
      </p:sp>
    </p:spTree>
    <p:extLst>
      <p:ext uri="{BB962C8B-B14F-4D97-AF65-F5344CB8AC3E}">
        <p14:creationId xmlns:p14="http://schemas.microsoft.com/office/powerpoint/2010/main" val="1711317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4DBD8A-1039-44BA-9009-BC7B2FF1C0EB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DASHBOARD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F7FA08-9182-4820-B003-C48C5E41EC19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KPI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카드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5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7E78C6-0DF2-4093-BA95-5D9AC6A994DA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BB6CE3-3418-4B3F-830E-CEBFEA780022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모두 클릭 가능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AS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는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KPI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에서 빠지고 우측 위젯에서 추적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BC508A-3124-42A2-8F76-868C841D1B11}"/>
              </a:ext>
            </a:extLst>
          </p:cNvPr>
          <p:cNvSpPr/>
          <p:nvPr/>
        </p:nvSpPr>
        <p:spPr>
          <a:xfrm>
            <a:off x="762000" y="2222500"/>
            <a:ext cx="711200" cy="7112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0109A-A612-4192-AE12-CF2594799004}"/>
              </a:ext>
            </a:extLst>
          </p:cNvPr>
          <p:cNvSpPr txBox="1"/>
          <p:nvPr/>
        </p:nvSpPr>
        <p:spPr>
          <a:xfrm>
            <a:off x="762000" y="2374900"/>
            <a:ext cx="711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1">
                <a:solidFill>
                  <a:srgbClr val="1A2A3A"/>
                </a:solidFill>
                <a:latin typeface="맑은 고딕"/>
                <a:ea typeface="맑은 고딕"/>
              </a:rPr>
              <a:t>1</a:t>
            </a:r>
            <a:endParaRPr lang="ko-KR" altLang="en-US" sz="24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D1449F-1F88-4D50-8B75-0389828F9864}"/>
              </a:ext>
            </a:extLst>
          </p:cNvPr>
          <p:cNvSpPr/>
          <p:nvPr/>
        </p:nvSpPr>
        <p:spPr>
          <a:xfrm>
            <a:off x="1651000" y="2222500"/>
            <a:ext cx="9779000" cy="711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9CB9F6-3725-4CCB-8BE4-A3975E22B382}"/>
              </a:ext>
            </a:extLst>
          </p:cNvPr>
          <p:cNvSpPr txBox="1"/>
          <p:nvPr/>
        </p:nvSpPr>
        <p:spPr>
          <a:xfrm>
            <a:off x="1905000" y="2324100"/>
            <a:ext cx="927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미해결 이슈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6F0478-9292-49EF-801B-EE1D155A880B}"/>
              </a:ext>
            </a:extLst>
          </p:cNvPr>
          <p:cNvSpPr txBox="1"/>
          <p:nvPr/>
        </p:nvSpPr>
        <p:spPr>
          <a:xfrm>
            <a:off x="1905000" y="2628900"/>
            <a:ext cx="927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심각도순 팝업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09BD2C9-9676-464B-B0B7-3D4B87342029}"/>
              </a:ext>
            </a:extLst>
          </p:cNvPr>
          <p:cNvSpPr/>
          <p:nvPr/>
        </p:nvSpPr>
        <p:spPr>
          <a:xfrm>
            <a:off x="762000" y="3048000"/>
            <a:ext cx="711200" cy="711200"/>
          </a:xfrm>
          <a:prstGeom prst="rect">
            <a:avLst/>
          </a:prstGeom>
          <a:solidFill>
            <a:srgbClr val="E53E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F0C93B-240C-436C-BB63-E15F1299B3B1}"/>
              </a:ext>
            </a:extLst>
          </p:cNvPr>
          <p:cNvSpPr txBox="1"/>
          <p:nvPr/>
        </p:nvSpPr>
        <p:spPr>
          <a:xfrm>
            <a:off x="762000" y="3200400"/>
            <a:ext cx="711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1">
                <a:solidFill>
                  <a:srgbClr val="1A2A3A"/>
                </a:solidFill>
                <a:latin typeface="맑은 고딕"/>
                <a:ea typeface="맑은 고딕"/>
              </a:rPr>
              <a:t>2</a:t>
            </a:r>
            <a:endParaRPr lang="ko-KR" altLang="en-US" sz="24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C80716-1550-414B-B13A-833C38810C76}"/>
              </a:ext>
            </a:extLst>
          </p:cNvPr>
          <p:cNvSpPr/>
          <p:nvPr/>
        </p:nvSpPr>
        <p:spPr>
          <a:xfrm>
            <a:off x="1651000" y="3048000"/>
            <a:ext cx="9779000" cy="711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3C342B-8E3E-418C-B4C1-DEF3D7E583F6}"/>
              </a:ext>
            </a:extLst>
          </p:cNvPr>
          <p:cNvSpPr txBox="1"/>
          <p:nvPr/>
        </p:nvSpPr>
        <p:spPr>
          <a:xfrm>
            <a:off x="1905000" y="3149600"/>
            <a:ext cx="927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지연 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위험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59CBDD-EBDA-44B0-88F4-7D106254C79A}"/>
              </a:ext>
            </a:extLst>
          </p:cNvPr>
          <p:cNvSpPr txBox="1"/>
          <p:nvPr/>
        </p:nvSpPr>
        <p:spPr>
          <a:xfrm>
            <a:off x="1905000" y="3454400"/>
            <a:ext cx="927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위험점수순 프로젝트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E829AAF-A5CD-44DE-8808-AEE82B892DDF}"/>
              </a:ext>
            </a:extLst>
          </p:cNvPr>
          <p:cNvSpPr/>
          <p:nvPr/>
        </p:nvSpPr>
        <p:spPr>
          <a:xfrm>
            <a:off x="762000" y="3873500"/>
            <a:ext cx="711200" cy="7112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4979AF-58FD-4F28-8C71-8AE68E365408}"/>
              </a:ext>
            </a:extLst>
          </p:cNvPr>
          <p:cNvSpPr txBox="1"/>
          <p:nvPr/>
        </p:nvSpPr>
        <p:spPr>
          <a:xfrm>
            <a:off x="762000" y="4025900"/>
            <a:ext cx="711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1">
                <a:solidFill>
                  <a:srgbClr val="1A2A3A"/>
                </a:solidFill>
                <a:latin typeface="맑은 고딕"/>
                <a:ea typeface="맑은 고딕"/>
              </a:rPr>
              <a:t>3</a:t>
            </a:r>
            <a:endParaRPr lang="ko-KR" altLang="en-US" sz="24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4E37F5E-8A03-4225-81F3-59BEC5CC61AB}"/>
              </a:ext>
            </a:extLst>
          </p:cNvPr>
          <p:cNvSpPr/>
          <p:nvPr/>
        </p:nvSpPr>
        <p:spPr>
          <a:xfrm>
            <a:off x="1651000" y="3873500"/>
            <a:ext cx="9779000" cy="711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9DC8D6-7595-4F1E-828A-6DF08A9E285D}"/>
              </a:ext>
            </a:extLst>
          </p:cNvPr>
          <p:cNvSpPr txBox="1"/>
          <p:nvPr/>
        </p:nvSpPr>
        <p:spPr>
          <a:xfrm>
            <a:off x="1905000" y="3975100"/>
            <a:ext cx="927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임박 마일스톤 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30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445D61-52CD-4705-BDD5-3E5F8AF719B8}"/>
              </a:ext>
            </a:extLst>
          </p:cNvPr>
          <p:cNvSpPr txBox="1"/>
          <p:nvPr/>
        </p:nvSpPr>
        <p:spPr>
          <a:xfrm>
            <a:off x="1905000" y="4279900"/>
            <a:ext cx="927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D-day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0DE2ADE-3FAD-40EB-9620-1734A0E21B53}"/>
              </a:ext>
            </a:extLst>
          </p:cNvPr>
          <p:cNvSpPr/>
          <p:nvPr/>
        </p:nvSpPr>
        <p:spPr>
          <a:xfrm>
            <a:off x="762000" y="4699000"/>
            <a:ext cx="711200" cy="711200"/>
          </a:xfrm>
          <a:prstGeom prst="rect">
            <a:avLst/>
          </a:prstGeom>
          <a:solidFill>
            <a:srgbClr val="63B3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5A03F6-DCFC-4E05-B9FE-EFCE4B5094BE}"/>
              </a:ext>
            </a:extLst>
          </p:cNvPr>
          <p:cNvSpPr txBox="1"/>
          <p:nvPr/>
        </p:nvSpPr>
        <p:spPr>
          <a:xfrm>
            <a:off x="762000" y="4851400"/>
            <a:ext cx="711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1">
                <a:solidFill>
                  <a:srgbClr val="1A2A3A"/>
                </a:solidFill>
                <a:latin typeface="맑은 고딕"/>
                <a:ea typeface="맑은 고딕"/>
              </a:rPr>
              <a:t>4</a:t>
            </a:r>
            <a:endParaRPr lang="ko-KR" altLang="en-US" sz="24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C3F7616-6E19-4FC4-8E6F-9AB87937EC1D}"/>
              </a:ext>
            </a:extLst>
          </p:cNvPr>
          <p:cNvSpPr/>
          <p:nvPr/>
        </p:nvSpPr>
        <p:spPr>
          <a:xfrm>
            <a:off x="1651000" y="4699000"/>
            <a:ext cx="9779000" cy="711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036821-F46A-4F92-9139-BDD5E7AF4F15}"/>
              </a:ext>
            </a:extLst>
          </p:cNvPr>
          <p:cNvSpPr txBox="1"/>
          <p:nvPr/>
        </p:nvSpPr>
        <p:spPr>
          <a:xfrm>
            <a:off x="1905000" y="4800600"/>
            <a:ext cx="927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고객 요청 미처리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89CCFD-8772-4ED8-B77A-127AEED21624}"/>
              </a:ext>
            </a:extLst>
          </p:cNvPr>
          <p:cNvSpPr txBox="1"/>
          <p:nvPr/>
        </p:nvSpPr>
        <p:spPr>
          <a:xfrm>
            <a:off x="1905000" y="5105400"/>
            <a:ext cx="927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긴급도순 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해당 프로젝트 점프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31DA721-C861-4742-9FC1-B1364CBB4481}"/>
              </a:ext>
            </a:extLst>
          </p:cNvPr>
          <p:cNvSpPr/>
          <p:nvPr/>
        </p:nvSpPr>
        <p:spPr>
          <a:xfrm>
            <a:off x="762000" y="5524500"/>
            <a:ext cx="711200" cy="711200"/>
          </a:xfrm>
          <a:prstGeom prst="rect">
            <a:avLst/>
          </a:prstGeom>
          <a:solidFill>
            <a:srgbClr val="38A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A830AC-AA98-4238-8BD2-117E5B0A6C86}"/>
              </a:ext>
            </a:extLst>
          </p:cNvPr>
          <p:cNvSpPr txBox="1"/>
          <p:nvPr/>
        </p:nvSpPr>
        <p:spPr>
          <a:xfrm>
            <a:off x="762000" y="5676900"/>
            <a:ext cx="711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1">
                <a:solidFill>
                  <a:srgbClr val="1A2A3A"/>
                </a:solidFill>
                <a:latin typeface="맑은 고딕"/>
                <a:ea typeface="맑은 고딕"/>
              </a:rPr>
              <a:t>5</a:t>
            </a:r>
            <a:endParaRPr lang="ko-KR" altLang="en-US" sz="24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6713005-2832-42F5-B7C2-EA397E9FEF5F}"/>
              </a:ext>
            </a:extLst>
          </p:cNvPr>
          <p:cNvSpPr/>
          <p:nvPr/>
        </p:nvSpPr>
        <p:spPr>
          <a:xfrm>
            <a:off x="1651000" y="5524500"/>
            <a:ext cx="9779000" cy="711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59F3F2-B488-4BE9-855A-C64592777D98}"/>
              </a:ext>
            </a:extLst>
          </p:cNvPr>
          <p:cNvSpPr txBox="1"/>
          <p:nvPr/>
        </p:nvSpPr>
        <p:spPr>
          <a:xfrm>
            <a:off x="1905000" y="5626100"/>
            <a:ext cx="927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평균 진척률 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진행중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1600" b="1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C8359A-3317-4501-8E5B-4EE2C9C28767}"/>
              </a:ext>
            </a:extLst>
          </p:cNvPr>
          <p:cNvSpPr txBox="1"/>
          <p:nvPr/>
        </p:nvSpPr>
        <p:spPr>
          <a:xfrm>
            <a:off x="1905000" y="5930900"/>
            <a:ext cx="927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delta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뱃지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+ 4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버킷 분포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+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계획 마커</a:t>
            </a:r>
          </a:p>
        </p:txBody>
      </p:sp>
    </p:spTree>
    <p:extLst>
      <p:ext uri="{BB962C8B-B14F-4D97-AF65-F5344CB8AC3E}">
        <p14:creationId xmlns:p14="http://schemas.microsoft.com/office/powerpoint/2010/main" val="2999936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283752-6D42-4AD0-8140-088FEC113E09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DASHBOARD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69381-643F-415D-B14F-40FFDE0C2158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우측 위젯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이슈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/ AS</a:t>
            </a:r>
            <a:endParaRPr lang="ko-KR" altLang="en-US" sz="3200" b="1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E099BA6-1097-48A1-80EE-6AE65873DAC2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C0C38-FDFF-4264-8614-F851D64D3CDE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AS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는 회사 입장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critical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지표  →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KPI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자리는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5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개로 한정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위젯에서 항상 보이게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FA9BF3-486A-4091-86A8-E66035849FE1}"/>
              </a:ext>
            </a:extLst>
          </p:cNvPr>
          <p:cNvSpPr/>
          <p:nvPr/>
        </p:nvSpPr>
        <p:spPr>
          <a:xfrm>
            <a:off x="762000" y="2222500"/>
            <a:ext cx="5080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CE9FB8-46C7-465D-A6BB-F6F52D1FE4F6}"/>
              </a:ext>
            </a:extLst>
          </p:cNvPr>
          <p:cNvSpPr/>
          <p:nvPr/>
        </p:nvSpPr>
        <p:spPr>
          <a:xfrm>
            <a:off x="762000" y="2222500"/>
            <a:ext cx="76200" cy="35560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AE2EC-BB73-4EBC-9B5E-E6D0DB6A67E0}"/>
              </a:ext>
            </a:extLst>
          </p:cNvPr>
          <p:cNvSpPr txBox="1"/>
          <p:nvPr/>
        </p:nvSpPr>
        <p:spPr>
          <a:xfrm>
            <a:off x="1016000" y="2476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F6AD55"/>
                </a:solidFill>
                <a:latin typeface="맑은 고딕"/>
                <a:ea typeface="맑은 고딕"/>
              </a:rPr>
              <a:t>상단  </a:t>
            </a:r>
            <a:r>
              <a:rPr lang="en-US" altLang="ko-KR" sz="1700" b="1">
                <a:solidFill>
                  <a:srgbClr val="F6AD55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700" b="1">
                <a:solidFill>
                  <a:srgbClr val="F6AD55"/>
                </a:solidFill>
                <a:latin typeface="맑은 고딕"/>
                <a:ea typeface="맑은 고딕"/>
              </a:rPr>
              <a:t>미해결 이슈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BC015-3598-4E79-B4ED-F11E927E559D}"/>
              </a:ext>
            </a:extLst>
          </p:cNvPr>
          <p:cNvSpPr txBox="1"/>
          <p:nvPr/>
        </p:nvSpPr>
        <p:spPr>
          <a:xfrm>
            <a:off x="1143000" y="30480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severity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가로 스택 막대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0E0ECC-11EF-46C6-BACD-2CC7D32B2EA8}"/>
              </a:ext>
            </a:extLst>
          </p:cNvPr>
          <p:cNvSpPr txBox="1"/>
          <p:nvPr/>
        </p:nvSpPr>
        <p:spPr>
          <a:xfrm>
            <a:off x="1143000" y="34544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최근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3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건 미리보기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2625B0-DB94-4DDF-9E24-7E05BCB87688}"/>
              </a:ext>
            </a:extLst>
          </p:cNvPr>
          <p:cNvSpPr txBox="1"/>
          <p:nvPr/>
        </p:nvSpPr>
        <p:spPr>
          <a:xfrm>
            <a:off x="1143000" y="38608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헤더 클릭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=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전체 팝업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8661CAE-C712-400A-BD52-7E2F251D1517}"/>
              </a:ext>
            </a:extLst>
          </p:cNvPr>
          <p:cNvSpPr/>
          <p:nvPr/>
        </p:nvSpPr>
        <p:spPr>
          <a:xfrm>
            <a:off x="6350000" y="2222500"/>
            <a:ext cx="5080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E6A07E1-1724-45FB-B5F9-371F08A186CD}"/>
              </a:ext>
            </a:extLst>
          </p:cNvPr>
          <p:cNvSpPr/>
          <p:nvPr/>
        </p:nvSpPr>
        <p:spPr>
          <a:xfrm>
            <a:off x="6350000" y="2222500"/>
            <a:ext cx="76200" cy="3556000"/>
          </a:xfrm>
          <a:prstGeom prst="rect">
            <a:avLst/>
          </a:prstGeom>
          <a:solidFill>
            <a:srgbClr val="E53E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72DE10-F892-40FD-AF0B-1D1560DBD48D}"/>
              </a:ext>
            </a:extLst>
          </p:cNvPr>
          <p:cNvSpPr txBox="1"/>
          <p:nvPr/>
        </p:nvSpPr>
        <p:spPr>
          <a:xfrm>
            <a:off x="6604000" y="2476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E53E3E"/>
                </a:solidFill>
                <a:latin typeface="맑은 고딕"/>
                <a:ea typeface="맑은 고딕"/>
              </a:rPr>
              <a:t>하단  </a:t>
            </a:r>
            <a:r>
              <a:rPr lang="en-US" altLang="ko-KR" sz="1700" b="1">
                <a:solidFill>
                  <a:srgbClr val="E53E3E"/>
                </a:solidFill>
                <a:latin typeface="맑은 고딕"/>
                <a:ea typeface="맑은 고딕"/>
              </a:rPr>
              <a:t>—  AS </a:t>
            </a:r>
            <a:r>
              <a:rPr lang="ko-KR" altLang="en-US" sz="1700" b="1">
                <a:solidFill>
                  <a:srgbClr val="E53E3E"/>
                </a:solidFill>
                <a:latin typeface="맑은 고딕"/>
                <a:ea typeface="맑은 고딕"/>
              </a:rPr>
              <a:t>미완료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1B7189-FA99-4E04-8595-52820A85813F}"/>
              </a:ext>
            </a:extLst>
          </p:cNvPr>
          <p:cNvSpPr txBox="1"/>
          <p:nvPr/>
        </p:nvSpPr>
        <p:spPr>
          <a:xfrm>
            <a:off x="6731000" y="30480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유형 막대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긴급출동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정기점검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부품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불량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보증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439952-8D17-4D43-BDCD-68AC5B922C97}"/>
              </a:ext>
            </a:extLst>
          </p:cNvPr>
          <p:cNvSpPr txBox="1"/>
          <p:nvPr/>
        </p:nvSpPr>
        <p:spPr>
          <a:xfrm>
            <a:off x="6731000" y="35052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최근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3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건 미리보기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EF0022-B7E8-44AE-9EBC-304E2B63E45D}"/>
              </a:ext>
            </a:extLst>
          </p:cNvPr>
          <p:cNvSpPr txBox="1"/>
          <p:nvPr/>
        </p:nvSpPr>
        <p:spPr>
          <a:xfrm>
            <a:off x="6731000" y="39624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헤더 클릭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=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긴급출동 우선 팝업</a:t>
            </a:r>
          </a:p>
        </p:txBody>
      </p:sp>
    </p:spTree>
    <p:extLst>
      <p:ext uri="{BB962C8B-B14F-4D97-AF65-F5344CB8AC3E}">
        <p14:creationId xmlns:p14="http://schemas.microsoft.com/office/powerpoint/2010/main" val="3717695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26D7D3-7D06-4F3E-817A-90B6ED13C73C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DASHBOARD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A17831-7379-4BDD-B306-B17B6814487E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분석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회의록 모달 분리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434396-B593-4954-A55D-22A8FE68D0A6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3F8E68-A4DC-4E07-A6D8-B76803CFD209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헤더 버튼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고급 분석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회의록 분리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  —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이전엔 한 모달에 섞여 있었음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7E8CF7C-61D9-4B76-8176-17AE6CAA2F59}"/>
              </a:ext>
            </a:extLst>
          </p:cNvPr>
          <p:cNvSpPr/>
          <p:nvPr/>
        </p:nvSpPr>
        <p:spPr>
          <a:xfrm>
            <a:off x="762000" y="2222500"/>
            <a:ext cx="5080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ADF208-2C9F-493E-8E91-F6E77F5EE29F}"/>
              </a:ext>
            </a:extLst>
          </p:cNvPr>
          <p:cNvSpPr txBox="1"/>
          <p:nvPr/>
        </p:nvSpPr>
        <p:spPr>
          <a:xfrm>
            <a:off x="1016000" y="2476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667EEA"/>
                </a:solidFill>
                <a:latin typeface="맑은 고딕"/>
                <a:ea typeface="맑은 고딕"/>
              </a:rPr>
              <a:t>고급 분석 모달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1E82C-2272-4B92-85B3-D733BF7A92F9}"/>
              </a:ext>
            </a:extLst>
          </p:cNvPr>
          <p:cNvSpPr txBox="1"/>
          <p:nvPr/>
        </p:nvSpPr>
        <p:spPr>
          <a:xfrm>
            <a:off x="1143000" y="30480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KPI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시계열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B7493A-4421-4E51-A568-45676AC20EE5}"/>
              </a:ext>
            </a:extLst>
          </p:cNvPr>
          <p:cNvSpPr txBox="1"/>
          <p:nvPr/>
        </p:nvSpPr>
        <p:spPr>
          <a:xfrm>
            <a:off x="1143000" y="34544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도메인별 진척률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E1162-1F83-489B-A3BB-893089192949}"/>
              </a:ext>
            </a:extLst>
          </p:cNvPr>
          <p:cNvSpPr txBox="1"/>
          <p:nvPr/>
        </p:nvSpPr>
        <p:spPr>
          <a:xfrm>
            <a:off x="1143000" y="38608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지연 추이 등 보조 지표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82C2CE-E6F4-4BFA-A9B6-FE85FF225161}"/>
              </a:ext>
            </a:extLst>
          </p:cNvPr>
          <p:cNvSpPr/>
          <p:nvPr/>
        </p:nvSpPr>
        <p:spPr>
          <a:xfrm>
            <a:off x="6350000" y="2222500"/>
            <a:ext cx="5080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41C440-957B-48FF-A455-032875B004AB}"/>
              </a:ext>
            </a:extLst>
          </p:cNvPr>
          <p:cNvSpPr txBox="1"/>
          <p:nvPr/>
        </p:nvSpPr>
        <p:spPr>
          <a:xfrm>
            <a:off x="6604000" y="2476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F6AD55"/>
                </a:solidFill>
                <a:latin typeface="맑은 고딕"/>
                <a:ea typeface="맑은 고딕"/>
              </a:rPr>
              <a:t>회의록 모달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DA50E6-B16E-4DB2-A2B5-E39DF6CE3584}"/>
              </a:ext>
            </a:extLst>
          </p:cNvPr>
          <p:cNvSpPr txBox="1"/>
          <p:nvPr/>
        </p:nvSpPr>
        <p:spPr>
          <a:xfrm>
            <a:off x="6731000" y="30480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프로젝트별 그룹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인디고 헤더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13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3C4ADC-CC70-4085-9FC6-15BB8ED13973}"/>
              </a:ext>
            </a:extLst>
          </p:cNvPr>
          <p:cNvSpPr txBox="1"/>
          <p:nvPr/>
        </p:nvSpPr>
        <p:spPr>
          <a:xfrm>
            <a:off x="6731000" y="34290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내부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amber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타임라인 브랜치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340C8A-CA2F-4A94-B72F-1EABF7B9D643}"/>
              </a:ext>
            </a:extLst>
          </p:cNvPr>
          <p:cNvSpPr txBox="1"/>
          <p:nvPr/>
        </p:nvSpPr>
        <p:spPr>
          <a:xfrm>
            <a:off x="6731000" y="38100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기본 모두 접힘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헤더 클릭 시 펼침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F8DDEA-129B-48F9-A9A4-2207242B4F14}"/>
              </a:ext>
            </a:extLst>
          </p:cNvPr>
          <p:cNvSpPr txBox="1"/>
          <p:nvPr/>
        </p:nvSpPr>
        <p:spPr>
          <a:xfrm>
            <a:off x="6731000" y="41910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검색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프로젝트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작성자 필터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B56DD3-2737-4DD3-8629-55161ACFD6F1}"/>
              </a:ext>
            </a:extLst>
          </p:cNvPr>
          <p:cNvSpPr txBox="1"/>
          <p:nvPr/>
        </p:nvSpPr>
        <p:spPr>
          <a:xfrm>
            <a:off x="6731000" y="45720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↗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클릭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=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해당 프로젝트 회의록 탭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63A69F-914C-4681-93D8-C5D9C73C0D4E}"/>
              </a:ext>
            </a:extLst>
          </p:cNvPr>
          <p:cNvSpPr txBox="1"/>
          <p:nvPr/>
        </p:nvSpPr>
        <p:spPr>
          <a:xfrm>
            <a:off x="762000" y="6096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00D4AA"/>
                </a:solidFill>
                <a:latin typeface="맑은 고딕"/>
                <a:ea typeface="맑은 고딕"/>
              </a:rPr>
              <a:t>💡  새로 추가된 회의록 </a:t>
            </a:r>
            <a:r>
              <a:rPr lang="en-US" altLang="ko-KR" sz="1300">
                <a:solidFill>
                  <a:srgbClr val="00D4AA"/>
                </a:solidFill>
                <a:latin typeface="맑은 고딕"/>
                <a:ea typeface="맑은 고딕"/>
              </a:rPr>
              <a:t>50</a:t>
            </a:r>
            <a:r>
              <a:rPr lang="ko-KR" altLang="en-US" sz="1300">
                <a:solidFill>
                  <a:srgbClr val="00D4AA"/>
                </a:solidFill>
                <a:latin typeface="맑은 고딕"/>
                <a:ea typeface="맑은 고딕"/>
              </a:rPr>
              <a:t>건이 종합 </a:t>
            </a:r>
            <a:r>
              <a:rPr lang="en-US" altLang="ko-KR" sz="1300">
                <a:solidFill>
                  <a:srgbClr val="00D4AA"/>
                </a:solidFill>
                <a:latin typeface="맑은 고딕"/>
                <a:ea typeface="맑은 고딕"/>
              </a:rPr>
              <a:t>Excel</a:t>
            </a:r>
            <a:r>
              <a:rPr lang="ko-KR" altLang="en-US" sz="1300">
                <a:solidFill>
                  <a:srgbClr val="00D4AA"/>
                </a:solidFill>
                <a:latin typeface="맑은 고딕"/>
                <a:ea typeface="맑은 고딕"/>
              </a:rPr>
              <a:t>에도 별도 시트로 들어간다</a:t>
            </a:r>
          </a:p>
        </p:txBody>
      </p:sp>
    </p:spTree>
    <p:extLst>
      <p:ext uri="{BB962C8B-B14F-4D97-AF65-F5344CB8AC3E}">
        <p14:creationId xmlns:p14="http://schemas.microsoft.com/office/powerpoint/2010/main" val="410338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73E316-4441-4044-B240-5CF1CC6D7DC6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PROJECT MGMT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D25030-7AAE-4219-8FEF-66BE91EBF7F2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프로젝트 생성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— 3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단계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B9153B-F96E-4F76-971C-5E2D1FC958A3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25727-BF87-4FDA-9F12-AE01D546A1A0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도메인은 셋업 일정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검수표를 자동 세팅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사후 변경은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ADMIN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전용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147D14B-CF45-4B4D-8280-8D08078A0EC0}"/>
              </a:ext>
            </a:extLst>
          </p:cNvPr>
          <p:cNvSpPr/>
          <p:nvPr/>
        </p:nvSpPr>
        <p:spPr>
          <a:xfrm>
            <a:off x="762000" y="2222500"/>
            <a:ext cx="762000" cy="7620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146B1-6932-44CA-AEC2-D61DF0DCC5B2}"/>
              </a:ext>
            </a:extLst>
          </p:cNvPr>
          <p:cNvSpPr txBox="1"/>
          <p:nvPr/>
        </p:nvSpPr>
        <p:spPr>
          <a:xfrm>
            <a:off x="762000" y="24003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1">
                <a:solidFill>
                  <a:srgbClr val="1A2A3A"/>
                </a:solidFill>
                <a:latin typeface="맑은 고딕"/>
                <a:ea typeface="맑은 고딕"/>
              </a:rPr>
              <a:t>1</a:t>
            </a:r>
            <a:endParaRPr lang="ko-KR" altLang="en-US" sz="24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7EDB94-6055-4E8E-B8BF-3E8524A42A27}"/>
              </a:ext>
            </a:extLst>
          </p:cNvPr>
          <p:cNvSpPr txBox="1"/>
          <p:nvPr/>
        </p:nvSpPr>
        <p:spPr>
          <a:xfrm>
            <a:off x="1778000" y="23241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F0F0F0"/>
                </a:solidFill>
                <a:latin typeface="맑은 고딕"/>
                <a:ea typeface="맑은 고딕"/>
              </a:rPr>
              <a:t>프로젝트 관리  →  새 프로젝트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F99D89-21F4-4FE7-A813-4A64CB1B4671}"/>
              </a:ext>
            </a:extLst>
          </p:cNvPr>
          <p:cNvSpPr txBox="1"/>
          <p:nvPr/>
        </p:nvSpPr>
        <p:spPr>
          <a:xfrm>
            <a:off x="1778000" y="26797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좌측 메뉴에서 진입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26FA11A-EC24-4BDA-9809-1573BE864028}"/>
              </a:ext>
            </a:extLst>
          </p:cNvPr>
          <p:cNvSpPr/>
          <p:nvPr/>
        </p:nvSpPr>
        <p:spPr>
          <a:xfrm>
            <a:off x="762000" y="3365500"/>
            <a:ext cx="762000" cy="7620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DE2619-8185-4D64-ABA2-AFD92D93F379}"/>
              </a:ext>
            </a:extLst>
          </p:cNvPr>
          <p:cNvSpPr txBox="1"/>
          <p:nvPr/>
        </p:nvSpPr>
        <p:spPr>
          <a:xfrm>
            <a:off x="762000" y="35433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1">
                <a:solidFill>
                  <a:srgbClr val="1A2A3A"/>
                </a:solidFill>
                <a:latin typeface="맑은 고딕"/>
                <a:ea typeface="맑은 고딕"/>
              </a:rPr>
              <a:t>2</a:t>
            </a:r>
            <a:endParaRPr lang="ko-KR" altLang="en-US" sz="24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AD74C3-BC71-4D77-974D-BB6038A9916D}"/>
              </a:ext>
            </a:extLst>
          </p:cNvPr>
          <p:cNvSpPr txBox="1"/>
          <p:nvPr/>
        </p:nvSpPr>
        <p:spPr>
          <a:xfrm>
            <a:off x="1778000" y="34671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F0F0F0"/>
                </a:solidFill>
                <a:latin typeface="맑은 고딕"/>
                <a:ea typeface="맑은 고딕"/>
              </a:rPr>
              <a:t>도메인 선택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7FF06F-5653-4993-9A8C-279DBF16E7EF}"/>
              </a:ext>
            </a:extLst>
          </p:cNvPr>
          <p:cNvSpPr txBox="1"/>
          <p:nvPr/>
        </p:nvSpPr>
        <p:spPr>
          <a:xfrm>
            <a:off x="1778000" y="38227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반도체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디스플레이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/ 2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차전지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셋업 일정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+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검수표 자동 세팅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082D363-3323-4915-A18C-C4AA6834A35C}"/>
              </a:ext>
            </a:extLst>
          </p:cNvPr>
          <p:cNvSpPr/>
          <p:nvPr/>
        </p:nvSpPr>
        <p:spPr>
          <a:xfrm>
            <a:off x="762000" y="4508500"/>
            <a:ext cx="762000" cy="7620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8F469F-BADA-4E3F-876E-3DE6D9B25E40}"/>
              </a:ext>
            </a:extLst>
          </p:cNvPr>
          <p:cNvSpPr txBox="1"/>
          <p:nvPr/>
        </p:nvSpPr>
        <p:spPr>
          <a:xfrm>
            <a:off x="762000" y="46863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1">
                <a:solidFill>
                  <a:srgbClr val="1A2A3A"/>
                </a:solidFill>
                <a:latin typeface="맑은 고딕"/>
                <a:ea typeface="맑은 고딕"/>
              </a:rPr>
              <a:t>3</a:t>
            </a:r>
            <a:endParaRPr lang="ko-KR" altLang="en-US" sz="24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A8736B-30FA-4545-842B-9AB484C01A13}"/>
              </a:ext>
            </a:extLst>
          </p:cNvPr>
          <p:cNvSpPr txBox="1"/>
          <p:nvPr/>
        </p:nvSpPr>
        <p:spPr>
          <a:xfrm>
            <a:off x="1778000" y="46101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F0F0F0"/>
                </a:solidFill>
                <a:latin typeface="맑은 고딕"/>
                <a:ea typeface="맑은 고딕"/>
              </a:rPr>
              <a:t>메인 </a:t>
            </a:r>
            <a:r>
              <a:rPr lang="en-US" altLang="ko-KR" b="1">
                <a:solidFill>
                  <a:srgbClr val="F0F0F0"/>
                </a:solidFill>
                <a:latin typeface="맑은 고딕"/>
                <a:ea typeface="맑은 고딕"/>
              </a:rPr>
              <a:t>PM </a:t>
            </a:r>
            <a:r>
              <a:rPr lang="ko-KR" altLang="en-US" b="1">
                <a:solidFill>
                  <a:srgbClr val="F0F0F0"/>
                </a:solidFill>
                <a:latin typeface="맑은 고딕"/>
                <a:ea typeface="맑은 고딕"/>
              </a:rPr>
              <a:t>선택  →  저장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A17E0B-A937-4459-BB9D-A4F4E83744E0}"/>
              </a:ext>
            </a:extLst>
          </p:cNvPr>
          <p:cNvSpPr txBox="1"/>
          <p:nvPr/>
        </p:nvSpPr>
        <p:spPr>
          <a:xfrm>
            <a:off x="1778000" y="49657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인력 풀에서 지정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시작일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/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납기일은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미정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체크박스로 비워둘 수 있음</a:t>
            </a:r>
          </a:p>
        </p:txBody>
      </p:sp>
    </p:spTree>
    <p:extLst>
      <p:ext uri="{BB962C8B-B14F-4D97-AF65-F5344CB8AC3E}">
        <p14:creationId xmlns:p14="http://schemas.microsoft.com/office/powerpoint/2010/main" val="3070501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DD5BE1-4EF8-4DA4-A658-D23C2FBDD3C2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PROJECT MGMT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E5458-E3F8-4458-9174-AE59621129D0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프로젝트 상세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— 7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개 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AE9B0C-784D-483C-A49B-BC40A06BE69E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6AFA1C-7BDE-479C-A660-79520C3D1C79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탭 전환은 좌측 칼럼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모달은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z-50 /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회의록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분석 모달은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z-150</a:t>
            </a:r>
            <a:endParaRPr lang="ko-KR" altLang="en-US" sz="1400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71BF7E-D6D0-4CD1-ABAF-4FB0AC1A63C8}"/>
              </a:ext>
            </a:extLst>
          </p:cNvPr>
          <p:cNvSpPr/>
          <p:nvPr/>
        </p:nvSpPr>
        <p:spPr>
          <a:xfrm>
            <a:off x="762000" y="2222500"/>
            <a:ext cx="76200" cy="4826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629F3-E6A0-4AD7-B13B-F4FE35F1E2AE}"/>
              </a:ext>
            </a:extLst>
          </p:cNvPr>
          <p:cNvSpPr txBox="1"/>
          <p:nvPr/>
        </p:nvSpPr>
        <p:spPr>
          <a:xfrm>
            <a:off x="1016000" y="22860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F1D51-B7D5-4502-B032-B1F1D98ED1B9}"/>
              </a:ext>
            </a:extLst>
          </p:cNvPr>
          <p:cNvSpPr txBox="1"/>
          <p:nvPr/>
        </p:nvSpPr>
        <p:spPr>
          <a:xfrm>
            <a:off x="4064000" y="2311400"/>
            <a:ext cx="736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단계별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셋업  서브탭 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+ 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편집 모달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281394A-D554-45B1-9CE3-8688869B33F7}"/>
              </a:ext>
            </a:extLst>
          </p:cNvPr>
          <p:cNvSpPr/>
          <p:nvPr/>
        </p:nvSpPr>
        <p:spPr>
          <a:xfrm>
            <a:off x="762000" y="2794000"/>
            <a:ext cx="76200" cy="4826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EC4231-22A8-4616-8D8D-34C7399592D9}"/>
              </a:ext>
            </a:extLst>
          </p:cNvPr>
          <p:cNvSpPr txBox="1"/>
          <p:nvPr/>
        </p:nvSpPr>
        <p:spPr>
          <a:xfrm>
            <a:off x="1016000" y="28575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참고 자료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8A9E86-7775-4218-B856-789A522F2FDB}"/>
              </a:ext>
            </a:extLst>
          </p:cNvPr>
          <p:cNvSpPr txBox="1"/>
          <p:nvPr/>
        </p:nvSpPr>
        <p:spPr>
          <a:xfrm>
            <a:off x="4064000" y="2882900"/>
            <a:ext cx="736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명세서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도면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기타 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—  Drive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자동 분류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45998D4-DAAE-43A6-B2DC-11A764F9CD78}"/>
              </a:ext>
            </a:extLst>
          </p:cNvPr>
          <p:cNvSpPr/>
          <p:nvPr/>
        </p:nvSpPr>
        <p:spPr>
          <a:xfrm>
            <a:off x="762000" y="3365500"/>
            <a:ext cx="76200" cy="4826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9329BD-DDD8-4B7E-A859-BE1CECF591C0}"/>
              </a:ext>
            </a:extLst>
          </p:cNvPr>
          <p:cNvSpPr txBox="1"/>
          <p:nvPr/>
        </p:nvSpPr>
        <p:spPr>
          <a:xfrm>
            <a:off x="1016000" y="34290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회의록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A7649A-87FB-450D-B574-5BEB03D0B0C6}"/>
              </a:ext>
            </a:extLst>
          </p:cNvPr>
          <p:cNvSpPr txBox="1"/>
          <p:nvPr/>
        </p:nvSpPr>
        <p:spPr>
          <a:xfrm>
            <a:off x="4064000" y="3454400"/>
            <a:ext cx="736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빠른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상세 모드 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+ 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다중 파일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0C4F63-B933-4087-8ECA-C1702291F01A}"/>
              </a:ext>
            </a:extLst>
          </p:cNvPr>
          <p:cNvSpPr/>
          <p:nvPr/>
        </p:nvSpPr>
        <p:spPr>
          <a:xfrm>
            <a:off x="762000" y="3937000"/>
            <a:ext cx="76200" cy="4826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02218-6095-4C39-AD85-3FCB921C408D}"/>
              </a:ext>
            </a:extLst>
          </p:cNvPr>
          <p:cNvSpPr txBox="1"/>
          <p:nvPr/>
        </p:nvSpPr>
        <p:spPr>
          <a:xfrm>
            <a:off x="1016000" y="40005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검수표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302D3B-5DB2-48FE-BCDA-CA8687874095}"/>
              </a:ext>
            </a:extLst>
          </p:cNvPr>
          <p:cNvSpPr txBox="1"/>
          <p:nvPr/>
        </p:nvSpPr>
        <p:spPr>
          <a:xfrm>
            <a:off x="4064000" y="4025900"/>
            <a:ext cx="736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Buy-off  + 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서명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61ACD6-9E1C-4F6E-AB2F-95D02E3570E7}"/>
              </a:ext>
            </a:extLst>
          </p:cNvPr>
          <p:cNvSpPr/>
          <p:nvPr/>
        </p:nvSpPr>
        <p:spPr>
          <a:xfrm>
            <a:off x="762000" y="4508500"/>
            <a:ext cx="76200" cy="4826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99FA05-0C9E-4C35-9E27-FD4658647B04}"/>
              </a:ext>
            </a:extLst>
          </p:cNvPr>
          <p:cNvSpPr txBox="1"/>
          <p:nvPr/>
        </p:nvSpPr>
        <p:spPr>
          <a:xfrm>
            <a:off x="1016000" y="45720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추가 대응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A78925-B643-4531-90B8-2CABFF7B0789}"/>
              </a:ext>
            </a:extLst>
          </p:cNvPr>
          <p:cNvSpPr txBox="1"/>
          <p:nvPr/>
        </p:nvSpPr>
        <p:spPr>
          <a:xfrm>
            <a:off x="4064000" y="4597400"/>
            <a:ext cx="736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워런티 단계 변경 추적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DC80F79-BE7E-4D4F-B1B2-F0AC80682E8E}"/>
              </a:ext>
            </a:extLst>
          </p:cNvPr>
          <p:cNvSpPr/>
          <p:nvPr/>
        </p:nvSpPr>
        <p:spPr>
          <a:xfrm>
            <a:off x="762000" y="5080000"/>
            <a:ext cx="76200" cy="4826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F64E9D-7B5C-4A75-A3B9-3AFC56B7BC7D}"/>
              </a:ext>
            </a:extLst>
          </p:cNvPr>
          <p:cNvSpPr txBox="1"/>
          <p:nvPr/>
        </p:nvSpPr>
        <p:spPr>
          <a:xfrm>
            <a:off x="1016000" y="51435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이슈 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고객요청 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/ AS / 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자재 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버전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C17007-56C4-4432-B4D2-323728D64E29}"/>
              </a:ext>
            </a:extLst>
          </p:cNvPr>
          <p:cNvSpPr txBox="1"/>
          <p:nvPr/>
        </p:nvSpPr>
        <p:spPr>
          <a:xfrm>
            <a:off x="4064000" y="5168900"/>
            <a:ext cx="736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5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개 통합 영역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0674EA0-002C-4989-9565-8A5077A698CD}"/>
              </a:ext>
            </a:extLst>
          </p:cNvPr>
          <p:cNvSpPr/>
          <p:nvPr/>
        </p:nvSpPr>
        <p:spPr>
          <a:xfrm>
            <a:off x="762000" y="5651500"/>
            <a:ext cx="76200" cy="4826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034849-F8DD-48AD-AEB6-7D82F11DFD5D}"/>
              </a:ext>
            </a:extLst>
          </p:cNvPr>
          <p:cNvSpPr txBox="1"/>
          <p:nvPr/>
        </p:nvSpPr>
        <p:spPr>
          <a:xfrm>
            <a:off x="1016000" y="57150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이력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1C3174-2B1F-469F-B8D3-0EE987F956FE}"/>
              </a:ext>
            </a:extLst>
          </p:cNvPr>
          <p:cNvSpPr txBox="1"/>
          <p:nvPr/>
        </p:nvSpPr>
        <p:spPr>
          <a:xfrm>
            <a:off x="4064000" y="5740400"/>
            <a:ext cx="736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모든 활동 시간순 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클릭 시 해당 탭으로 점프</a:t>
            </a:r>
          </a:p>
        </p:txBody>
      </p:sp>
    </p:spTree>
    <p:extLst>
      <p:ext uri="{BB962C8B-B14F-4D97-AF65-F5344CB8AC3E}">
        <p14:creationId xmlns:p14="http://schemas.microsoft.com/office/powerpoint/2010/main" val="2602793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E90E68-7028-4FA2-9F07-54DD0D8DD4F2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PROJECT MGMT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5C7CA-2349-4403-92D9-806E14589888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단계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(Phase) — 8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단계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E541BB-F563-4FD8-B7C1-10220685F79C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E7714-DBA4-488A-AF77-93750A792E50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검수 사인 시 자동 워런티 진입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단계 칩 클릭으로 임의 이동</a:t>
            </a:r>
          </a:p>
        </p:txBody>
      </p:sp>
      <p:sp>
        <p:nvSpPr>
          <p:cNvPr id="6" name="화살표: 오각형 5">
            <a:extLst>
              <a:ext uri="{FF2B5EF4-FFF2-40B4-BE49-F238E27FC236}">
                <a16:creationId xmlns:a16="http://schemas.microsoft.com/office/drawing/2014/main" id="{B6F876F0-4855-41D4-9B10-00879E384DAD}"/>
              </a:ext>
            </a:extLst>
          </p:cNvPr>
          <p:cNvSpPr/>
          <p:nvPr/>
        </p:nvSpPr>
        <p:spPr>
          <a:xfrm>
            <a:off x="762000" y="2794000"/>
            <a:ext cx="1282700" cy="762000"/>
          </a:xfrm>
          <a:prstGeom prst="homePlate">
            <a:avLst/>
          </a:prstGeom>
          <a:solidFill>
            <a:srgbClr val="667E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64DCF-33D4-43F1-B532-DE493009259C}"/>
              </a:ext>
            </a:extLst>
          </p:cNvPr>
          <p:cNvSpPr txBox="1"/>
          <p:nvPr/>
        </p:nvSpPr>
        <p:spPr>
          <a:xfrm>
            <a:off x="762000" y="3022600"/>
            <a:ext cx="12827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>
                <a:solidFill>
                  <a:srgbClr val="1A2A3A"/>
                </a:solidFill>
                <a:latin typeface="맑은 고딕"/>
                <a:ea typeface="맑은 고딕"/>
              </a:rPr>
              <a:t>영업</a:t>
            </a:r>
            <a:r>
              <a:rPr lang="en-US" altLang="ko-KR" sz="1200" b="1">
                <a:solidFill>
                  <a:srgbClr val="1A2A3A"/>
                </a:solidFill>
                <a:latin typeface="맑은 고딕"/>
                <a:ea typeface="맑은 고딕"/>
              </a:rPr>
              <a:t>/</a:t>
            </a:r>
            <a:r>
              <a:rPr lang="ko-KR" altLang="en-US" sz="1200" b="1">
                <a:solidFill>
                  <a:srgbClr val="1A2A3A"/>
                </a:solidFill>
                <a:latin typeface="맑은 고딕"/>
                <a:ea typeface="맑은 고딕"/>
              </a:rPr>
              <a:t>수주</a:t>
            </a:r>
          </a:p>
        </p:txBody>
      </p:sp>
      <p:sp>
        <p:nvSpPr>
          <p:cNvPr id="8" name="화살표: 오각형 7">
            <a:extLst>
              <a:ext uri="{FF2B5EF4-FFF2-40B4-BE49-F238E27FC236}">
                <a16:creationId xmlns:a16="http://schemas.microsoft.com/office/drawing/2014/main" id="{C0BA29FD-7A98-49A2-BEEB-F6CB147735AE}"/>
              </a:ext>
            </a:extLst>
          </p:cNvPr>
          <p:cNvSpPr/>
          <p:nvPr/>
        </p:nvSpPr>
        <p:spPr>
          <a:xfrm>
            <a:off x="2095500" y="2794000"/>
            <a:ext cx="1282700" cy="762000"/>
          </a:xfrm>
          <a:prstGeom prst="homePlate">
            <a:avLst/>
          </a:prstGeom>
          <a:solidFill>
            <a:srgbClr val="63B3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252DEC-3406-42E7-8F59-83E2C72BB0AF}"/>
              </a:ext>
            </a:extLst>
          </p:cNvPr>
          <p:cNvSpPr txBox="1"/>
          <p:nvPr/>
        </p:nvSpPr>
        <p:spPr>
          <a:xfrm>
            <a:off x="2095500" y="3022600"/>
            <a:ext cx="12827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>
                <a:solidFill>
                  <a:srgbClr val="1A2A3A"/>
                </a:solidFill>
                <a:latin typeface="맑은 고딕"/>
                <a:ea typeface="맑은 고딕"/>
              </a:rPr>
              <a:t>설계</a:t>
            </a:r>
          </a:p>
        </p:txBody>
      </p:sp>
      <p:sp>
        <p:nvSpPr>
          <p:cNvPr id="10" name="화살표: 오각형 9">
            <a:extLst>
              <a:ext uri="{FF2B5EF4-FFF2-40B4-BE49-F238E27FC236}">
                <a16:creationId xmlns:a16="http://schemas.microsoft.com/office/drawing/2014/main" id="{8D1794B4-BDCF-4B15-8F3D-E72ABE785A9B}"/>
              </a:ext>
            </a:extLst>
          </p:cNvPr>
          <p:cNvSpPr/>
          <p:nvPr/>
        </p:nvSpPr>
        <p:spPr>
          <a:xfrm>
            <a:off x="3429000" y="2794000"/>
            <a:ext cx="1282700" cy="762000"/>
          </a:xfrm>
          <a:prstGeom prst="homePlate">
            <a:avLst/>
          </a:prstGeom>
          <a:solidFill>
            <a:srgbClr val="63B3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2C916D-4D68-49B4-AD5E-B960D9BEA19D}"/>
              </a:ext>
            </a:extLst>
          </p:cNvPr>
          <p:cNvSpPr txBox="1"/>
          <p:nvPr/>
        </p:nvSpPr>
        <p:spPr>
          <a:xfrm>
            <a:off x="3429000" y="3022600"/>
            <a:ext cx="12827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>
                <a:solidFill>
                  <a:srgbClr val="1A2A3A"/>
                </a:solidFill>
                <a:latin typeface="맑은 고딕"/>
                <a:ea typeface="맑은 고딕"/>
              </a:rPr>
              <a:t>구매</a:t>
            </a:r>
            <a:r>
              <a:rPr lang="en-US" altLang="ko-KR" sz="1200" b="1">
                <a:solidFill>
                  <a:srgbClr val="1A2A3A"/>
                </a:solidFill>
                <a:latin typeface="맑은 고딕"/>
                <a:ea typeface="맑은 고딕"/>
              </a:rPr>
              <a:t>/</a:t>
            </a:r>
            <a:r>
              <a:rPr lang="ko-KR" altLang="en-US" sz="1200" b="1">
                <a:solidFill>
                  <a:srgbClr val="1A2A3A"/>
                </a:solidFill>
                <a:latin typeface="맑은 고딕"/>
                <a:ea typeface="맑은 고딕"/>
              </a:rPr>
              <a:t>자재</a:t>
            </a:r>
          </a:p>
        </p:txBody>
      </p:sp>
      <p:sp>
        <p:nvSpPr>
          <p:cNvPr id="12" name="화살표: 오각형 11">
            <a:extLst>
              <a:ext uri="{FF2B5EF4-FFF2-40B4-BE49-F238E27FC236}">
                <a16:creationId xmlns:a16="http://schemas.microsoft.com/office/drawing/2014/main" id="{704D7AD8-2DAC-47BD-928A-D653DFDCF8DE}"/>
              </a:ext>
            </a:extLst>
          </p:cNvPr>
          <p:cNvSpPr/>
          <p:nvPr/>
        </p:nvSpPr>
        <p:spPr>
          <a:xfrm>
            <a:off x="4762500" y="2794000"/>
            <a:ext cx="1282700" cy="762000"/>
          </a:xfrm>
          <a:prstGeom prst="homePlate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C239FD-4300-4E11-A1EE-838E83DA3760}"/>
              </a:ext>
            </a:extLst>
          </p:cNvPr>
          <p:cNvSpPr txBox="1"/>
          <p:nvPr/>
        </p:nvSpPr>
        <p:spPr>
          <a:xfrm>
            <a:off x="4762500" y="3022600"/>
            <a:ext cx="12827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>
                <a:solidFill>
                  <a:srgbClr val="1A2A3A"/>
                </a:solidFill>
                <a:latin typeface="맑은 고딕"/>
                <a:ea typeface="맑은 고딕"/>
              </a:rPr>
              <a:t>제조</a:t>
            </a:r>
            <a:r>
              <a:rPr lang="en-US" altLang="ko-KR" sz="1200" b="1">
                <a:solidFill>
                  <a:srgbClr val="1A2A3A"/>
                </a:solidFill>
                <a:latin typeface="맑은 고딕"/>
                <a:ea typeface="맑은 고딕"/>
              </a:rPr>
              <a:t>/</a:t>
            </a:r>
            <a:r>
              <a:rPr lang="ko-KR" altLang="en-US" sz="1200" b="1">
                <a:solidFill>
                  <a:srgbClr val="1A2A3A"/>
                </a:solidFill>
                <a:latin typeface="맑은 고딕"/>
                <a:ea typeface="맑은 고딕"/>
              </a:rPr>
              <a:t>조립</a:t>
            </a:r>
          </a:p>
        </p:txBody>
      </p:sp>
      <p:sp>
        <p:nvSpPr>
          <p:cNvPr id="14" name="화살표: 오각형 13">
            <a:extLst>
              <a:ext uri="{FF2B5EF4-FFF2-40B4-BE49-F238E27FC236}">
                <a16:creationId xmlns:a16="http://schemas.microsoft.com/office/drawing/2014/main" id="{335661F6-EF51-4FDC-A4D5-414909116FC4}"/>
              </a:ext>
            </a:extLst>
          </p:cNvPr>
          <p:cNvSpPr/>
          <p:nvPr/>
        </p:nvSpPr>
        <p:spPr>
          <a:xfrm>
            <a:off x="6096000" y="2794000"/>
            <a:ext cx="1282700" cy="762000"/>
          </a:xfrm>
          <a:prstGeom prst="homePlate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435DF2-1397-4D0B-B043-0D3330790E50}"/>
              </a:ext>
            </a:extLst>
          </p:cNvPr>
          <p:cNvSpPr txBox="1"/>
          <p:nvPr/>
        </p:nvSpPr>
        <p:spPr>
          <a:xfrm>
            <a:off x="6096000" y="3022600"/>
            <a:ext cx="12827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>
                <a:solidFill>
                  <a:srgbClr val="1A2A3A"/>
                </a:solidFill>
                <a:latin typeface="맑은 고딕"/>
                <a:ea typeface="맑은 고딕"/>
              </a:rPr>
              <a:t>출하</a:t>
            </a:r>
          </a:p>
        </p:txBody>
      </p:sp>
      <p:sp>
        <p:nvSpPr>
          <p:cNvPr id="16" name="화살표: 오각형 15">
            <a:extLst>
              <a:ext uri="{FF2B5EF4-FFF2-40B4-BE49-F238E27FC236}">
                <a16:creationId xmlns:a16="http://schemas.microsoft.com/office/drawing/2014/main" id="{9998D4E2-213A-4FA0-BCE6-214E03AA6858}"/>
              </a:ext>
            </a:extLst>
          </p:cNvPr>
          <p:cNvSpPr/>
          <p:nvPr/>
        </p:nvSpPr>
        <p:spPr>
          <a:xfrm>
            <a:off x="7429500" y="2794000"/>
            <a:ext cx="1282700" cy="762000"/>
          </a:xfrm>
          <a:prstGeom prst="homePlat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9549E9-C3E3-4EBE-80ED-2D91FD71291B}"/>
              </a:ext>
            </a:extLst>
          </p:cNvPr>
          <p:cNvSpPr txBox="1"/>
          <p:nvPr/>
        </p:nvSpPr>
        <p:spPr>
          <a:xfrm>
            <a:off x="7429500" y="3022600"/>
            <a:ext cx="12827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>
                <a:solidFill>
                  <a:srgbClr val="1A2A3A"/>
                </a:solidFill>
                <a:latin typeface="맑은 고딕"/>
                <a:ea typeface="맑은 고딕"/>
              </a:rPr>
              <a:t>현장 셋업</a:t>
            </a:r>
          </a:p>
        </p:txBody>
      </p:sp>
      <p:sp>
        <p:nvSpPr>
          <p:cNvPr id="18" name="화살표: 오각형 17">
            <a:extLst>
              <a:ext uri="{FF2B5EF4-FFF2-40B4-BE49-F238E27FC236}">
                <a16:creationId xmlns:a16="http://schemas.microsoft.com/office/drawing/2014/main" id="{766FC75A-CE1A-4F5D-8089-B688C9FED7B0}"/>
              </a:ext>
            </a:extLst>
          </p:cNvPr>
          <p:cNvSpPr/>
          <p:nvPr/>
        </p:nvSpPr>
        <p:spPr>
          <a:xfrm>
            <a:off x="8763000" y="2794000"/>
            <a:ext cx="1282700" cy="762000"/>
          </a:xfrm>
          <a:prstGeom prst="homePlate">
            <a:avLst/>
          </a:prstGeom>
          <a:solidFill>
            <a:srgbClr val="38A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0A5E97-3E47-4649-92E9-C6656E204BBB}"/>
              </a:ext>
            </a:extLst>
          </p:cNvPr>
          <p:cNvSpPr txBox="1"/>
          <p:nvPr/>
        </p:nvSpPr>
        <p:spPr>
          <a:xfrm>
            <a:off x="8763000" y="3022600"/>
            <a:ext cx="12827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>
                <a:solidFill>
                  <a:srgbClr val="1A2A3A"/>
                </a:solidFill>
                <a:latin typeface="맑은 고딕"/>
                <a:ea typeface="맑은 고딕"/>
              </a:rPr>
              <a:t>워런티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6347035-90F1-448B-A119-6D4A6CD38691}"/>
              </a:ext>
            </a:extLst>
          </p:cNvPr>
          <p:cNvSpPr/>
          <p:nvPr/>
        </p:nvSpPr>
        <p:spPr>
          <a:xfrm>
            <a:off x="10096500" y="2794000"/>
            <a:ext cx="1282700" cy="762000"/>
          </a:xfrm>
          <a:prstGeom prst="rect">
            <a:avLst/>
          </a:prstGeom>
          <a:solidFill>
            <a:srgbClr val="38A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483D94-D468-420F-B0D7-2AC774C79E5B}"/>
              </a:ext>
            </a:extLst>
          </p:cNvPr>
          <p:cNvSpPr txBox="1"/>
          <p:nvPr/>
        </p:nvSpPr>
        <p:spPr>
          <a:xfrm>
            <a:off x="10096500" y="3022600"/>
            <a:ext cx="12827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>
                <a:solidFill>
                  <a:srgbClr val="1A2A3A"/>
                </a:solidFill>
                <a:latin typeface="맑은 고딕"/>
                <a:ea typeface="맑은 고딕"/>
              </a:rPr>
              <a:t>완료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ABFC48-A2F2-4F97-9DE7-17A67A1555BD}"/>
              </a:ext>
            </a:extLst>
          </p:cNvPr>
          <p:cNvSpPr txBox="1"/>
          <p:nvPr/>
        </p:nvSpPr>
        <p:spPr>
          <a:xfrm>
            <a:off x="762000" y="4064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현장 셋업  →  워런티  전환은 검수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Buy-off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에서 자동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3632EDE-1923-46F1-B7BC-2D606738D9A6}"/>
              </a:ext>
            </a:extLst>
          </p:cNvPr>
          <p:cNvSpPr/>
          <p:nvPr/>
        </p:nvSpPr>
        <p:spPr>
          <a:xfrm>
            <a:off x="762000" y="4826000"/>
            <a:ext cx="1066800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8F52BE-FB55-4396-848D-F7FBBE103ACF}"/>
              </a:ext>
            </a:extLst>
          </p:cNvPr>
          <p:cNvSpPr txBox="1"/>
          <p:nvPr/>
        </p:nvSpPr>
        <p:spPr>
          <a:xfrm>
            <a:off x="1016000" y="50165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F6AD55"/>
                </a:solidFill>
                <a:latin typeface="맑은 고딕"/>
                <a:ea typeface="맑은 고딕"/>
              </a:rPr>
              <a:t>💡  마지막 단계 </a:t>
            </a:r>
            <a:r>
              <a:rPr lang="en-US" altLang="ko-KR" sz="1400" b="1">
                <a:solidFill>
                  <a:srgbClr val="F6AD55"/>
                </a:solidFill>
                <a:latin typeface="맑은 고딕"/>
                <a:ea typeface="맑은 고딕"/>
              </a:rPr>
              <a:t>= </a:t>
            </a:r>
            <a:r>
              <a:rPr lang="ko-KR" altLang="en-US" sz="1400" b="1">
                <a:solidFill>
                  <a:srgbClr val="F6AD55"/>
                </a:solidFill>
                <a:latin typeface="맑은 고딕"/>
                <a:ea typeface="맑은 고딕"/>
              </a:rPr>
              <a:t>완료 처리 단계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88AB3A-9168-4A8E-91E5-2011C461902E}"/>
              </a:ext>
            </a:extLst>
          </p:cNvPr>
          <p:cNvSpPr txBox="1"/>
          <p:nvPr/>
        </p:nvSpPr>
        <p:spPr>
          <a:xfrm>
            <a:off x="1016000" y="53340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단계 이름은 자유롭게 바꿀 수 있지만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,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시스템은 항상 마지막 단계를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"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완료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"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로 인식</a:t>
            </a:r>
          </a:p>
        </p:txBody>
      </p:sp>
    </p:spTree>
    <p:extLst>
      <p:ext uri="{BB962C8B-B14F-4D97-AF65-F5344CB8AC3E}">
        <p14:creationId xmlns:p14="http://schemas.microsoft.com/office/powerpoint/2010/main" val="3580294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29BB7B-75D4-4623-A710-FD6F09E2307D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PROJECT MGMT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CA87C2-50D9-4FB8-B5D4-49B694F69810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프로젝트 정보 수정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DDCBCAD-C88D-4895-B640-C0884E66CADB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CDC8C-1F73-4DBA-BD28-9139221E3C10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리스트의 프로젝트명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고객사 셀 클릭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=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수정 모달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(ADMIN/PM)</a:t>
            </a:r>
            <a:endParaRPr lang="ko-KR" altLang="en-US" sz="1400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9BA896-9E4D-4128-823D-4AE948F05D56}"/>
              </a:ext>
            </a:extLst>
          </p:cNvPr>
          <p:cNvSpPr/>
          <p:nvPr/>
        </p:nvSpPr>
        <p:spPr>
          <a:xfrm>
            <a:off x="762000" y="2222500"/>
            <a:ext cx="10668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11F53B-CB00-48BE-8545-EF9EB676FDD3}"/>
              </a:ext>
            </a:extLst>
          </p:cNvPr>
          <p:cNvSpPr txBox="1"/>
          <p:nvPr/>
        </p:nvSpPr>
        <p:spPr>
          <a:xfrm>
            <a:off x="1016000" y="23749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00D4AA"/>
                </a:solidFill>
                <a:latin typeface="맑은 고딕"/>
                <a:ea typeface="맑은 고딕"/>
              </a:rPr>
              <a:t>기본 정보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CDA56-FA32-4BAA-8752-58B1B8FBC0BD}"/>
              </a:ext>
            </a:extLst>
          </p:cNvPr>
          <p:cNvSpPr txBox="1"/>
          <p:nvPr/>
        </p:nvSpPr>
        <p:spPr>
          <a:xfrm>
            <a:off x="1016000" y="27305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이름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고객사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사이트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일정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담당자 모두 수정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61F205-B652-4D26-A90F-6589607579CF}"/>
              </a:ext>
            </a:extLst>
          </p:cNvPr>
          <p:cNvSpPr/>
          <p:nvPr/>
        </p:nvSpPr>
        <p:spPr>
          <a:xfrm>
            <a:off x="762000" y="3213100"/>
            <a:ext cx="10668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D4297F-A87A-47A7-9C1D-57277556FB5F}"/>
              </a:ext>
            </a:extLst>
          </p:cNvPr>
          <p:cNvSpPr txBox="1"/>
          <p:nvPr/>
        </p:nvSpPr>
        <p:spPr>
          <a:xfrm>
            <a:off x="1016000" y="33655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00D4AA"/>
                </a:solidFill>
                <a:latin typeface="맑은 고딕"/>
                <a:ea typeface="맑은 고딕"/>
              </a:rPr>
              <a:t>장비 코드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C7DB66-F236-47D5-B54C-7E69FB160503}"/>
              </a:ext>
            </a:extLst>
          </p:cNvPr>
          <p:cNvSpPr txBox="1"/>
          <p:nvPr/>
        </p:nvSpPr>
        <p:spPr>
          <a:xfrm>
            <a:off x="1016000" y="37211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코드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모델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일련번호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파란 배지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4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개까지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+ "+N"  ·  Enter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로 빠른 추가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49D8657-5A8E-46B0-A004-8AF4E40B8FA9}"/>
              </a:ext>
            </a:extLst>
          </p:cNvPr>
          <p:cNvSpPr/>
          <p:nvPr/>
        </p:nvSpPr>
        <p:spPr>
          <a:xfrm>
            <a:off x="762000" y="4203700"/>
            <a:ext cx="10668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0097B9-F1DA-463E-AECF-5BC68282D0F3}"/>
              </a:ext>
            </a:extLst>
          </p:cNvPr>
          <p:cNvSpPr txBox="1"/>
          <p:nvPr/>
        </p:nvSpPr>
        <p:spPr>
          <a:xfrm>
            <a:off x="1016000" y="43561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700" b="1">
                <a:solidFill>
                  <a:srgbClr val="00D4AA"/>
                </a:solidFill>
                <a:latin typeface="맑은 고딕"/>
                <a:ea typeface="맑은 고딕"/>
              </a:rPr>
              <a:t>2</a:t>
            </a:r>
            <a:r>
              <a:rPr lang="ko-KR" altLang="en-US" sz="1700" b="1">
                <a:solidFill>
                  <a:srgbClr val="00D4AA"/>
                </a:solidFill>
                <a:latin typeface="맑은 고딕"/>
                <a:ea typeface="맑은 고딕"/>
              </a:rPr>
              <a:t>차전지 </a:t>
            </a:r>
            <a:r>
              <a:rPr lang="en-US" altLang="ko-KR" sz="1700" b="1">
                <a:solidFill>
                  <a:srgbClr val="00D4AA"/>
                </a:solidFill>
                <a:latin typeface="맑은 고딕"/>
                <a:ea typeface="맑은 고딕"/>
              </a:rPr>
              <a:t>(</a:t>
            </a:r>
            <a:r>
              <a:rPr lang="ko-KR" altLang="en-US" sz="1700" b="1">
                <a:solidFill>
                  <a:srgbClr val="00D4AA"/>
                </a:solidFill>
                <a:latin typeface="맑은 고딕"/>
                <a:ea typeface="맑은 고딕"/>
              </a:rPr>
              <a:t>사이클러</a:t>
            </a:r>
            <a:r>
              <a:rPr lang="en-US" altLang="ko-KR" sz="1700" b="1">
                <a:solidFill>
                  <a:srgbClr val="00D4AA"/>
                </a:solidFill>
                <a:latin typeface="맑은 고딕"/>
                <a:ea typeface="맑은 고딕"/>
              </a:rPr>
              <a:t>/EOL)</a:t>
            </a:r>
            <a:endParaRPr lang="ko-KR" altLang="en-US" sz="17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EFB3A7-BDB7-46E1-A8D9-55C6D860526D}"/>
              </a:ext>
            </a:extLst>
          </p:cNvPr>
          <p:cNvSpPr txBox="1"/>
          <p:nvPr/>
        </p:nvSpPr>
        <p:spPr>
          <a:xfrm>
            <a:off x="1016000" y="47117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전압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전류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사양 추가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보라 배지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4826447-5DE7-469B-A621-ED8CBE2008A4}"/>
              </a:ext>
            </a:extLst>
          </p:cNvPr>
          <p:cNvSpPr/>
          <p:nvPr/>
        </p:nvSpPr>
        <p:spPr>
          <a:xfrm>
            <a:off x="762000" y="5194300"/>
            <a:ext cx="10668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5907D5-A443-4458-87EA-39B4EF8DB706}"/>
              </a:ext>
            </a:extLst>
          </p:cNvPr>
          <p:cNvSpPr txBox="1"/>
          <p:nvPr/>
        </p:nvSpPr>
        <p:spPr>
          <a:xfrm>
            <a:off x="1016000" y="53467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00D4AA"/>
                </a:solidFill>
                <a:latin typeface="맑은 고딕"/>
                <a:ea typeface="맑은 고딕"/>
              </a:rPr>
              <a:t>산업군</a:t>
            </a:r>
            <a:r>
              <a:rPr lang="en-US" altLang="ko-KR" sz="1700" b="1">
                <a:solidFill>
                  <a:srgbClr val="00D4AA"/>
                </a:solidFill>
                <a:latin typeface="맑은 고딕"/>
                <a:ea typeface="맑은 고딕"/>
              </a:rPr>
              <a:t>(</a:t>
            </a:r>
            <a:r>
              <a:rPr lang="ko-KR" altLang="en-US" sz="1700" b="1">
                <a:solidFill>
                  <a:srgbClr val="00D4AA"/>
                </a:solidFill>
                <a:latin typeface="맑은 고딕"/>
                <a:ea typeface="맑은 고딕"/>
              </a:rPr>
              <a:t>도메인</a:t>
            </a:r>
            <a:r>
              <a:rPr lang="en-US" altLang="ko-KR" sz="1700" b="1">
                <a:solidFill>
                  <a:srgbClr val="00D4AA"/>
                </a:solidFill>
                <a:latin typeface="맑은 고딕"/>
                <a:ea typeface="맑은 고딕"/>
              </a:rPr>
              <a:t>) </a:t>
            </a:r>
            <a:r>
              <a:rPr lang="ko-KR" altLang="en-US" sz="1700" b="1">
                <a:solidFill>
                  <a:srgbClr val="00D4AA"/>
                </a:solidFill>
                <a:latin typeface="맑은 고딕"/>
                <a:ea typeface="맑은 고딕"/>
              </a:rPr>
              <a:t>수정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659D14-2AF6-4275-9858-3DB7A049D4A4}"/>
              </a:ext>
            </a:extLst>
          </p:cNvPr>
          <p:cNvSpPr txBox="1"/>
          <p:nvPr/>
        </p:nvSpPr>
        <p:spPr>
          <a:xfrm>
            <a:off x="1016000" y="57023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ADMIN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전용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활동 로그 자동 기록</a:t>
            </a:r>
          </a:p>
        </p:txBody>
      </p:sp>
    </p:spTree>
    <p:extLst>
      <p:ext uri="{BB962C8B-B14F-4D97-AF65-F5344CB8AC3E}">
        <p14:creationId xmlns:p14="http://schemas.microsoft.com/office/powerpoint/2010/main" val="3530055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9B9C36-B831-45B0-90F0-7C9D39217125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PROJECT MGMT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3559A-F898-44B3-96B5-B744F554A268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담당자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출장 일정 통합 모달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8500CB-A3F2-4407-9EB5-BC50EC378378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3946D-A23E-4B84-A557-42824B4473C8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리스트 담당자 셀 클릭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=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한 모달에서 모두 처리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CD53F9-7A97-4F25-AF5B-13E0421CC648}"/>
              </a:ext>
            </a:extLst>
          </p:cNvPr>
          <p:cNvSpPr/>
          <p:nvPr/>
        </p:nvSpPr>
        <p:spPr>
          <a:xfrm>
            <a:off x="762000" y="2222500"/>
            <a:ext cx="10668000" cy="8255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D5EDAB-52AB-4D4A-91B0-1F0AB098F2D4}"/>
              </a:ext>
            </a:extLst>
          </p:cNvPr>
          <p:cNvSpPr txBox="1"/>
          <p:nvPr/>
        </p:nvSpPr>
        <p:spPr>
          <a:xfrm>
            <a:off x="1016000" y="2425700"/>
            <a:ext cx="50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00D4AA"/>
                </a:solidFill>
                <a:latin typeface="맑은 고딕"/>
                <a:ea typeface="맑은 고딕"/>
              </a:rPr>
              <a:t>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672B25-9E10-4BFC-BF68-97FE3D41BCAE}"/>
              </a:ext>
            </a:extLst>
          </p:cNvPr>
          <p:cNvSpPr txBox="1"/>
          <p:nvPr/>
        </p:nvSpPr>
        <p:spPr>
          <a:xfrm>
            <a:off x="1651000" y="2349500"/>
            <a:ext cx="977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F0F0F0"/>
                </a:solidFill>
                <a:latin typeface="맑은 고딕"/>
                <a:ea typeface="맑은 고딕"/>
              </a:rPr>
              <a:t>메인 </a:t>
            </a:r>
            <a:r>
              <a:rPr lang="en-US" altLang="ko-KR" sz="1700" b="1">
                <a:solidFill>
                  <a:srgbClr val="F0F0F0"/>
                </a:solidFill>
                <a:latin typeface="맑은 고딕"/>
                <a:ea typeface="맑은 고딕"/>
              </a:rPr>
              <a:t>PM </a:t>
            </a:r>
            <a:r>
              <a:rPr lang="ko-KR" altLang="en-US" sz="1700" b="1">
                <a:solidFill>
                  <a:srgbClr val="F0F0F0"/>
                </a:solidFill>
                <a:latin typeface="맑은 고딕"/>
                <a:ea typeface="맑은 고딕"/>
              </a:rPr>
              <a:t>변경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BEF55F-60B1-4801-AC50-6E2D4963EF5E}"/>
              </a:ext>
            </a:extLst>
          </p:cNvPr>
          <p:cNvSpPr txBox="1"/>
          <p:nvPr/>
        </p:nvSpPr>
        <p:spPr>
          <a:xfrm>
            <a:off x="1651000" y="27051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사유 기록 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이력 자동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C374C8A-3C89-4BBB-901E-B1122C5D65D2}"/>
              </a:ext>
            </a:extLst>
          </p:cNvPr>
          <p:cNvSpPr/>
          <p:nvPr/>
        </p:nvSpPr>
        <p:spPr>
          <a:xfrm>
            <a:off x="762000" y="3149600"/>
            <a:ext cx="10668000" cy="8255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4B9E41-DA4F-48D5-AD7A-F5105396A49E}"/>
              </a:ext>
            </a:extLst>
          </p:cNvPr>
          <p:cNvSpPr txBox="1"/>
          <p:nvPr/>
        </p:nvSpPr>
        <p:spPr>
          <a:xfrm>
            <a:off x="1016000" y="3352800"/>
            <a:ext cx="50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00D4AA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A80EE8-64D4-4B80-BC45-E402289B69A7}"/>
              </a:ext>
            </a:extLst>
          </p:cNvPr>
          <p:cNvSpPr txBox="1"/>
          <p:nvPr/>
        </p:nvSpPr>
        <p:spPr>
          <a:xfrm>
            <a:off x="1651000" y="3276600"/>
            <a:ext cx="977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F0F0F0"/>
                </a:solidFill>
                <a:latin typeface="맑은 고딕"/>
                <a:ea typeface="맑은 고딕"/>
              </a:rPr>
              <a:t>추가 인력 멀티 배정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8FFD44-96AE-4F7C-8378-E1B9F23FD3F2}"/>
              </a:ext>
            </a:extLst>
          </p:cNvPr>
          <p:cNvSpPr txBox="1"/>
          <p:nvPr/>
        </p:nvSpPr>
        <p:spPr>
          <a:xfrm>
            <a:off x="1651000" y="36322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체크박스로 다중 선택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465841-D4CC-418D-A099-D250A19CB51D}"/>
              </a:ext>
            </a:extLst>
          </p:cNvPr>
          <p:cNvSpPr/>
          <p:nvPr/>
        </p:nvSpPr>
        <p:spPr>
          <a:xfrm>
            <a:off x="762000" y="4076700"/>
            <a:ext cx="10668000" cy="8255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4212A3-0AC1-48B1-A5A3-D17788EF88EA}"/>
              </a:ext>
            </a:extLst>
          </p:cNvPr>
          <p:cNvSpPr txBox="1"/>
          <p:nvPr/>
        </p:nvSpPr>
        <p:spPr>
          <a:xfrm>
            <a:off x="1016000" y="4279900"/>
            <a:ext cx="50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00D4AA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1F1A3E-AE2D-48E6-9B39-DCC9678ACF9F}"/>
              </a:ext>
            </a:extLst>
          </p:cNvPr>
          <p:cNvSpPr txBox="1"/>
          <p:nvPr/>
        </p:nvSpPr>
        <p:spPr>
          <a:xfrm>
            <a:off x="1651000" y="4203700"/>
            <a:ext cx="977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F0F0F0"/>
                </a:solidFill>
                <a:latin typeface="맑은 고딕"/>
                <a:ea typeface="맑은 고딕"/>
              </a:rPr>
              <a:t>출장 일정 등록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E4F67B-ECC2-4F6A-B1CA-12325B82C5B6}"/>
              </a:ext>
            </a:extLst>
          </p:cNvPr>
          <p:cNvSpPr txBox="1"/>
          <p:nvPr/>
        </p:nvSpPr>
        <p:spPr>
          <a:xfrm>
            <a:off x="1651000" y="45593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한 사람이 같은 프로젝트에 여러 번 등록 가능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C7EFA81-4374-4FED-8CBD-4DAE05B32443}"/>
              </a:ext>
            </a:extLst>
          </p:cNvPr>
          <p:cNvSpPr/>
          <p:nvPr/>
        </p:nvSpPr>
        <p:spPr>
          <a:xfrm>
            <a:off x="762000" y="5003800"/>
            <a:ext cx="10668000" cy="8255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B1E8DC-F2DC-4EF7-9BA0-8BC0F7CD5A8D}"/>
              </a:ext>
            </a:extLst>
          </p:cNvPr>
          <p:cNvSpPr txBox="1"/>
          <p:nvPr/>
        </p:nvSpPr>
        <p:spPr>
          <a:xfrm>
            <a:off x="1016000" y="5207000"/>
            <a:ext cx="50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00D4AA"/>
                </a:solidFill>
                <a:latin typeface="맑은 고딕"/>
                <a:ea typeface="맑은 고딕"/>
              </a:rPr>
              <a:t>④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3FE245-9FD5-4770-AB2B-0CE820500907}"/>
              </a:ext>
            </a:extLst>
          </p:cNvPr>
          <p:cNvSpPr txBox="1"/>
          <p:nvPr/>
        </p:nvSpPr>
        <p:spPr>
          <a:xfrm>
            <a:off x="1651000" y="5130800"/>
            <a:ext cx="977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F0F0F0"/>
                </a:solidFill>
                <a:latin typeface="맑은 고딕"/>
                <a:ea typeface="맑은 고딕"/>
              </a:rPr>
              <a:t>출장 수정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97E523-7E8C-42BA-8929-11FAA1B2B7E7}"/>
              </a:ext>
            </a:extLst>
          </p:cNvPr>
          <p:cNvSpPr txBox="1"/>
          <p:nvPr/>
        </p:nvSpPr>
        <p:spPr>
          <a:xfrm>
            <a:off x="1651000" y="54864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변경 전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/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후 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+ 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사유 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+ 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수정자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/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일시 자동 이력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8C1A43-2A28-4C84-91C1-DE61C99D74AA}"/>
              </a:ext>
            </a:extLst>
          </p:cNvPr>
          <p:cNvSpPr txBox="1"/>
          <p:nvPr/>
        </p:nvSpPr>
        <p:spPr>
          <a:xfrm>
            <a:off x="762000" y="6096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6AD55"/>
                </a:solidFill>
                <a:latin typeface="맑은 고딕"/>
                <a:ea typeface="맑은 고딕"/>
              </a:rPr>
              <a:t>출장  </a:t>
            </a:r>
            <a:r>
              <a:rPr lang="en-US" altLang="ko-KR" sz="1300">
                <a:solidFill>
                  <a:srgbClr val="F6AD55"/>
                </a:solidFill>
                <a:latin typeface="맑은 고딕"/>
                <a:ea typeface="맑은 고딕"/>
              </a:rPr>
              <a:t>=  </a:t>
            </a:r>
            <a:r>
              <a:rPr lang="ko-KR" altLang="en-US" sz="1300">
                <a:solidFill>
                  <a:srgbClr val="F6AD55"/>
                </a:solidFill>
                <a:latin typeface="맑은 고딕"/>
                <a:ea typeface="맑은 고딕"/>
              </a:rPr>
              <a:t>인력 화면과 대시보드에 자동 반영  </a:t>
            </a:r>
            <a:r>
              <a:rPr lang="en-US" altLang="ko-KR" sz="1300">
                <a:solidFill>
                  <a:srgbClr val="F6AD55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>
                <a:solidFill>
                  <a:srgbClr val="F6AD55"/>
                </a:solidFill>
                <a:latin typeface="맑은 고딕"/>
                <a:ea typeface="맑은 고딕"/>
              </a:rPr>
              <a:t>현장 파견 </a:t>
            </a:r>
            <a:r>
              <a:rPr lang="en-US" altLang="ko-KR" sz="1300">
                <a:solidFill>
                  <a:srgbClr val="F6AD55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F6AD55"/>
                </a:solidFill>
                <a:latin typeface="맑은 고딕"/>
                <a:ea typeface="맑은 고딕"/>
              </a:rPr>
              <a:t>출장 예정 </a:t>
            </a:r>
            <a:r>
              <a:rPr lang="en-US" altLang="ko-KR" sz="1300">
                <a:solidFill>
                  <a:srgbClr val="F6AD55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F6AD55"/>
                </a:solidFill>
                <a:latin typeface="맑은 고딕"/>
                <a:ea typeface="맑은 고딕"/>
              </a:rPr>
              <a:t>복귀 </a:t>
            </a:r>
            <a:r>
              <a:rPr lang="en-US" altLang="ko-KR" sz="1300">
                <a:solidFill>
                  <a:srgbClr val="F6AD55"/>
                </a:solidFill>
                <a:latin typeface="맑은 고딕"/>
                <a:ea typeface="맑은 고딕"/>
              </a:rPr>
              <a:t>N</a:t>
            </a:r>
            <a:r>
              <a:rPr lang="ko-KR" altLang="en-US" sz="1300">
                <a:solidFill>
                  <a:srgbClr val="F6AD55"/>
                </a:solidFill>
                <a:latin typeface="맑은 고딕"/>
                <a:ea typeface="맑은 고딕"/>
              </a:rPr>
              <a:t>일전</a:t>
            </a:r>
            <a:r>
              <a:rPr lang="en-US" altLang="ko-KR" sz="1300">
                <a:solidFill>
                  <a:srgbClr val="F6AD55"/>
                </a:solidFill>
                <a:latin typeface="맑은 고딕"/>
                <a:ea typeface="맑은 고딕"/>
              </a:rPr>
              <a:t>)</a:t>
            </a:r>
            <a:endParaRPr lang="ko-KR" altLang="en-US" sz="1300">
              <a:solidFill>
                <a:srgbClr val="F6AD55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03911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D512B2-8C59-4F8D-8C12-9488DC28C981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SCHEDULE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2580D8-9F1A-49D2-A934-979DD069C7F1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일정 탭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두 모달 패턴 통일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592B19-B129-486A-B81A-5BA1CA4C6693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7EA5D9-FA36-4B6A-87E3-50131F7DFDBD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표는 읽기 전용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실수로 데이터 바꾸는 일이 없도록 의도적으로 모달로만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3093A4-51C2-4C3B-91D3-FEE8E8FF176B}"/>
              </a:ext>
            </a:extLst>
          </p:cNvPr>
          <p:cNvSpPr/>
          <p:nvPr/>
        </p:nvSpPr>
        <p:spPr>
          <a:xfrm>
            <a:off x="762000" y="2222500"/>
            <a:ext cx="5080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450DCEB-A2EB-4DFE-AA7B-0AF3FCC087FA}"/>
              </a:ext>
            </a:extLst>
          </p:cNvPr>
          <p:cNvSpPr/>
          <p:nvPr/>
        </p:nvSpPr>
        <p:spPr>
          <a:xfrm>
            <a:off x="762000" y="2222500"/>
            <a:ext cx="5080000" cy="508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6ADFDA-683F-4DFC-A2B7-997A570FC02E}"/>
              </a:ext>
            </a:extLst>
          </p:cNvPr>
          <p:cNvSpPr txBox="1"/>
          <p:nvPr/>
        </p:nvSpPr>
        <p:spPr>
          <a:xfrm>
            <a:off x="1016000" y="2476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F0F0F0"/>
                </a:solidFill>
                <a:latin typeface="맑은 고딕"/>
                <a:ea typeface="맑은 고딕"/>
              </a:rPr>
              <a:t>프로젝트 단계별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2DC5AD-655B-42F6-9C2F-4BEDEBF7116D}"/>
              </a:ext>
            </a:extLst>
          </p:cNvPr>
          <p:cNvSpPr txBox="1"/>
          <p:nvPr/>
        </p:nvSpPr>
        <p:spPr>
          <a:xfrm>
            <a:off x="1016000" y="2921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헤더 박스 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+  [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단계 편집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]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버튼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549A61-2CAA-471B-936C-160894760EF1}"/>
              </a:ext>
            </a:extLst>
          </p:cNvPr>
          <p:cNvSpPr/>
          <p:nvPr/>
        </p:nvSpPr>
        <p:spPr>
          <a:xfrm>
            <a:off x="1016000" y="3429000"/>
            <a:ext cx="4572000" cy="406400"/>
          </a:xfrm>
          <a:prstGeom prst="rect">
            <a:avLst/>
          </a:prstGeom>
          <a:solidFill>
            <a:srgbClr val="1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1B06E-DB4F-4245-B4A9-92CD6FB78C42}"/>
              </a:ext>
            </a:extLst>
          </p:cNvPr>
          <p:cNvSpPr txBox="1"/>
          <p:nvPr/>
        </p:nvSpPr>
        <p:spPr>
          <a:xfrm>
            <a:off x="1016000" y="35179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[ 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단계 편집 </a:t>
            </a:r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]</a:t>
            </a:r>
            <a:endParaRPr lang="ko-KR" altLang="en-US" sz="14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B077171-408B-4651-B6BC-4050748AD393}"/>
              </a:ext>
            </a:extLst>
          </p:cNvPr>
          <p:cNvSpPr/>
          <p:nvPr/>
        </p:nvSpPr>
        <p:spPr>
          <a:xfrm>
            <a:off x="6350000" y="2222500"/>
            <a:ext cx="5080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8C0EE60-955B-4EE3-BB2B-4BB874F80418}"/>
              </a:ext>
            </a:extLst>
          </p:cNvPr>
          <p:cNvSpPr/>
          <p:nvPr/>
        </p:nvSpPr>
        <p:spPr>
          <a:xfrm>
            <a:off x="6350000" y="2222500"/>
            <a:ext cx="5080000" cy="508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AF3B6F-15C6-4FB3-8F70-9F1B6F9D022F}"/>
              </a:ext>
            </a:extLst>
          </p:cNvPr>
          <p:cNvSpPr txBox="1"/>
          <p:nvPr/>
        </p:nvSpPr>
        <p:spPr>
          <a:xfrm>
            <a:off x="6604000" y="2476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F0F0F0"/>
                </a:solidFill>
                <a:latin typeface="맑은 고딕"/>
                <a:ea typeface="맑은 고딕"/>
              </a:rPr>
              <a:t>셋업 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4118B7-82C7-4CC6-AEF4-D3CE3EA0FF38}"/>
              </a:ext>
            </a:extLst>
          </p:cNvPr>
          <p:cNvSpPr txBox="1"/>
          <p:nvPr/>
        </p:nvSpPr>
        <p:spPr>
          <a:xfrm>
            <a:off x="6604000" y="2921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헤더 박스 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+  [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셋업 일정 편집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]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버튼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06620D6-5832-4E39-8635-DB55AABE4AF4}"/>
              </a:ext>
            </a:extLst>
          </p:cNvPr>
          <p:cNvSpPr/>
          <p:nvPr/>
        </p:nvSpPr>
        <p:spPr>
          <a:xfrm>
            <a:off x="6604000" y="3429000"/>
            <a:ext cx="4572000" cy="406400"/>
          </a:xfrm>
          <a:prstGeom prst="rect">
            <a:avLst/>
          </a:prstGeom>
          <a:solidFill>
            <a:srgbClr val="1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BD3E48-3056-42C2-B990-9E10CD275F9C}"/>
              </a:ext>
            </a:extLst>
          </p:cNvPr>
          <p:cNvSpPr txBox="1"/>
          <p:nvPr/>
        </p:nvSpPr>
        <p:spPr>
          <a:xfrm>
            <a:off x="6604000" y="35179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[ 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셋업 일정 편집 </a:t>
            </a:r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]</a:t>
            </a:r>
            <a:endParaRPr lang="ko-KR" altLang="en-US" sz="14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1510A2-F26B-4394-9E94-283615599754}"/>
              </a:ext>
            </a:extLst>
          </p:cNvPr>
          <p:cNvSpPr txBox="1"/>
          <p:nvPr/>
        </p:nvSpPr>
        <p:spPr>
          <a:xfrm>
            <a:off x="762000" y="6096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6AD55"/>
                </a:solidFill>
                <a:latin typeface="맑은 고딕"/>
                <a:ea typeface="맑은 고딕"/>
              </a:rPr>
              <a:t>양쪽 모두 동일 </a:t>
            </a:r>
            <a:r>
              <a:rPr lang="en-US" altLang="ko-KR" sz="1300">
                <a:solidFill>
                  <a:srgbClr val="F6AD55"/>
                </a:solidFill>
                <a:latin typeface="맑은 고딕"/>
                <a:ea typeface="맑은 고딕"/>
              </a:rPr>
              <a:t>UX  —  </a:t>
            </a:r>
            <a:r>
              <a:rPr lang="ko-KR" altLang="en-US" sz="1300">
                <a:solidFill>
                  <a:srgbClr val="F6AD55"/>
                </a:solidFill>
                <a:latin typeface="맑은 고딕"/>
                <a:ea typeface="맑은 고딕"/>
              </a:rPr>
              <a:t>익히면 한 번에 쓸 수 있다</a:t>
            </a:r>
          </a:p>
        </p:txBody>
      </p:sp>
    </p:spTree>
    <p:extLst>
      <p:ext uri="{BB962C8B-B14F-4D97-AF65-F5344CB8AC3E}">
        <p14:creationId xmlns:p14="http://schemas.microsoft.com/office/powerpoint/2010/main" val="910756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47B3A6-E3BD-4400-9EA3-637644AC508D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SCHEDULE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926BCF-CE4E-40D8-B026-2FAEEB4A26E0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단계 편집 모달 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(PM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이상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3200" b="1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382F95-7C3A-4762-A01D-B94CFDB6859C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7E076D-4E73-412F-81BE-408482F864C2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모든 변경은 활동 이력에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PHASE_DEFINE (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추가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N ·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수정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M ·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삭제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K)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로 자동 기록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A65A4B-EABD-4967-BCB0-6FB2CD7CDB4B}"/>
              </a:ext>
            </a:extLst>
          </p:cNvPr>
          <p:cNvSpPr/>
          <p:nvPr/>
        </p:nvSpPr>
        <p:spPr>
          <a:xfrm>
            <a:off x="762000" y="2222500"/>
            <a:ext cx="76200" cy="508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CF0A0-1B1A-43AE-9CEA-45777D7D96BF}"/>
              </a:ext>
            </a:extLst>
          </p:cNvPr>
          <p:cNvSpPr txBox="1"/>
          <p:nvPr/>
        </p:nvSpPr>
        <p:spPr>
          <a:xfrm>
            <a:off x="1016000" y="23114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이름 변경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/ 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추가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/ 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삭제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/ 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위↑↓ 순서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9993C49-471B-4598-8EE7-EB90248EBAE0}"/>
              </a:ext>
            </a:extLst>
          </p:cNvPr>
          <p:cNvSpPr/>
          <p:nvPr/>
        </p:nvSpPr>
        <p:spPr>
          <a:xfrm>
            <a:off x="762000" y="2882900"/>
            <a:ext cx="76200" cy="508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1255C4-B20E-468B-83D3-C067389B96B4}"/>
              </a:ext>
            </a:extLst>
          </p:cNvPr>
          <p:cNvSpPr txBox="1"/>
          <p:nvPr/>
        </p:nvSpPr>
        <p:spPr>
          <a:xfrm>
            <a:off x="1016000" y="29718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단계마다 시작일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종료일 직접 지정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9CF835-82D0-4D2E-AA95-37445C211E72}"/>
              </a:ext>
            </a:extLst>
          </p:cNvPr>
          <p:cNvSpPr/>
          <p:nvPr/>
        </p:nvSpPr>
        <p:spPr>
          <a:xfrm>
            <a:off x="762000" y="3543300"/>
            <a:ext cx="76200" cy="508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DC87A8-E1C0-4631-A74C-A604424A9E50}"/>
              </a:ext>
            </a:extLst>
          </p:cNvPr>
          <p:cNvSpPr txBox="1"/>
          <p:nvPr/>
        </p:nvSpPr>
        <p:spPr>
          <a:xfrm>
            <a:off x="1016000" y="36322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균등 분배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프로젝트 시작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~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종료를 단계 수로 자동 분배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8FAE44-1509-4419-BAB6-32188272D8B7}"/>
              </a:ext>
            </a:extLst>
          </p:cNvPr>
          <p:cNvSpPr/>
          <p:nvPr/>
        </p:nvSpPr>
        <p:spPr>
          <a:xfrm>
            <a:off x="762000" y="4203700"/>
            <a:ext cx="76200" cy="508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182F1-6067-449A-876E-F1C5B5F6B7BB}"/>
              </a:ext>
            </a:extLst>
          </p:cNvPr>
          <p:cNvSpPr txBox="1"/>
          <p:nvPr/>
        </p:nvSpPr>
        <p:spPr>
          <a:xfrm>
            <a:off x="1016000" y="42926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일정 비우기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모든 단계 일정 초기화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간트는 균등 분배 폴백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15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170675-3C89-4CE5-9060-DCC101CADE36}"/>
              </a:ext>
            </a:extLst>
          </p:cNvPr>
          <p:cNvSpPr/>
          <p:nvPr/>
        </p:nvSpPr>
        <p:spPr>
          <a:xfrm>
            <a:off x="762000" y="4864100"/>
            <a:ext cx="76200" cy="508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9F5F7B-5E94-4565-8481-8CD0531DF749}"/>
              </a:ext>
            </a:extLst>
          </p:cNvPr>
          <p:cNvSpPr txBox="1"/>
          <p:nvPr/>
        </p:nvSpPr>
        <p:spPr>
          <a:xfrm>
            <a:off x="1016000" y="49530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마일스톤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(SOP)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토글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켜면 간트에 빨간 ◆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+ SOP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라벨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B1F2D4-0071-459F-A8EB-DF6F3D717F93}"/>
              </a:ext>
            </a:extLst>
          </p:cNvPr>
          <p:cNvSpPr txBox="1"/>
          <p:nvPr/>
        </p:nvSpPr>
        <p:spPr>
          <a:xfrm>
            <a:off x="762000" y="5969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6AD55"/>
                </a:solidFill>
                <a:latin typeface="맑은 고딕"/>
                <a:ea typeface="맑은 고딕"/>
              </a:rPr>
              <a:t>💡  셋업 일정 모달도 동일 </a:t>
            </a:r>
            <a:r>
              <a:rPr lang="en-US" altLang="ko-KR" sz="1300">
                <a:solidFill>
                  <a:srgbClr val="F6AD55"/>
                </a:solidFill>
                <a:latin typeface="맑은 고딕"/>
                <a:ea typeface="맑은 고딕"/>
              </a:rPr>
              <a:t>UX  (SETUP_DEFINE </a:t>
            </a:r>
            <a:r>
              <a:rPr lang="ko-KR" altLang="en-US" sz="1300">
                <a:solidFill>
                  <a:srgbClr val="F6AD55"/>
                </a:solidFill>
                <a:latin typeface="맑은 고딕"/>
                <a:ea typeface="맑은 고딕"/>
              </a:rPr>
              <a:t>이력</a:t>
            </a:r>
            <a:r>
              <a:rPr lang="en-US" altLang="ko-KR" sz="1300">
                <a:solidFill>
                  <a:srgbClr val="F6AD55"/>
                </a:solidFill>
                <a:latin typeface="맑은 고딕"/>
                <a:ea typeface="맑은 고딕"/>
              </a:rPr>
              <a:t>)</a:t>
            </a:r>
            <a:endParaRPr lang="ko-KR" altLang="en-US" sz="1300">
              <a:solidFill>
                <a:srgbClr val="F6AD55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118143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1C2D49-6FA2-4417-8F54-0531DECC9295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SCHEDULE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266804-EC4A-463B-B449-E4B377A5ED70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간트차트 보기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2DDCD35-BCB9-4ABF-A870-59F7D0DF6F18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FDFF6-7475-41D2-8253-9799F7E92D5B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우측 상단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리스트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간트차트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토글로 전환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B639EE-2F17-4C51-B2D9-812C78A75F47}"/>
              </a:ext>
            </a:extLst>
          </p:cNvPr>
          <p:cNvSpPr/>
          <p:nvPr/>
        </p:nvSpPr>
        <p:spPr>
          <a:xfrm>
            <a:off x="762000" y="2222500"/>
            <a:ext cx="10668000" cy="6985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4EB1CA-CFD7-488C-89ED-0102F6D8CBB5}"/>
              </a:ext>
            </a:extLst>
          </p:cNvPr>
          <p:cNvSpPr txBox="1"/>
          <p:nvPr/>
        </p:nvSpPr>
        <p:spPr>
          <a:xfrm>
            <a:off x="1016000" y="2324100"/>
            <a:ext cx="304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00D4AA"/>
                </a:solidFill>
                <a:latin typeface="맑은 고딕"/>
                <a:ea typeface="맑은 고딕"/>
              </a:rPr>
              <a:t>단계별 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5BE18C-1A4E-4433-A513-22917F905F71}"/>
              </a:ext>
            </a:extLst>
          </p:cNvPr>
          <p:cNvSpPr txBox="1"/>
          <p:nvPr/>
        </p:nvSpPr>
        <p:spPr>
          <a:xfrm>
            <a:off x="1016000" y="26416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각 프로젝트 한 행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막대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8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단계 색 분할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A856CE-48CA-406B-8876-B844D02B0CF1}"/>
              </a:ext>
            </a:extLst>
          </p:cNvPr>
          <p:cNvSpPr/>
          <p:nvPr/>
        </p:nvSpPr>
        <p:spPr>
          <a:xfrm>
            <a:off x="762000" y="3022600"/>
            <a:ext cx="10668000" cy="6985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3335B8-6DAD-47DD-92FC-42A3FFC7C428}"/>
              </a:ext>
            </a:extLst>
          </p:cNvPr>
          <p:cNvSpPr txBox="1"/>
          <p:nvPr/>
        </p:nvSpPr>
        <p:spPr>
          <a:xfrm>
            <a:off x="1016000" y="3124200"/>
            <a:ext cx="304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00D4AA"/>
                </a:solidFill>
                <a:latin typeface="맑은 고딕"/>
                <a:ea typeface="맑은 고딕"/>
              </a:rPr>
              <a:t>셋업 일정 탭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37DC1A-F368-4981-8A4A-DE3BCC0810E6}"/>
              </a:ext>
            </a:extLst>
          </p:cNvPr>
          <p:cNvSpPr txBox="1"/>
          <p:nvPr/>
        </p:nvSpPr>
        <p:spPr>
          <a:xfrm>
            <a:off x="1016000" y="34417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프로젝트별 그룹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헤더에 담당자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단계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진척률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작업수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95AAE96-FCE1-43EB-8D2D-B905AFF87005}"/>
              </a:ext>
            </a:extLst>
          </p:cNvPr>
          <p:cNvSpPr/>
          <p:nvPr/>
        </p:nvSpPr>
        <p:spPr>
          <a:xfrm>
            <a:off x="762000" y="3822700"/>
            <a:ext cx="10668000" cy="6985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6CF58-C017-4531-B42B-09139FC06A62}"/>
              </a:ext>
            </a:extLst>
          </p:cNvPr>
          <p:cNvSpPr txBox="1"/>
          <p:nvPr/>
        </p:nvSpPr>
        <p:spPr>
          <a:xfrm>
            <a:off x="1016000" y="3924300"/>
            <a:ext cx="304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00D4AA"/>
                </a:solidFill>
                <a:latin typeface="맑은 고딕"/>
                <a:ea typeface="맑은 고딕"/>
              </a:rPr>
              <a:t>마일스톤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4372BE-60A4-452E-8B61-0F573F92629F}"/>
              </a:ext>
            </a:extLst>
          </p:cNvPr>
          <p:cNvSpPr txBox="1"/>
          <p:nvPr/>
        </p:nvSpPr>
        <p:spPr>
          <a:xfrm>
            <a:off x="1016000" y="42418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빨간 ◆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+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종료일 라벨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D-7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이내 펄스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71165AB-A7C5-4496-81A7-BCAACB99D6F1}"/>
              </a:ext>
            </a:extLst>
          </p:cNvPr>
          <p:cNvSpPr/>
          <p:nvPr/>
        </p:nvSpPr>
        <p:spPr>
          <a:xfrm>
            <a:off x="762000" y="4622800"/>
            <a:ext cx="10668000" cy="6985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499F85-FE11-4179-BFBC-8138B709901E}"/>
              </a:ext>
            </a:extLst>
          </p:cNvPr>
          <p:cNvSpPr txBox="1"/>
          <p:nvPr/>
        </p:nvSpPr>
        <p:spPr>
          <a:xfrm>
            <a:off x="1016000" y="4724400"/>
            <a:ext cx="304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00D4AA"/>
                </a:solidFill>
                <a:latin typeface="맑은 고딕"/>
                <a:ea typeface="맑은 고딕"/>
              </a:rPr>
              <a:t>출장 일정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A632EF-2D83-460B-B22F-42490039B995}"/>
              </a:ext>
            </a:extLst>
          </p:cNvPr>
          <p:cNvSpPr txBox="1"/>
          <p:nvPr/>
        </p:nvSpPr>
        <p:spPr>
          <a:xfrm>
            <a:off x="1016000" y="50419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인디고 막대 자동 표시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인력 분산 한눈에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9BFB1A-1BB5-4180-9917-FC32B4AFFDD5}"/>
              </a:ext>
            </a:extLst>
          </p:cNvPr>
          <p:cNvSpPr/>
          <p:nvPr/>
        </p:nvSpPr>
        <p:spPr>
          <a:xfrm>
            <a:off x="762000" y="5422900"/>
            <a:ext cx="10668000" cy="6985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3D5538-D652-4507-95EC-A706E7DEA072}"/>
              </a:ext>
            </a:extLst>
          </p:cNvPr>
          <p:cNvSpPr txBox="1"/>
          <p:nvPr/>
        </p:nvSpPr>
        <p:spPr>
          <a:xfrm>
            <a:off x="1016000" y="5524500"/>
            <a:ext cx="304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00D4AA"/>
                </a:solidFill>
                <a:latin typeface="맑은 고딕"/>
                <a:ea typeface="맑은 고딕"/>
              </a:rPr>
              <a:t>오늘 표시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03A4F4-599E-4257-A10E-E96145E8B38E}"/>
              </a:ext>
            </a:extLst>
          </p:cNvPr>
          <p:cNvSpPr txBox="1"/>
          <p:nvPr/>
        </p:nvSpPr>
        <p:spPr>
          <a:xfrm>
            <a:off x="1016000" y="5842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빨간 점선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+  "▼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오늘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"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알약</a:t>
            </a:r>
          </a:p>
        </p:txBody>
      </p:sp>
    </p:spTree>
    <p:extLst>
      <p:ext uri="{BB962C8B-B14F-4D97-AF65-F5344CB8AC3E}">
        <p14:creationId xmlns:p14="http://schemas.microsoft.com/office/powerpoint/2010/main" val="3868769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EC6418-23D5-4DC4-B2BF-8C35E83D4ADA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SCHEDULE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57709F-B478-4C82-B5C5-5B6C0420FECE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간트 조작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단축키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ECAACA-0BDB-4386-A3D7-E54B24D42B1A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A38AD-9411-4A3F-8A35-A1CF8D48368C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직접 시연 권장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익히면 매우 빠르다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7F42A59-28D1-431E-A74A-A546238305E8}"/>
              </a:ext>
            </a:extLst>
          </p:cNvPr>
          <p:cNvSpPr/>
          <p:nvPr/>
        </p:nvSpPr>
        <p:spPr>
          <a:xfrm>
            <a:off x="762000" y="2286000"/>
            <a:ext cx="3048000" cy="635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15B31F-BE53-4FBC-82B7-7EF71A523FEE}"/>
              </a:ext>
            </a:extLst>
          </p:cNvPr>
          <p:cNvSpPr txBox="1"/>
          <p:nvPr/>
        </p:nvSpPr>
        <p:spPr>
          <a:xfrm>
            <a:off x="762000" y="2438400"/>
            <a:ext cx="304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1A2A3A"/>
                </a:solidFill>
                <a:latin typeface="맑은 고딕"/>
                <a:ea typeface="맑은 고딕"/>
              </a:rPr>
              <a:t>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415380-DCD4-4508-9835-AD94ACFC54F6}"/>
              </a:ext>
            </a:extLst>
          </p:cNvPr>
          <p:cNvSpPr/>
          <p:nvPr/>
        </p:nvSpPr>
        <p:spPr>
          <a:xfrm>
            <a:off x="3810000" y="2286000"/>
            <a:ext cx="7620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555C1F-ED70-4DF1-B4F2-718FC8CFC774}"/>
              </a:ext>
            </a:extLst>
          </p:cNvPr>
          <p:cNvSpPr txBox="1"/>
          <p:nvPr/>
        </p:nvSpPr>
        <p:spPr>
          <a:xfrm>
            <a:off x="4064000" y="2451100"/>
            <a:ext cx="736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줌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(0.5x ~ 4x)</a:t>
            </a:r>
            <a:endParaRPr lang="ko-KR" altLang="en-US" sz="15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B2CCD62-A56E-4242-B71C-9B1A509ADC37}"/>
              </a:ext>
            </a:extLst>
          </p:cNvPr>
          <p:cNvSpPr/>
          <p:nvPr/>
        </p:nvSpPr>
        <p:spPr>
          <a:xfrm>
            <a:off x="762000" y="3048000"/>
            <a:ext cx="3048000" cy="635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7D70C5-8772-4869-AD8A-46B2D87ABF6E}"/>
              </a:ext>
            </a:extLst>
          </p:cNvPr>
          <p:cNvSpPr txBox="1"/>
          <p:nvPr/>
        </p:nvSpPr>
        <p:spPr>
          <a:xfrm>
            <a:off x="762000" y="3200400"/>
            <a:ext cx="304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700" b="1">
                <a:solidFill>
                  <a:srgbClr val="1A2A3A"/>
                </a:solidFill>
                <a:latin typeface="맑은 고딕"/>
                <a:ea typeface="맑은 고딕"/>
              </a:rPr>
              <a:t>Shift + </a:t>
            </a:r>
            <a:r>
              <a:rPr lang="ko-KR" altLang="en-US" sz="1700" b="1">
                <a:solidFill>
                  <a:srgbClr val="1A2A3A"/>
                </a:solidFill>
                <a:latin typeface="맑은 고딕"/>
                <a:ea typeface="맑은 고딕"/>
              </a:rPr>
              <a:t>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D235D07-8E7F-4331-9568-2209E2C79744}"/>
              </a:ext>
            </a:extLst>
          </p:cNvPr>
          <p:cNvSpPr/>
          <p:nvPr/>
        </p:nvSpPr>
        <p:spPr>
          <a:xfrm>
            <a:off x="3810000" y="3048000"/>
            <a:ext cx="7620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827956-5C9B-40D8-AC5C-5A1935DC405C}"/>
              </a:ext>
            </a:extLst>
          </p:cNvPr>
          <p:cNvSpPr txBox="1"/>
          <p:nvPr/>
        </p:nvSpPr>
        <p:spPr>
          <a:xfrm>
            <a:off x="4064000" y="3213100"/>
            <a:ext cx="736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가로 이동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56EC44-AC0E-47D1-ADC4-EAD3FD35AC82}"/>
              </a:ext>
            </a:extLst>
          </p:cNvPr>
          <p:cNvSpPr/>
          <p:nvPr/>
        </p:nvSpPr>
        <p:spPr>
          <a:xfrm>
            <a:off x="762000" y="3810000"/>
            <a:ext cx="3048000" cy="635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48C0FF-D683-4702-A2DA-A4F2BB7BFCD1}"/>
              </a:ext>
            </a:extLst>
          </p:cNvPr>
          <p:cNvSpPr txBox="1"/>
          <p:nvPr/>
        </p:nvSpPr>
        <p:spPr>
          <a:xfrm>
            <a:off x="762000" y="3962400"/>
            <a:ext cx="304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700" b="1">
                <a:solidFill>
                  <a:srgbClr val="1A2A3A"/>
                </a:solidFill>
                <a:latin typeface="맑은 고딕"/>
                <a:ea typeface="맑은 고딕"/>
              </a:rPr>
              <a:t>ZoomIn / Out</a:t>
            </a:r>
            <a:endParaRPr lang="ko-KR" altLang="en-US" sz="17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67A7DC2-052C-481F-B72F-2EA5DFBECA9C}"/>
              </a:ext>
            </a:extLst>
          </p:cNvPr>
          <p:cNvSpPr/>
          <p:nvPr/>
        </p:nvSpPr>
        <p:spPr>
          <a:xfrm>
            <a:off x="3810000" y="3810000"/>
            <a:ext cx="7620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8BE4AF-64D4-45FE-95AA-58D74EB0CF9A}"/>
              </a:ext>
            </a:extLst>
          </p:cNvPr>
          <p:cNvSpPr txBox="1"/>
          <p:nvPr/>
        </p:nvSpPr>
        <p:spPr>
          <a:xfrm>
            <a:off x="4064000" y="3975100"/>
            <a:ext cx="736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버튼으로도 가능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AAE4634-79CB-41D4-BD2B-3458C5366B06}"/>
              </a:ext>
            </a:extLst>
          </p:cNvPr>
          <p:cNvSpPr/>
          <p:nvPr/>
        </p:nvSpPr>
        <p:spPr>
          <a:xfrm>
            <a:off x="762000" y="4572000"/>
            <a:ext cx="3048000" cy="635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351853-862C-414D-B0BA-0ED572E151D1}"/>
              </a:ext>
            </a:extLst>
          </p:cNvPr>
          <p:cNvSpPr txBox="1"/>
          <p:nvPr/>
        </p:nvSpPr>
        <p:spPr>
          <a:xfrm>
            <a:off x="762000" y="4724400"/>
            <a:ext cx="304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1A2A3A"/>
                </a:solidFill>
                <a:latin typeface="맑은 고딕"/>
                <a:ea typeface="맑은 고딕"/>
              </a:rPr>
              <a:t>오늘 버튼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8FA7099-8E55-4905-957E-261DCB696A4C}"/>
              </a:ext>
            </a:extLst>
          </p:cNvPr>
          <p:cNvSpPr/>
          <p:nvPr/>
        </p:nvSpPr>
        <p:spPr>
          <a:xfrm>
            <a:off x="3810000" y="4572000"/>
            <a:ext cx="7620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6083D1-0D6B-46F3-92FB-FBFE2C9A5C9B}"/>
              </a:ext>
            </a:extLst>
          </p:cNvPr>
          <p:cNvSpPr txBox="1"/>
          <p:nvPr/>
        </p:nvSpPr>
        <p:spPr>
          <a:xfrm>
            <a:off x="4064000" y="4737100"/>
            <a:ext cx="736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차트 진입 시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today-1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개월 위치로 자동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40938EA-8450-4A5C-B11E-18D805A72437}"/>
              </a:ext>
            </a:extLst>
          </p:cNvPr>
          <p:cNvSpPr/>
          <p:nvPr/>
        </p:nvSpPr>
        <p:spPr>
          <a:xfrm>
            <a:off x="762000" y="5334000"/>
            <a:ext cx="3048000" cy="635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DA2F5C-2CBA-4E9D-8D51-4DE412702C87}"/>
              </a:ext>
            </a:extLst>
          </p:cNvPr>
          <p:cNvSpPr txBox="1"/>
          <p:nvPr/>
        </p:nvSpPr>
        <p:spPr>
          <a:xfrm>
            <a:off x="762000" y="5486400"/>
            <a:ext cx="304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1A2A3A"/>
                </a:solidFill>
                <a:latin typeface="맑은 고딕"/>
                <a:ea typeface="맑은 고딕"/>
              </a:rPr>
              <a:t>좌측 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12D35AD-7F77-44AB-BD44-9E6C81C9C06D}"/>
              </a:ext>
            </a:extLst>
          </p:cNvPr>
          <p:cNvSpPr/>
          <p:nvPr/>
        </p:nvSpPr>
        <p:spPr>
          <a:xfrm>
            <a:off x="3810000" y="5334000"/>
            <a:ext cx="7620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89CF28-1786-4BD9-9406-E57C9491720C}"/>
              </a:ext>
            </a:extLst>
          </p:cNvPr>
          <p:cNvSpPr txBox="1"/>
          <p:nvPr/>
        </p:nvSpPr>
        <p:spPr>
          <a:xfrm>
            <a:off x="4064000" y="5499100"/>
            <a:ext cx="736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가로 스크롤 무관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월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/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일 헤더는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sticky-top</a:t>
            </a:r>
            <a:endParaRPr lang="ko-KR" altLang="en-US" sz="15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37353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0281F1-E6E2-40E5-BAA9-DC7C142214B8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SCHEDULE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CF18DE-C356-47F6-AA10-0F8F3D06B3AA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프로젝트 다중 필터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667DAE-7281-4240-AAAB-A1F409C25212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6D283-2B2B-48AF-83CD-26243909296C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필터를 잘 쓰면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내가 봐야 할 것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만 정확히 본다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98AB21-BB2B-476D-9373-07399F2B7EE5}"/>
              </a:ext>
            </a:extLst>
          </p:cNvPr>
          <p:cNvSpPr/>
          <p:nvPr/>
        </p:nvSpPr>
        <p:spPr>
          <a:xfrm>
            <a:off x="762000" y="2222500"/>
            <a:ext cx="5080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716CBD-242A-4747-AD22-D59CD8DDB7C9}"/>
              </a:ext>
            </a:extLst>
          </p:cNvPr>
          <p:cNvSpPr txBox="1"/>
          <p:nvPr/>
        </p:nvSpPr>
        <p:spPr>
          <a:xfrm>
            <a:off x="1016000" y="2476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00D4AA"/>
                </a:solidFill>
                <a:latin typeface="맑은 고딕"/>
                <a:ea typeface="맑은 고딕"/>
              </a:rPr>
              <a:t>간트 좌상단 필터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B9307-1A39-423B-B703-5393F3195DCA}"/>
              </a:ext>
            </a:extLst>
          </p:cNvPr>
          <p:cNvSpPr txBox="1"/>
          <p:nvPr/>
        </p:nvSpPr>
        <p:spPr>
          <a:xfrm>
            <a:off x="1143000" y="29845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체크박스 드롭다운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E5EA9D-E0D0-4477-A9CC-A8A5CBC71CC1}"/>
              </a:ext>
            </a:extLst>
          </p:cNvPr>
          <p:cNvSpPr txBox="1"/>
          <p:nvPr/>
        </p:nvSpPr>
        <p:spPr>
          <a:xfrm>
            <a:off x="1143000" y="33909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프로젝트 검색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F0E33C-84DD-4ACA-B9B4-BFDBB0FB3283}"/>
              </a:ext>
            </a:extLst>
          </p:cNvPr>
          <p:cNvSpPr txBox="1"/>
          <p:nvPr/>
        </p:nvSpPr>
        <p:spPr>
          <a:xfrm>
            <a:off x="1143000" y="37973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전체 선택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해제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E2EAA5-E2F7-4DDD-B389-F22735582F7F}"/>
              </a:ext>
            </a:extLst>
          </p:cNvPr>
          <p:cNvSpPr txBox="1"/>
          <p:nvPr/>
        </p:nvSpPr>
        <p:spPr>
          <a:xfrm>
            <a:off x="1143000" y="42037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부분 선택 시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"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전체 보기 초기화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"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7B229C0-F5F3-45F9-8797-1890CFEA5E3D}"/>
              </a:ext>
            </a:extLst>
          </p:cNvPr>
          <p:cNvSpPr/>
          <p:nvPr/>
        </p:nvSpPr>
        <p:spPr>
          <a:xfrm>
            <a:off x="6350000" y="2222500"/>
            <a:ext cx="5080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C67356-223C-498D-90BE-E31EC694E6BF}"/>
              </a:ext>
            </a:extLst>
          </p:cNvPr>
          <p:cNvSpPr txBox="1"/>
          <p:nvPr/>
        </p:nvSpPr>
        <p:spPr>
          <a:xfrm>
            <a:off x="6604000" y="2476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667EEA"/>
                </a:solidFill>
                <a:latin typeface="맑은 고딕"/>
                <a:ea typeface="맑은 고딕"/>
              </a:rPr>
              <a:t>도메인 필터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03F32E-A54E-47A8-B514-BBC921248F35}"/>
              </a:ext>
            </a:extLst>
          </p:cNvPr>
          <p:cNvSpPr txBox="1"/>
          <p:nvPr/>
        </p:nvSpPr>
        <p:spPr>
          <a:xfrm>
            <a:off x="6731000" y="29845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프로젝트 관리 우상단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62697C-D906-4637-96BD-4394D6D75357}"/>
              </a:ext>
            </a:extLst>
          </p:cNvPr>
          <p:cNvSpPr txBox="1"/>
          <p:nvPr/>
        </p:nvSpPr>
        <p:spPr>
          <a:xfrm>
            <a:off x="6731000" y="33909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반도체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디스플레이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/ 2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차전지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EFCD57-6618-4FF0-989A-D6BDF7CC4481}"/>
              </a:ext>
            </a:extLst>
          </p:cNvPr>
          <p:cNvSpPr txBox="1"/>
          <p:nvPr/>
        </p:nvSpPr>
        <p:spPr>
          <a:xfrm>
            <a:off x="6731000" y="37973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담당자 필터와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AND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조건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9B6B57-C202-42A8-8978-878C90F8DED6}"/>
              </a:ext>
            </a:extLst>
          </p:cNvPr>
          <p:cNvSpPr txBox="1"/>
          <p:nvPr/>
        </p:nvSpPr>
        <p:spPr>
          <a:xfrm>
            <a:off x="6731000" y="42037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리스트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간트 양쪽 적용</a:t>
            </a:r>
          </a:p>
        </p:txBody>
      </p:sp>
    </p:spTree>
    <p:extLst>
      <p:ext uri="{BB962C8B-B14F-4D97-AF65-F5344CB8AC3E}">
        <p14:creationId xmlns:p14="http://schemas.microsoft.com/office/powerpoint/2010/main" val="4618764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C36E12-E1C2-4266-A6D5-3819B553705F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MEETING NOTES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02ADC4-9565-4C72-811E-54C936273F17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회의록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빠른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상세 모드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DCBECFB-3D79-493C-89AD-66472DC804F3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91613-AA10-401B-9E59-CFA073C6D3CB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빠른 모드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=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일상 미팅 메모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상세 모드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=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정식 회의록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55BC30-5F41-4E93-B7B8-D780ABD792D6}"/>
              </a:ext>
            </a:extLst>
          </p:cNvPr>
          <p:cNvSpPr/>
          <p:nvPr/>
        </p:nvSpPr>
        <p:spPr>
          <a:xfrm>
            <a:off x="762000" y="2222500"/>
            <a:ext cx="5080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3D7412-75EB-4BD6-9840-F4229E880739}"/>
              </a:ext>
            </a:extLst>
          </p:cNvPr>
          <p:cNvSpPr/>
          <p:nvPr/>
        </p:nvSpPr>
        <p:spPr>
          <a:xfrm>
            <a:off x="762000" y="2222500"/>
            <a:ext cx="50800" cy="3556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49E9B2-F808-4C05-B299-B51D54C40ED2}"/>
              </a:ext>
            </a:extLst>
          </p:cNvPr>
          <p:cNvSpPr txBox="1"/>
          <p:nvPr/>
        </p:nvSpPr>
        <p:spPr>
          <a:xfrm>
            <a:off x="1016000" y="2476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00D4AA"/>
                </a:solidFill>
                <a:latin typeface="맑은 고딕"/>
                <a:ea typeface="맑은 고딕"/>
              </a:rPr>
              <a:t>빠른 모드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FD38A2-010E-4103-9D32-D3F1E53AD66B}"/>
              </a:ext>
            </a:extLst>
          </p:cNvPr>
          <p:cNvSpPr txBox="1"/>
          <p:nvPr/>
        </p:nvSpPr>
        <p:spPr>
          <a:xfrm>
            <a:off x="1143000" y="29845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본문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930B71-E925-4E98-87FF-5FE70B428E95}"/>
              </a:ext>
            </a:extLst>
          </p:cNvPr>
          <p:cNvSpPr txBox="1"/>
          <p:nvPr/>
        </p:nvSpPr>
        <p:spPr>
          <a:xfrm>
            <a:off x="1143000" y="33909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한줄 요약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387E32-B5C1-4969-9251-5995E31CAEE0}"/>
              </a:ext>
            </a:extLst>
          </p:cNvPr>
          <p:cNvSpPr txBox="1"/>
          <p:nvPr/>
        </p:nvSpPr>
        <p:spPr>
          <a:xfrm>
            <a:off x="1143000" y="37973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첨부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BCE7A8-5E6C-46BF-B7FA-0CFFB3BF6A5F}"/>
              </a:ext>
            </a:extLst>
          </p:cNvPr>
          <p:cNvSpPr txBox="1"/>
          <p:nvPr/>
        </p:nvSpPr>
        <p:spPr>
          <a:xfrm>
            <a:off x="1143000" y="46101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→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일상 미팅 메모용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D0FF7C-C70C-4BF3-B632-687381698C1F}"/>
              </a:ext>
            </a:extLst>
          </p:cNvPr>
          <p:cNvSpPr/>
          <p:nvPr/>
        </p:nvSpPr>
        <p:spPr>
          <a:xfrm>
            <a:off x="6350000" y="2222500"/>
            <a:ext cx="5080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D39857-4862-477E-A486-876A2387ED8A}"/>
              </a:ext>
            </a:extLst>
          </p:cNvPr>
          <p:cNvSpPr/>
          <p:nvPr/>
        </p:nvSpPr>
        <p:spPr>
          <a:xfrm>
            <a:off x="6350000" y="2222500"/>
            <a:ext cx="50800" cy="3556000"/>
          </a:xfrm>
          <a:prstGeom prst="rect">
            <a:avLst/>
          </a:prstGeom>
          <a:solidFill>
            <a:srgbClr val="667E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06489-0560-407F-96A7-8B6FF2D6F84B}"/>
              </a:ext>
            </a:extLst>
          </p:cNvPr>
          <p:cNvSpPr txBox="1"/>
          <p:nvPr/>
        </p:nvSpPr>
        <p:spPr>
          <a:xfrm>
            <a:off x="6604000" y="2476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667EEA"/>
                </a:solidFill>
                <a:latin typeface="맑은 고딕"/>
                <a:ea typeface="맑은 고딕"/>
              </a:rPr>
              <a:t>상세 모드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9C016E-636B-4058-8220-9C8F165B02A0}"/>
              </a:ext>
            </a:extLst>
          </p:cNvPr>
          <p:cNvSpPr txBox="1"/>
          <p:nvPr/>
        </p:nvSpPr>
        <p:spPr>
          <a:xfrm>
            <a:off x="6731000" y="29845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회의 일시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참석자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65E015-2F56-43D7-8B34-C9D81C88C556}"/>
              </a:ext>
            </a:extLst>
          </p:cNvPr>
          <p:cNvSpPr txBox="1"/>
          <p:nvPr/>
        </p:nvSpPr>
        <p:spPr>
          <a:xfrm>
            <a:off x="6731000" y="33909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결정사항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0EA98F-BC38-4645-86F9-4E0856AD8B72}"/>
              </a:ext>
            </a:extLst>
          </p:cNvPr>
          <p:cNvSpPr txBox="1"/>
          <p:nvPr/>
        </p:nvSpPr>
        <p:spPr>
          <a:xfrm>
            <a:off x="6731000" y="37973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액션 아이템 추가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9EEA4A-EA52-4347-8322-7744E33485EE}"/>
              </a:ext>
            </a:extLst>
          </p:cNvPr>
          <p:cNvSpPr txBox="1"/>
          <p:nvPr/>
        </p:nvSpPr>
        <p:spPr>
          <a:xfrm>
            <a:off x="6731000" y="42037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다중 파일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드래그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/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클릭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43CCC9-5C67-4462-BDC2-D1E5CE3B0A87}"/>
              </a:ext>
            </a:extLst>
          </p:cNvPr>
          <p:cNvSpPr txBox="1"/>
          <p:nvPr/>
        </p:nvSpPr>
        <p:spPr>
          <a:xfrm>
            <a:off x="6731000" y="46101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→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정식 회의록용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1FB0B3-0A44-4F39-9987-773777786DA5}"/>
              </a:ext>
            </a:extLst>
          </p:cNvPr>
          <p:cNvSpPr txBox="1"/>
          <p:nvPr/>
        </p:nvSpPr>
        <p:spPr>
          <a:xfrm>
            <a:off x="762000" y="6096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6AD55"/>
                </a:solidFill>
                <a:latin typeface="맑은 고딕"/>
                <a:ea typeface="맑은 고딕"/>
              </a:rPr>
              <a:t>등록 후 폼 자동 접힘  →  리스트가 즉시 보임  </a:t>
            </a:r>
            <a:r>
              <a:rPr lang="en-US" altLang="ko-KR" sz="1300">
                <a:solidFill>
                  <a:srgbClr val="F6AD5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6AD55"/>
                </a:solidFill>
                <a:latin typeface="맑은 고딕"/>
                <a:ea typeface="맑은 고딕"/>
              </a:rPr>
              <a:t>진행률 </a:t>
            </a:r>
            <a:r>
              <a:rPr lang="en-US" altLang="ko-KR" sz="1300">
                <a:solidFill>
                  <a:srgbClr val="F6AD55"/>
                </a:solidFill>
                <a:latin typeface="맑은 고딕"/>
                <a:ea typeface="맑은 고딕"/>
              </a:rPr>
              <a:t>"2/3 · 45%"</a:t>
            </a:r>
            <a:endParaRPr lang="ko-KR" altLang="en-US" sz="1300">
              <a:solidFill>
                <a:srgbClr val="F6AD55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176513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0EEB07-B762-4900-8332-4C19A9C72780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MEETING NOTES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97843B-A4DD-4F7D-81A6-C10697C1AC3C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회의록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=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타임라인 브랜치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20171-099D-476F-B8F7-61CDA218C469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5B38F-563C-4A71-B323-FD3115687635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캘린더 스타일 날짜 노드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+  amber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세로선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+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신선도 기반 색상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3271F8-00EB-4F94-AE22-96CFA358E36E}"/>
              </a:ext>
            </a:extLst>
          </p:cNvPr>
          <p:cNvSpPr/>
          <p:nvPr/>
        </p:nvSpPr>
        <p:spPr>
          <a:xfrm>
            <a:off x="1016000" y="2286000"/>
            <a:ext cx="50800" cy="35560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B691144-C631-4EB3-A736-26536A668DE9}"/>
              </a:ext>
            </a:extLst>
          </p:cNvPr>
          <p:cNvSpPr/>
          <p:nvPr/>
        </p:nvSpPr>
        <p:spPr>
          <a:xfrm>
            <a:off x="889000" y="2578100"/>
            <a:ext cx="304800" cy="304800"/>
          </a:xfrm>
          <a:prstGeom prst="ellipse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31B4B2-A511-4547-A6C5-355300A109E5}"/>
              </a:ext>
            </a:extLst>
          </p:cNvPr>
          <p:cNvSpPr/>
          <p:nvPr/>
        </p:nvSpPr>
        <p:spPr>
          <a:xfrm>
            <a:off x="1397000" y="2476500"/>
            <a:ext cx="1143000" cy="508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4701B4-3FDB-4A68-9485-3A246F34F76A}"/>
              </a:ext>
            </a:extLst>
          </p:cNvPr>
          <p:cNvSpPr txBox="1"/>
          <p:nvPr/>
        </p:nvSpPr>
        <p:spPr>
          <a:xfrm>
            <a:off x="1397000" y="2578100"/>
            <a:ext cx="114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F6AD55"/>
                </a:solidFill>
                <a:latin typeface="맑은 고딕"/>
                <a:ea typeface="맑은 고딕"/>
              </a:rPr>
              <a:t>11/10</a:t>
            </a:r>
            <a:endParaRPr lang="ko-KR" altLang="en-US" sz="1300" b="1">
              <a:solidFill>
                <a:srgbClr val="F6AD55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EDDA19-DE07-4CC9-9AE8-0D3E82472808}"/>
              </a:ext>
            </a:extLst>
          </p:cNvPr>
          <p:cNvSpPr txBox="1"/>
          <p:nvPr/>
        </p:nvSpPr>
        <p:spPr>
          <a:xfrm>
            <a:off x="2730500" y="2578100"/>
            <a:ext cx="850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킥오프 회의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요구사항 확정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ACF7CAB-8D01-4338-9584-6B9EA57CEA64}"/>
              </a:ext>
            </a:extLst>
          </p:cNvPr>
          <p:cNvSpPr/>
          <p:nvPr/>
        </p:nvSpPr>
        <p:spPr>
          <a:xfrm>
            <a:off x="889000" y="3340100"/>
            <a:ext cx="304800" cy="304800"/>
          </a:xfrm>
          <a:prstGeom prst="ellipse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FC6F8A-8B10-466E-BF6D-78A83B557873}"/>
              </a:ext>
            </a:extLst>
          </p:cNvPr>
          <p:cNvSpPr/>
          <p:nvPr/>
        </p:nvSpPr>
        <p:spPr>
          <a:xfrm>
            <a:off x="1397000" y="3238500"/>
            <a:ext cx="1143000" cy="508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9697CC-4961-4341-88C0-A642E70AF22E}"/>
              </a:ext>
            </a:extLst>
          </p:cNvPr>
          <p:cNvSpPr txBox="1"/>
          <p:nvPr/>
        </p:nvSpPr>
        <p:spPr>
          <a:xfrm>
            <a:off x="1397000" y="3340100"/>
            <a:ext cx="114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F6AD55"/>
                </a:solidFill>
                <a:latin typeface="맑은 고딕"/>
                <a:ea typeface="맑은 고딕"/>
              </a:rPr>
              <a:t>11/15</a:t>
            </a:r>
            <a:endParaRPr lang="ko-KR" altLang="en-US" sz="1300" b="1">
              <a:solidFill>
                <a:srgbClr val="F6AD55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A66EE8-9AC5-4330-BD28-E30832E1A61C}"/>
              </a:ext>
            </a:extLst>
          </p:cNvPr>
          <p:cNvSpPr txBox="1"/>
          <p:nvPr/>
        </p:nvSpPr>
        <p:spPr>
          <a:xfrm>
            <a:off x="2730500" y="3340100"/>
            <a:ext cx="850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설계 검토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—  ECN 3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건 합의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1DE4687-A866-400D-98C3-1C80509F91D1}"/>
              </a:ext>
            </a:extLst>
          </p:cNvPr>
          <p:cNvSpPr/>
          <p:nvPr/>
        </p:nvSpPr>
        <p:spPr>
          <a:xfrm>
            <a:off x="889000" y="4102100"/>
            <a:ext cx="304800" cy="304800"/>
          </a:xfrm>
          <a:prstGeom prst="ellipse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E8D0589-1EEE-426B-AD6A-582D0807DE3F}"/>
              </a:ext>
            </a:extLst>
          </p:cNvPr>
          <p:cNvSpPr/>
          <p:nvPr/>
        </p:nvSpPr>
        <p:spPr>
          <a:xfrm>
            <a:off x="1397000" y="4000500"/>
            <a:ext cx="1143000" cy="508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CEF7B5-0ED6-4F20-995E-51641002EC0C}"/>
              </a:ext>
            </a:extLst>
          </p:cNvPr>
          <p:cNvSpPr txBox="1"/>
          <p:nvPr/>
        </p:nvSpPr>
        <p:spPr>
          <a:xfrm>
            <a:off x="1397000" y="4102100"/>
            <a:ext cx="114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F6AD55"/>
                </a:solidFill>
                <a:latin typeface="맑은 고딕"/>
                <a:ea typeface="맑은 고딕"/>
              </a:rPr>
              <a:t>11/20</a:t>
            </a:r>
            <a:endParaRPr lang="ko-KR" altLang="en-US" sz="1300" b="1">
              <a:solidFill>
                <a:srgbClr val="F6AD55"/>
              </a:solidFill>
              <a:latin typeface="맑은 고딕"/>
              <a:ea typeface="맑은 고딕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DBF405-6240-4519-AE0F-4312CFA4A0C7}"/>
              </a:ext>
            </a:extLst>
          </p:cNvPr>
          <p:cNvSpPr txBox="1"/>
          <p:nvPr/>
        </p:nvSpPr>
        <p:spPr>
          <a:xfrm>
            <a:off x="2730500" y="4102100"/>
            <a:ext cx="850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셋업 중간 점검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—  NG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항목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2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건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2BE65AB-83F8-4E71-94C9-CB499250EE0F}"/>
              </a:ext>
            </a:extLst>
          </p:cNvPr>
          <p:cNvSpPr/>
          <p:nvPr/>
        </p:nvSpPr>
        <p:spPr>
          <a:xfrm>
            <a:off x="889000" y="4864100"/>
            <a:ext cx="304800" cy="304800"/>
          </a:xfrm>
          <a:prstGeom prst="ellipse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8839459-72E2-4CAB-812D-3D1A629D5B1B}"/>
              </a:ext>
            </a:extLst>
          </p:cNvPr>
          <p:cNvSpPr/>
          <p:nvPr/>
        </p:nvSpPr>
        <p:spPr>
          <a:xfrm>
            <a:off x="1397000" y="4762500"/>
            <a:ext cx="1143000" cy="508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967488-0954-4D40-A6E5-3E1B852EA9BC}"/>
              </a:ext>
            </a:extLst>
          </p:cNvPr>
          <p:cNvSpPr txBox="1"/>
          <p:nvPr/>
        </p:nvSpPr>
        <p:spPr>
          <a:xfrm>
            <a:off x="1397000" y="4864100"/>
            <a:ext cx="114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F6AD55"/>
                </a:solidFill>
                <a:latin typeface="맑은 고딕"/>
                <a:ea typeface="맑은 고딕"/>
              </a:rPr>
              <a:t>11/27</a:t>
            </a:r>
            <a:endParaRPr lang="ko-KR" altLang="en-US" sz="1300" b="1">
              <a:solidFill>
                <a:srgbClr val="F6AD55"/>
              </a:solidFill>
              <a:latin typeface="맑은 고딕"/>
              <a:ea typeface="맑은 고딕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CFF3DB-6CE9-47DD-AE29-EBBF87BCECC3}"/>
              </a:ext>
            </a:extLst>
          </p:cNvPr>
          <p:cNvSpPr txBox="1"/>
          <p:nvPr/>
        </p:nvSpPr>
        <p:spPr>
          <a:xfrm>
            <a:off x="2730500" y="4864100"/>
            <a:ext cx="850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최종 검수 준비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—  Buy-off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체크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78F389-7344-462B-BBB9-9E7D4029E595}"/>
              </a:ext>
            </a:extLst>
          </p:cNvPr>
          <p:cNvSpPr txBox="1"/>
          <p:nvPr/>
        </p:nvSpPr>
        <p:spPr>
          <a:xfrm>
            <a:off x="762000" y="6096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회의록 첨부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= [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프로젝트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] /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회의록 폴더로 자동 정리</a:t>
            </a:r>
          </a:p>
        </p:txBody>
      </p:sp>
    </p:spTree>
    <p:extLst>
      <p:ext uri="{BB962C8B-B14F-4D97-AF65-F5344CB8AC3E}">
        <p14:creationId xmlns:p14="http://schemas.microsoft.com/office/powerpoint/2010/main" val="3702261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A53EE8-B35C-4A0E-99C5-1D08E7735FDF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MEETING NOTES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FDB3BB-57C3-4488-8200-03C5BA3512A2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참고자료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회의록과 분리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3200" b="1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22FE2E-9291-49D7-8081-720F7796399A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0E524A-2028-4FE3-AE77-F0235117982D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사전 작업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시스템 설정에서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Drive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루트 폴더 등록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+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연결 테스트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C5C60B-72B4-405E-9733-E40347221AE2}"/>
              </a:ext>
            </a:extLst>
          </p:cNvPr>
          <p:cNvSpPr/>
          <p:nvPr/>
        </p:nvSpPr>
        <p:spPr>
          <a:xfrm>
            <a:off x="762000" y="2222500"/>
            <a:ext cx="10668000" cy="762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A44B5D-1213-427E-AF90-50120E6D313F}"/>
              </a:ext>
            </a:extLst>
          </p:cNvPr>
          <p:cNvSpPr txBox="1"/>
          <p:nvPr/>
        </p:nvSpPr>
        <p:spPr>
          <a:xfrm>
            <a:off x="762000" y="2438400"/>
            <a:ext cx="1066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00D4AA"/>
                </a:solidFill>
                <a:latin typeface="맑은 고딕"/>
                <a:ea typeface="맑은 고딕"/>
              </a:rPr>
              <a:t>📁  </a:t>
            </a:r>
            <a:r>
              <a:rPr lang="en-US" altLang="ko-KR" sz="1600" b="1">
                <a:solidFill>
                  <a:srgbClr val="00D4AA"/>
                </a:solidFill>
                <a:latin typeface="맑은 고딕"/>
                <a:ea typeface="맑은 고딕"/>
              </a:rPr>
              <a:t>[ </a:t>
            </a:r>
            <a:r>
              <a:rPr lang="ko-KR" altLang="en-US" sz="1600" b="1">
                <a:solidFill>
                  <a:srgbClr val="00D4AA"/>
                </a:solidFill>
                <a:latin typeface="맑은 고딕"/>
                <a:ea typeface="맑은 고딕"/>
              </a:rPr>
              <a:t>루트 </a:t>
            </a:r>
            <a:r>
              <a:rPr lang="en-US" altLang="ko-KR" sz="1600" b="1">
                <a:solidFill>
                  <a:srgbClr val="00D4AA"/>
                </a:solidFill>
                <a:latin typeface="맑은 고딕"/>
                <a:ea typeface="맑은 고딕"/>
              </a:rPr>
              <a:t>]  /  [ </a:t>
            </a:r>
            <a:r>
              <a:rPr lang="ko-KR" altLang="en-US" sz="1600" b="1">
                <a:solidFill>
                  <a:srgbClr val="00D4AA"/>
                </a:solidFill>
                <a:latin typeface="맑은 고딕"/>
                <a:ea typeface="맑은 고딕"/>
              </a:rPr>
              <a:t>고객사 </a:t>
            </a:r>
            <a:r>
              <a:rPr lang="en-US" altLang="ko-KR" sz="1600" b="1">
                <a:solidFill>
                  <a:srgbClr val="00D4AA"/>
                </a:solidFill>
                <a:latin typeface="맑은 고딕"/>
                <a:ea typeface="맑은 고딕"/>
              </a:rPr>
              <a:t>]  /  [ </a:t>
            </a:r>
            <a:r>
              <a:rPr lang="ko-KR" altLang="en-US" sz="1600" b="1">
                <a:solidFill>
                  <a:srgbClr val="00D4AA"/>
                </a:solidFill>
                <a:latin typeface="맑은 고딕"/>
                <a:ea typeface="맑은 고딕"/>
              </a:rPr>
              <a:t>프로젝트 </a:t>
            </a:r>
            <a:r>
              <a:rPr lang="en-US" altLang="ko-KR" sz="1600" b="1">
                <a:solidFill>
                  <a:srgbClr val="00D4AA"/>
                </a:solidFill>
                <a:latin typeface="맑은 고딕"/>
                <a:ea typeface="맑은 고딕"/>
              </a:rPr>
              <a:t>]  /  [ </a:t>
            </a:r>
            <a:r>
              <a:rPr lang="ko-KR" altLang="en-US" sz="1600" b="1">
                <a:solidFill>
                  <a:srgbClr val="00D4AA"/>
                </a:solidFill>
                <a:latin typeface="맑은 고딕"/>
                <a:ea typeface="맑은 고딕"/>
              </a:rPr>
              <a:t>카테고리 </a:t>
            </a:r>
            <a:r>
              <a:rPr lang="en-US" altLang="ko-KR" sz="1600" b="1">
                <a:solidFill>
                  <a:srgbClr val="00D4AA"/>
                </a:solidFill>
                <a:latin typeface="맑은 고딕"/>
                <a:ea typeface="맑은 고딕"/>
              </a:rPr>
              <a:t>]</a:t>
            </a:r>
            <a:endParaRPr lang="ko-KR" altLang="en-US" sz="16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8428D34-D893-45BD-8477-17027E35E0A5}"/>
              </a:ext>
            </a:extLst>
          </p:cNvPr>
          <p:cNvSpPr/>
          <p:nvPr/>
        </p:nvSpPr>
        <p:spPr>
          <a:xfrm>
            <a:off x="762000" y="3238500"/>
            <a:ext cx="257175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36FBE8A-AA37-4AF5-A1EE-86B002B86347}"/>
              </a:ext>
            </a:extLst>
          </p:cNvPr>
          <p:cNvSpPr/>
          <p:nvPr/>
        </p:nvSpPr>
        <p:spPr>
          <a:xfrm>
            <a:off x="762000" y="3238500"/>
            <a:ext cx="2571750" cy="50800"/>
          </a:xfrm>
          <a:prstGeom prst="rect">
            <a:avLst/>
          </a:prstGeom>
          <a:solidFill>
            <a:srgbClr val="667E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ABD294-A0E1-4075-AB5F-9DCEE116B05D}"/>
              </a:ext>
            </a:extLst>
          </p:cNvPr>
          <p:cNvSpPr txBox="1"/>
          <p:nvPr/>
        </p:nvSpPr>
        <p:spPr>
          <a:xfrm>
            <a:off x="762000" y="3619500"/>
            <a:ext cx="257175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667EEA"/>
                </a:solidFill>
                <a:latin typeface="맑은 고딕"/>
                <a:ea typeface="맑은 고딕"/>
              </a:rPr>
              <a:t>명세서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681BCB-1EA0-4DBF-BE46-5048B087E202}"/>
              </a:ext>
            </a:extLst>
          </p:cNvPr>
          <p:cNvSpPr/>
          <p:nvPr/>
        </p:nvSpPr>
        <p:spPr>
          <a:xfrm>
            <a:off x="3460750" y="3238500"/>
            <a:ext cx="257175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DCCA5C-6410-4F7E-9702-D914E9EF4AB4}"/>
              </a:ext>
            </a:extLst>
          </p:cNvPr>
          <p:cNvSpPr/>
          <p:nvPr/>
        </p:nvSpPr>
        <p:spPr>
          <a:xfrm>
            <a:off x="3460750" y="3238500"/>
            <a:ext cx="2571750" cy="50800"/>
          </a:xfrm>
          <a:prstGeom prst="rect">
            <a:avLst/>
          </a:prstGeom>
          <a:solidFill>
            <a:srgbClr val="63B3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438B09-7294-4593-A8B4-4E0FE4346AC7}"/>
              </a:ext>
            </a:extLst>
          </p:cNvPr>
          <p:cNvSpPr txBox="1"/>
          <p:nvPr/>
        </p:nvSpPr>
        <p:spPr>
          <a:xfrm>
            <a:off x="3460750" y="3619500"/>
            <a:ext cx="257175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63B3ED"/>
                </a:solidFill>
                <a:latin typeface="맑은 고딕"/>
                <a:ea typeface="맑은 고딕"/>
              </a:rPr>
              <a:t>도면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0EE856E-0692-4284-BBA9-19A1FB6C07CB}"/>
              </a:ext>
            </a:extLst>
          </p:cNvPr>
          <p:cNvSpPr/>
          <p:nvPr/>
        </p:nvSpPr>
        <p:spPr>
          <a:xfrm>
            <a:off x="6159500" y="3238500"/>
            <a:ext cx="257175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2F2059-642F-4B5B-9CBB-4A2209148993}"/>
              </a:ext>
            </a:extLst>
          </p:cNvPr>
          <p:cNvSpPr/>
          <p:nvPr/>
        </p:nvSpPr>
        <p:spPr>
          <a:xfrm>
            <a:off x="6159500" y="3238500"/>
            <a:ext cx="2571750" cy="508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89DBE4-2FEC-4A14-8B9B-B588027270C9}"/>
              </a:ext>
            </a:extLst>
          </p:cNvPr>
          <p:cNvSpPr txBox="1"/>
          <p:nvPr/>
        </p:nvSpPr>
        <p:spPr>
          <a:xfrm>
            <a:off x="6159500" y="3619500"/>
            <a:ext cx="257175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6AD55"/>
                </a:solidFill>
                <a:latin typeface="맑은 고딕"/>
                <a:ea typeface="맑은 고딕"/>
              </a:rPr>
              <a:t>회의록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5A32DFB-D735-408B-B46F-615AE0CBC06E}"/>
              </a:ext>
            </a:extLst>
          </p:cNvPr>
          <p:cNvSpPr/>
          <p:nvPr/>
        </p:nvSpPr>
        <p:spPr>
          <a:xfrm>
            <a:off x="8858250" y="3238500"/>
            <a:ext cx="257175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85BFA28-DFB7-445B-9FB1-2BCB47BC88AE}"/>
              </a:ext>
            </a:extLst>
          </p:cNvPr>
          <p:cNvSpPr/>
          <p:nvPr/>
        </p:nvSpPr>
        <p:spPr>
          <a:xfrm>
            <a:off x="8858250" y="3238500"/>
            <a:ext cx="2571750" cy="50800"/>
          </a:xfrm>
          <a:prstGeom prst="rect">
            <a:avLst/>
          </a:prstGeom>
          <a:solidFill>
            <a:srgbClr val="C8D6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9467-A34A-4834-9E8A-74175BCBD11F}"/>
              </a:ext>
            </a:extLst>
          </p:cNvPr>
          <p:cNvSpPr txBox="1"/>
          <p:nvPr/>
        </p:nvSpPr>
        <p:spPr>
          <a:xfrm>
            <a:off x="8858250" y="3619500"/>
            <a:ext cx="257175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C8D6E5"/>
                </a:solidFill>
                <a:latin typeface="맑은 고딕"/>
                <a:ea typeface="맑은 고딕"/>
              </a:rPr>
              <a:t>기타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38DA7D-350D-429A-B524-B70DF8A92582}"/>
              </a:ext>
            </a:extLst>
          </p:cNvPr>
          <p:cNvSpPr txBox="1"/>
          <p:nvPr/>
        </p:nvSpPr>
        <p:spPr>
          <a:xfrm>
            <a:off x="762000" y="4572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업로드 시 카테고리 선택  →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Drive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에 자동 분류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58DBE9-9864-4931-BC5B-DC37DF74606B}"/>
              </a:ext>
            </a:extLst>
          </p:cNvPr>
          <p:cNvSpPr txBox="1"/>
          <p:nvPr/>
        </p:nvSpPr>
        <p:spPr>
          <a:xfrm>
            <a:off x="762000" y="4953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카테고리 필터 칩으로 그룹별 보기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93BC43-A9DE-4F3F-9C46-5D6ED12E3BC3}"/>
              </a:ext>
            </a:extLst>
          </p:cNvPr>
          <p:cNvSpPr txBox="1"/>
          <p:nvPr/>
        </p:nvSpPr>
        <p:spPr>
          <a:xfrm>
            <a:off x="762000" y="5334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단일 파일 최대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18MB (GAS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한도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)  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큰 파일은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Drive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직접 업로드 후 링크</a:t>
            </a:r>
          </a:p>
        </p:txBody>
      </p:sp>
    </p:spTree>
    <p:extLst>
      <p:ext uri="{BB962C8B-B14F-4D97-AF65-F5344CB8AC3E}">
        <p14:creationId xmlns:p14="http://schemas.microsoft.com/office/powerpoint/2010/main" val="38018771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3FA704-4DBC-4C0F-9A23-FBFD84817AB9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INSPECTION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14F31-2B27-4266-8817-10769634AE8F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검수표 작성  →  사인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CF51DDE-5C47-4FBD-9C16-A38CF16C47A1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D7AAB-ABE5-4636-9CBB-E22FB4350E21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도메인 기본 항목 자동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자유롭게 추가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삭제 가능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7DF459C-B478-490C-BE8A-D1B3DED786F1}"/>
              </a:ext>
            </a:extLst>
          </p:cNvPr>
          <p:cNvSpPr/>
          <p:nvPr/>
        </p:nvSpPr>
        <p:spPr>
          <a:xfrm>
            <a:off x="762000" y="2222500"/>
            <a:ext cx="558800" cy="5588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40244-F199-414C-BEEF-0B8D20D5F300}"/>
              </a:ext>
            </a:extLst>
          </p:cNvPr>
          <p:cNvSpPr txBox="1"/>
          <p:nvPr/>
        </p:nvSpPr>
        <p:spPr>
          <a:xfrm>
            <a:off x="762000" y="2336800"/>
            <a:ext cx="55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1A2A3A"/>
                </a:solidFill>
                <a:latin typeface="맑은 고딕"/>
                <a:ea typeface="맑은 고딕"/>
              </a:rPr>
              <a:t>1</a:t>
            </a:r>
            <a:endParaRPr lang="ko-KR" altLang="en-US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0037FA-5CD7-40FE-BD0E-6961D54AB0DB}"/>
              </a:ext>
            </a:extLst>
          </p:cNvPr>
          <p:cNvSpPr txBox="1"/>
          <p:nvPr/>
        </p:nvSpPr>
        <p:spPr>
          <a:xfrm>
            <a:off x="1524000" y="22733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검수표 탭 열기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C59574-11CD-43B9-AED7-EDE1B9E2CBCD}"/>
              </a:ext>
            </a:extLst>
          </p:cNvPr>
          <p:cNvSpPr txBox="1"/>
          <p:nvPr/>
        </p:nvSpPr>
        <p:spPr>
          <a:xfrm>
            <a:off x="1524000" y="2578100"/>
            <a:ext cx="990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도메인 기본 항목 자동 로드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EB51F2D-6400-4029-BDEC-13EE5C638CBE}"/>
              </a:ext>
            </a:extLst>
          </p:cNvPr>
          <p:cNvSpPr/>
          <p:nvPr/>
        </p:nvSpPr>
        <p:spPr>
          <a:xfrm>
            <a:off x="762000" y="2984500"/>
            <a:ext cx="558800" cy="5588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F828B-82C3-4D4B-9A56-F36ACE0F9431}"/>
              </a:ext>
            </a:extLst>
          </p:cNvPr>
          <p:cNvSpPr txBox="1"/>
          <p:nvPr/>
        </p:nvSpPr>
        <p:spPr>
          <a:xfrm>
            <a:off x="762000" y="3098800"/>
            <a:ext cx="55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1A2A3A"/>
                </a:solidFill>
                <a:latin typeface="맑은 고딕"/>
                <a:ea typeface="맑은 고딕"/>
              </a:rPr>
              <a:t>2</a:t>
            </a:r>
            <a:endParaRPr lang="ko-KR" altLang="en-US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2222B0-DE7C-4622-AE9B-C0A80B0E637D}"/>
              </a:ext>
            </a:extLst>
          </p:cNvPr>
          <p:cNvSpPr txBox="1"/>
          <p:nvPr/>
        </p:nvSpPr>
        <p:spPr>
          <a:xfrm>
            <a:off x="1524000" y="30353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항목별 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OK / NG / 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대기 표시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E6C2D5-69BD-47F8-AFBE-035795FFD2C2}"/>
              </a:ext>
            </a:extLst>
          </p:cNvPr>
          <p:cNvSpPr txBox="1"/>
          <p:nvPr/>
        </p:nvSpPr>
        <p:spPr>
          <a:xfrm>
            <a:off x="1524000" y="3340100"/>
            <a:ext cx="990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NG </a:t>
            </a:r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시 특이사항 입력 </a:t>
            </a:r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추후 추적용</a:t>
            </a:r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)</a:t>
            </a:r>
            <a:endParaRPr lang="ko-KR" altLang="en-US" sz="1200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2947F64-FC82-48BF-AE25-7886FCEF2F45}"/>
              </a:ext>
            </a:extLst>
          </p:cNvPr>
          <p:cNvSpPr/>
          <p:nvPr/>
        </p:nvSpPr>
        <p:spPr>
          <a:xfrm>
            <a:off x="762000" y="3746500"/>
            <a:ext cx="558800" cy="5588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3442A1-025E-4640-8598-3271BEB5D198}"/>
              </a:ext>
            </a:extLst>
          </p:cNvPr>
          <p:cNvSpPr txBox="1"/>
          <p:nvPr/>
        </p:nvSpPr>
        <p:spPr>
          <a:xfrm>
            <a:off x="762000" y="3860800"/>
            <a:ext cx="55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1A2A3A"/>
                </a:solidFill>
                <a:latin typeface="맑은 고딕"/>
                <a:ea typeface="맑은 고딕"/>
              </a:rPr>
              <a:t>3</a:t>
            </a:r>
            <a:endParaRPr lang="ko-KR" altLang="en-US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4C1580-32B0-4946-AB9C-5DB1DFFDF464}"/>
              </a:ext>
            </a:extLst>
          </p:cNvPr>
          <p:cNvSpPr txBox="1"/>
          <p:nvPr/>
        </p:nvSpPr>
        <p:spPr>
          <a:xfrm>
            <a:off x="1524000" y="37973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모든 항목 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OK</a:t>
            </a:r>
            <a:endParaRPr lang="ko-KR" altLang="en-US" sz="1600" b="1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F86314-E0FE-4A55-B4B4-985E01620923}"/>
              </a:ext>
            </a:extLst>
          </p:cNvPr>
          <p:cNvSpPr txBox="1"/>
          <p:nvPr/>
        </p:nvSpPr>
        <p:spPr>
          <a:xfrm>
            <a:off x="1524000" y="4102100"/>
            <a:ext cx="990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→  서명 영역 활성화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BE72AF2-F97F-4503-84D3-71190FB522A9}"/>
              </a:ext>
            </a:extLst>
          </p:cNvPr>
          <p:cNvSpPr/>
          <p:nvPr/>
        </p:nvSpPr>
        <p:spPr>
          <a:xfrm>
            <a:off x="762000" y="4508500"/>
            <a:ext cx="558800" cy="5588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4D97DC-CE5D-47B5-984C-A451C4B33D8D}"/>
              </a:ext>
            </a:extLst>
          </p:cNvPr>
          <p:cNvSpPr txBox="1"/>
          <p:nvPr/>
        </p:nvSpPr>
        <p:spPr>
          <a:xfrm>
            <a:off x="762000" y="4622800"/>
            <a:ext cx="55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1A2A3A"/>
                </a:solidFill>
                <a:latin typeface="맑은 고딕"/>
                <a:ea typeface="맑은 고딕"/>
              </a:rPr>
              <a:t>4</a:t>
            </a:r>
            <a:endParaRPr lang="ko-KR" altLang="en-US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3BD2E0-9C23-4AB0-89C3-9B5A464BEC20}"/>
              </a:ext>
            </a:extLst>
          </p:cNvPr>
          <p:cNvSpPr txBox="1"/>
          <p:nvPr/>
        </p:nvSpPr>
        <p:spPr>
          <a:xfrm>
            <a:off x="1524000" y="45593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CUSTOMER 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로그인 또는 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ADMIN 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대리 서명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A7C325C-5E86-4F96-B5C0-C20677DFD31C}"/>
              </a:ext>
            </a:extLst>
          </p:cNvPr>
          <p:cNvSpPr/>
          <p:nvPr/>
        </p:nvSpPr>
        <p:spPr>
          <a:xfrm>
            <a:off x="762000" y="5270500"/>
            <a:ext cx="558800" cy="5588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38A6C8-388A-4868-84DF-FFFD62B55761}"/>
              </a:ext>
            </a:extLst>
          </p:cNvPr>
          <p:cNvSpPr txBox="1"/>
          <p:nvPr/>
        </p:nvSpPr>
        <p:spPr>
          <a:xfrm>
            <a:off x="762000" y="5384800"/>
            <a:ext cx="55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1A2A3A"/>
                </a:solidFill>
                <a:latin typeface="맑은 고딕"/>
                <a:ea typeface="맑은 고딕"/>
              </a:rPr>
              <a:t>5</a:t>
            </a:r>
            <a:endParaRPr lang="ko-KR" altLang="en-US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79D0F4-ACF8-48C2-A5A0-CD1F0FEC66E6}"/>
              </a:ext>
            </a:extLst>
          </p:cNvPr>
          <p:cNvSpPr txBox="1"/>
          <p:nvPr/>
        </p:nvSpPr>
        <p:spPr>
          <a:xfrm>
            <a:off x="1524000" y="53213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자동으로 워런티 단계 진입</a:t>
            </a:r>
          </a:p>
        </p:txBody>
      </p:sp>
    </p:spTree>
    <p:extLst>
      <p:ext uri="{BB962C8B-B14F-4D97-AF65-F5344CB8AC3E}">
        <p14:creationId xmlns:p14="http://schemas.microsoft.com/office/powerpoint/2010/main" val="930071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44495A-5B40-410B-AA7A-9E03B8A6CA3B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INSPECTION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B98D1E-2854-41FE-B6AC-848C5320FE4F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ADMIN —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사후 수정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사인 취소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05507F-C7D8-4EAA-A9BC-524CD8465A28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B1C9CC-593D-4C9D-A079-06DAA383DF85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사인 취소는 신중하게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모든 행위가 활동 이력에 기록된다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C00290-3C99-4542-A850-4CC3D583261F}"/>
              </a:ext>
            </a:extLst>
          </p:cNvPr>
          <p:cNvSpPr/>
          <p:nvPr/>
        </p:nvSpPr>
        <p:spPr>
          <a:xfrm>
            <a:off x="762000" y="2222500"/>
            <a:ext cx="76200" cy="889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AC98F2-0F07-4D75-AB06-9EE549DDBBAE}"/>
              </a:ext>
            </a:extLst>
          </p:cNvPr>
          <p:cNvSpPr/>
          <p:nvPr/>
        </p:nvSpPr>
        <p:spPr>
          <a:xfrm>
            <a:off x="1016000" y="2222500"/>
            <a:ext cx="10414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A5C3E-A623-461A-9C9F-378BE328A617}"/>
              </a:ext>
            </a:extLst>
          </p:cNvPr>
          <p:cNvSpPr txBox="1"/>
          <p:nvPr/>
        </p:nvSpPr>
        <p:spPr>
          <a:xfrm>
            <a:off x="1270000" y="23749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700" b="1">
                <a:solidFill>
                  <a:srgbClr val="00D4AA"/>
                </a:solidFill>
                <a:latin typeface="맑은 고딕"/>
                <a:ea typeface="맑은 고딕"/>
              </a:rPr>
              <a:t>Buy-off </a:t>
            </a:r>
            <a:r>
              <a:rPr lang="ko-KR" altLang="en-US" sz="1700" b="1">
                <a:solidFill>
                  <a:srgbClr val="00D4AA"/>
                </a:solidFill>
                <a:latin typeface="맑은 고딕"/>
                <a:ea typeface="맑은 고딕"/>
              </a:rPr>
              <a:t>후 검수 항목 수정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A17D6-BCCC-41BF-8E72-5037E2E4D84C}"/>
              </a:ext>
            </a:extLst>
          </p:cNvPr>
          <p:cNvSpPr txBox="1"/>
          <p:nvPr/>
        </p:nvSpPr>
        <p:spPr>
          <a:xfrm>
            <a:off x="1270000" y="27305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ADMIN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만 가능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사유 자동 기록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8EB82F1-7AF8-4520-9A2B-4E2E08F56359}"/>
              </a:ext>
            </a:extLst>
          </p:cNvPr>
          <p:cNvSpPr/>
          <p:nvPr/>
        </p:nvSpPr>
        <p:spPr>
          <a:xfrm>
            <a:off x="762000" y="3213100"/>
            <a:ext cx="76200" cy="889000"/>
          </a:xfrm>
          <a:prstGeom prst="rect">
            <a:avLst/>
          </a:prstGeom>
          <a:solidFill>
            <a:srgbClr val="E53E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C4E8DFD-D794-4DB1-BA93-78154ECCDA29}"/>
              </a:ext>
            </a:extLst>
          </p:cNvPr>
          <p:cNvSpPr/>
          <p:nvPr/>
        </p:nvSpPr>
        <p:spPr>
          <a:xfrm>
            <a:off x="1016000" y="3213100"/>
            <a:ext cx="10414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0CA3D2-D813-43C8-982A-AC137BEBA566}"/>
              </a:ext>
            </a:extLst>
          </p:cNvPr>
          <p:cNvSpPr txBox="1"/>
          <p:nvPr/>
        </p:nvSpPr>
        <p:spPr>
          <a:xfrm>
            <a:off x="1270000" y="33655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E53E3E"/>
                </a:solidFill>
                <a:latin typeface="맑은 고딕"/>
                <a:ea typeface="맑은 고딕"/>
              </a:rPr>
              <a:t>사인 취소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7116EE-1E78-4B1D-B4D7-8C1906A886D2}"/>
              </a:ext>
            </a:extLst>
          </p:cNvPr>
          <p:cNvSpPr txBox="1"/>
          <p:nvPr/>
        </p:nvSpPr>
        <p:spPr>
          <a:xfrm>
            <a:off x="1270000" y="37211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서명 데이터 삭제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+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단계 자동 롤백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현장 셋업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13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B5B8E1-C782-4A49-8974-EFC63B500FCA}"/>
              </a:ext>
            </a:extLst>
          </p:cNvPr>
          <p:cNvSpPr/>
          <p:nvPr/>
        </p:nvSpPr>
        <p:spPr>
          <a:xfrm>
            <a:off x="762000" y="4203700"/>
            <a:ext cx="76200" cy="889000"/>
          </a:xfrm>
          <a:prstGeom prst="rect">
            <a:avLst/>
          </a:prstGeom>
          <a:solidFill>
            <a:srgbClr val="667E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300F89A-094B-4280-904A-B0951A84BD44}"/>
              </a:ext>
            </a:extLst>
          </p:cNvPr>
          <p:cNvSpPr/>
          <p:nvPr/>
        </p:nvSpPr>
        <p:spPr>
          <a:xfrm>
            <a:off x="1016000" y="4203700"/>
            <a:ext cx="10414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920A50-0AF6-4EE3-9D0B-325FFC79891C}"/>
              </a:ext>
            </a:extLst>
          </p:cNvPr>
          <p:cNvSpPr txBox="1"/>
          <p:nvPr/>
        </p:nvSpPr>
        <p:spPr>
          <a:xfrm>
            <a:off x="1270000" y="43561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667EEA"/>
                </a:solidFill>
                <a:latin typeface="맑은 고딕"/>
                <a:ea typeface="맑은 고딕"/>
              </a:rPr>
              <a:t>활동 이력에 자동 기록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70CCDA-F64A-49DD-9459-AD6DDB74EF3E}"/>
              </a:ext>
            </a:extLst>
          </p:cNvPr>
          <p:cNvSpPr txBox="1"/>
          <p:nvPr/>
        </p:nvSpPr>
        <p:spPr>
          <a:xfrm>
            <a:off x="1270000" y="47117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SIGN_CANCEL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등 액션 코드로 추적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2FFABE0-FC47-4A9D-AD18-9825B6A4CF17}"/>
              </a:ext>
            </a:extLst>
          </p:cNvPr>
          <p:cNvSpPr/>
          <p:nvPr/>
        </p:nvSpPr>
        <p:spPr>
          <a:xfrm>
            <a:off x="762000" y="5194300"/>
            <a:ext cx="76200" cy="8890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40E4153-651F-426B-921F-4740F7C1170D}"/>
              </a:ext>
            </a:extLst>
          </p:cNvPr>
          <p:cNvSpPr/>
          <p:nvPr/>
        </p:nvSpPr>
        <p:spPr>
          <a:xfrm>
            <a:off x="1016000" y="5194300"/>
            <a:ext cx="10414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EA989D-CFB3-4479-92C7-6BE8B98C8F3B}"/>
              </a:ext>
            </a:extLst>
          </p:cNvPr>
          <p:cNvSpPr txBox="1"/>
          <p:nvPr/>
        </p:nvSpPr>
        <p:spPr>
          <a:xfrm>
            <a:off x="1270000" y="53467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F6AD55"/>
                </a:solidFill>
                <a:latin typeface="맑은 고딕"/>
                <a:ea typeface="맑은 고딕"/>
              </a:rPr>
              <a:t>최종 보고서 </a:t>
            </a:r>
            <a:r>
              <a:rPr lang="en-US" altLang="ko-KR" sz="1700" b="1">
                <a:solidFill>
                  <a:srgbClr val="F6AD55"/>
                </a:solidFill>
                <a:latin typeface="맑은 고딕"/>
                <a:ea typeface="맑은 고딕"/>
              </a:rPr>
              <a:t>PDF</a:t>
            </a:r>
            <a:endParaRPr lang="ko-KR" altLang="en-US" sz="1700" b="1">
              <a:solidFill>
                <a:srgbClr val="F6AD55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4F7356-B607-4520-BD64-49738EFC39E3}"/>
              </a:ext>
            </a:extLst>
          </p:cNvPr>
          <p:cNvSpPr txBox="1"/>
          <p:nvPr/>
        </p:nvSpPr>
        <p:spPr>
          <a:xfrm>
            <a:off x="1270000" y="57023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검수표 탭에서 인쇄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저장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고객사 송부용</a:t>
            </a:r>
          </a:p>
        </p:txBody>
      </p:sp>
    </p:spTree>
    <p:extLst>
      <p:ext uri="{BB962C8B-B14F-4D97-AF65-F5344CB8AC3E}">
        <p14:creationId xmlns:p14="http://schemas.microsoft.com/office/powerpoint/2010/main" val="7598935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D18B-536D-45C0-89F2-6830138B8FEB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ISSUES &amp; AS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EC1AC-AE98-41D2-9758-75D96F0CDE58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이슈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펀치 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20D357-BCFB-49CC-8344-95B9651E852E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A27D84-75FD-47ED-9703-75B688EE52E3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현장에서 즉시 등록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중요도 자동 색상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9B6EEB7-0167-426E-89A2-96B36839C960}"/>
              </a:ext>
            </a:extLst>
          </p:cNvPr>
          <p:cNvSpPr/>
          <p:nvPr/>
        </p:nvSpPr>
        <p:spPr>
          <a:xfrm>
            <a:off x="762000" y="2286000"/>
            <a:ext cx="76200" cy="508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D4233B-F91F-41D4-9E0C-E2E3A462CBAA}"/>
              </a:ext>
            </a:extLst>
          </p:cNvPr>
          <p:cNvSpPr txBox="1"/>
          <p:nvPr/>
        </p:nvSpPr>
        <p:spPr>
          <a:xfrm>
            <a:off x="1016000" y="23749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좌측 메뉴 → 이슈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/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펀치 관리 →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"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현장 이슈 등록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"</a:t>
            </a:r>
            <a:endParaRPr lang="ko-KR" altLang="en-US" sz="15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AB31A34-BED2-4269-B2D0-35FBB412BCDA}"/>
              </a:ext>
            </a:extLst>
          </p:cNvPr>
          <p:cNvSpPr/>
          <p:nvPr/>
        </p:nvSpPr>
        <p:spPr>
          <a:xfrm>
            <a:off x="762000" y="2946400"/>
            <a:ext cx="76200" cy="508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9EEB65-D851-41BE-9484-5AD0CD136DE7}"/>
              </a:ext>
            </a:extLst>
          </p:cNvPr>
          <p:cNvSpPr txBox="1"/>
          <p:nvPr/>
        </p:nvSpPr>
        <p:spPr>
          <a:xfrm>
            <a:off x="1016000" y="30353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모바일 모드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=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사진 첨부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+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빠른 등록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(768px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미만 자동 전환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15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3B1922-8C22-4916-A2F0-3F40945E88ED}"/>
              </a:ext>
            </a:extLst>
          </p:cNvPr>
          <p:cNvSpPr/>
          <p:nvPr/>
        </p:nvSpPr>
        <p:spPr>
          <a:xfrm>
            <a:off x="762000" y="3606800"/>
            <a:ext cx="76200" cy="508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840AB2-F305-4BB9-BEBC-2AC116A8789B}"/>
              </a:ext>
            </a:extLst>
          </p:cNvPr>
          <p:cNvSpPr txBox="1"/>
          <p:nvPr/>
        </p:nvSpPr>
        <p:spPr>
          <a:xfrm>
            <a:off x="1016000" y="36957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중요도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High / Medium / Low 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자동 색상 구분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0F42FF-1E7A-4031-B7E9-A2F058579086}"/>
              </a:ext>
            </a:extLst>
          </p:cNvPr>
          <p:cNvSpPr/>
          <p:nvPr/>
        </p:nvSpPr>
        <p:spPr>
          <a:xfrm>
            <a:off x="762000" y="4267200"/>
            <a:ext cx="76200" cy="508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2C2D02-0354-48D1-95FB-73E54A644624}"/>
              </a:ext>
            </a:extLst>
          </p:cNvPr>
          <p:cNvSpPr txBox="1"/>
          <p:nvPr/>
        </p:nvSpPr>
        <p:spPr>
          <a:xfrm>
            <a:off x="1016000" y="43561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이슈 제목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담당자 수정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=  ADMIN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단독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변경 전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/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후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+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사유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15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ED4E97-4C5C-4C6C-A6CE-25D0B003E863}"/>
              </a:ext>
            </a:extLst>
          </p:cNvPr>
          <p:cNvSpPr/>
          <p:nvPr/>
        </p:nvSpPr>
        <p:spPr>
          <a:xfrm>
            <a:off x="762000" y="4927600"/>
            <a:ext cx="76200" cy="508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A4E1E6-36C1-491C-8710-BFD282724C87}"/>
              </a:ext>
            </a:extLst>
          </p:cNvPr>
          <p:cNvSpPr txBox="1"/>
          <p:nvPr/>
        </p:nvSpPr>
        <p:spPr>
          <a:xfrm>
            <a:off x="1016000" y="50165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작성 후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24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시간 이상 지난 항목 수정은 사유 필수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5291120-8693-4290-8E0F-C8466A9DE4ED}"/>
              </a:ext>
            </a:extLst>
          </p:cNvPr>
          <p:cNvSpPr/>
          <p:nvPr/>
        </p:nvSpPr>
        <p:spPr>
          <a:xfrm>
            <a:off x="762000" y="5842000"/>
            <a:ext cx="1524000" cy="508000"/>
          </a:xfrm>
          <a:prstGeom prst="rect">
            <a:avLst/>
          </a:prstGeom>
          <a:solidFill>
            <a:srgbClr val="E53E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4F8AE8-9CB4-4ECC-963B-D6F421C80D09}"/>
              </a:ext>
            </a:extLst>
          </p:cNvPr>
          <p:cNvSpPr txBox="1"/>
          <p:nvPr/>
        </p:nvSpPr>
        <p:spPr>
          <a:xfrm>
            <a:off x="762000" y="59563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1A2A3A"/>
                </a:solidFill>
                <a:latin typeface="맑은 고딕"/>
                <a:ea typeface="맑은 고딕"/>
              </a:rPr>
              <a:t>High</a:t>
            </a:r>
            <a:endParaRPr lang="ko-KR" altLang="en-US" sz="14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F4A9BDB-217D-4C32-ACFD-5FEFA74103F9}"/>
              </a:ext>
            </a:extLst>
          </p:cNvPr>
          <p:cNvSpPr/>
          <p:nvPr/>
        </p:nvSpPr>
        <p:spPr>
          <a:xfrm>
            <a:off x="2413000" y="5842000"/>
            <a:ext cx="1524000" cy="5080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C52324-1838-433D-B214-9769CE77ADB1}"/>
              </a:ext>
            </a:extLst>
          </p:cNvPr>
          <p:cNvSpPr txBox="1"/>
          <p:nvPr/>
        </p:nvSpPr>
        <p:spPr>
          <a:xfrm>
            <a:off x="2413000" y="59563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1A2A3A"/>
                </a:solidFill>
                <a:latin typeface="맑은 고딕"/>
                <a:ea typeface="맑은 고딕"/>
              </a:rPr>
              <a:t>Medium</a:t>
            </a:r>
            <a:endParaRPr lang="ko-KR" altLang="en-US" sz="14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BFBAA38-FF8C-490C-BA99-A76C2666C4F9}"/>
              </a:ext>
            </a:extLst>
          </p:cNvPr>
          <p:cNvSpPr/>
          <p:nvPr/>
        </p:nvSpPr>
        <p:spPr>
          <a:xfrm>
            <a:off x="4064000" y="5842000"/>
            <a:ext cx="1524000" cy="508000"/>
          </a:xfrm>
          <a:prstGeom prst="rect">
            <a:avLst/>
          </a:prstGeom>
          <a:solidFill>
            <a:srgbClr val="38A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80B2A7-476B-4A93-B8DB-31C2CC079685}"/>
              </a:ext>
            </a:extLst>
          </p:cNvPr>
          <p:cNvSpPr txBox="1"/>
          <p:nvPr/>
        </p:nvSpPr>
        <p:spPr>
          <a:xfrm>
            <a:off x="4064000" y="59563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1A2A3A"/>
                </a:solidFill>
                <a:latin typeface="맑은 고딕"/>
                <a:ea typeface="맑은 고딕"/>
              </a:rPr>
              <a:t>Low</a:t>
            </a:r>
            <a:endParaRPr lang="ko-KR" altLang="en-US" sz="14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2024887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47ADC7-A964-4A87-B48D-721720C29315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ISSUES &amp; AS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A14BD-3C8A-4503-B8C7-22DC3625F3A0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AS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통합 관리 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+ 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고객 요청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89D3AB-BA88-4F0C-995A-AA46F70231AF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2D61F-6F9E-4925-B691-143EDA6F71C5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AS =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운영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/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고객 요청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=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신규 요구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구분 필수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66F96D-B7CD-4AFA-B491-74BCA513F48A}"/>
              </a:ext>
            </a:extLst>
          </p:cNvPr>
          <p:cNvSpPr/>
          <p:nvPr/>
        </p:nvSpPr>
        <p:spPr>
          <a:xfrm>
            <a:off x="762000" y="2222500"/>
            <a:ext cx="5080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E217AB2-45F9-4829-A484-76C3288F727D}"/>
              </a:ext>
            </a:extLst>
          </p:cNvPr>
          <p:cNvSpPr/>
          <p:nvPr/>
        </p:nvSpPr>
        <p:spPr>
          <a:xfrm>
            <a:off x="762000" y="2222500"/>
            <a:ext cx="50800" cy="3556000"/>
          </a:xfrm>
          <a:prstGeom prst="rect">
            <a:avLst/>
          </a:prstGeom>
          <a:solidFill>
            <a:srgbClr val="E53E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21A02-E877-4D22-8F90-0B84EB8B805E}"/>
              </a:ext>
            </a:extLst>
          </p:cNvPr>
          <p:cNvSpPr txBox="1"/>
          <p:nvPr/>
        </p:nvSpPr>
        <p:spPr>
          <a:xfrm>
            <a:off x="1016000" y="2476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E53E3E"/>
                </a:solidFill>
                <a:latin typeface="맑은 고딕"/>
                <a:ea typeface="맑은 고딕"/>
              </a:rPr>
              <a:t>AS </a:t>
            </a:r>
            <a:r>
              <a:rPr lang="ko-KR" altLang="en-US" b="1">
                <a:solidFill>
                  <a:srgbClr val="E53E3E"/>
                </a:solidFill>
                <a:latin typeface="맑은 고딕"/>
                <a:ea typeface="맑은 고딕"/>
              </a:rPr>
              <a:t>통합 관리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F2A4CC-8A53-4CD8-A5B0-9C808BA8D580}"/>
              </a:ext>
            </a:extLst>
          </p:cNvPr>
          <p:cNvSpPr txBox="1"/>
          <p:nvPr/>
        </p:nvSpPr>
        <p:spPr>
          <a:xfrm>
            <a:off x="1143000" y="2984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전 프로젝트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AS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한 화면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AEF040-524B-4AE3-A660-7943FF3B3834}"/>
              </a:ext>
            </a:extLst>
          </p:cNvPr>
          <p:cNvSpPr txBox="1"/>
          <p:nvPr/>
        </p:nvSpPr>
        <p:spPr>
          <a:xfrm>
            <a:off x="1143000" y="34417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검색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+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프로젝트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유형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상태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3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중 필터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135E45-D0D9-4521-8B16-B100276E32C5}"/>
              </a:ext>
            </a:extLst>
          </p:cNvPr>
          <p:cNvSpPr txBox="1"/>
          <p:nvPr/>
        </p:nvSpPr>
        <p:spPr>
          <a:xfrm>
            <a:off x="1143000" y="38989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AS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카드 클릭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= AS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탭 활성 채로 모달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4326E4-850A-45CD-B2E3-8D24B311F405}"/>
              </a:ext>
            </a:extLst>
          </p:cNvPr>
          <p:cNvSpPr txBox="1"/>
          <p:nvPr/>
        </p:nvSpPr>
        <p:spPr>
          <a:xfrm>
            <a:off x="1143000" y="43561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모달 닫아도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AS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페이지 그대로 유지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16A9A0-7F53-4BAA-B7C7-E83554436E71}"/>
              </a:ext>
            </a:extLst>
          </p:cNvPr>
          <p:cNvSpPr/>
          <p:nvPr/>
        </p:nvSpPr>
        <p:spPr>
          <a:xfrm>
            <a:off x="6350000" y="2222500"/>
            <a:ext cx="5080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289430-B6FF-4A9C-9B82-969BC4F99192}"/>
              </a:ext>
            </a:extLst>
          </p:cNvPr>
          <p:cNvSpPr/>
          <p:nvPr/>
        </p:nvSpPr>
        <p:spPr>
          <a:xfrm>
            <a:off x="6350000" y="2222500"/>
            <a:ext cx="50800" cy="3556000"/>
          </a:xfrm>
          <a:prstGeom prst="rect">
            <a:avLst/>
          </a:prstGeom>
          <a:solidFill>
            <a:srgbClr val="667E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D64B38-7793-449D-880D-B77183FA9D41}"/>
              </a:ext>
            </a:extLst>
          </p:cNvPr>
          <p:cNvSpPr txBox="1"/>
          <p:nvPr/>
        </p:nvSpPr>
        <p:spPr>
          <a:xfrm>
            <a:off x="6604000" y="2476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667EEA"/>
                </a:solidFill>
                <a:latin typeface="맑은 고딕"/>
                <a:ea typeface="맑은 고딕"/>
              </a:rPr>
              <a:t>고객 요청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15744B-3A4B-44F3-9434-44B556FEA69E}"/>
              </a:ext>
            </a:extLst>
          </p:cNvPr>
          <p:cNvSpPr txBox="1"/>
          <p:nvPr/>
        </p:nvSpPr>
        <p:spPr>
          <a:xfrm>
            <a:off x="6731000" y="2984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프로젝트별 고객요청 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A49A14-FDCE-44A8-A49F-45B06999B2B2}"/>
              </a:ext>
            </a:extLst>
          </p:cNvPr>
          <p:cNvSpPr txBox="1"/>
          <p:nvPr/>
        </p:nvSpPr>
        <p:spPr>
          <a:xfrm>
            <a:off x="6731000" y="34417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고객사도 직접 등록 가능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53A90C-2A78-4564-AD28-B196BED8449E}"/>
              </a:ext>
            </a:extLst>
          </p:cNvPr>
          <p:cNvSpPr txBox="1"/>
          <p:nvPr/>
        </p:nvSpPr>
        <p:spPr>
          <a:xfrm>
            <a:off x="6731000" y="38989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응답 댓글 누적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127F18-C6AD-488A-A47F-5A4A508CF0A4}"/>
              </a:ext>
            </a:extLst>
          </p:cNvPr>
          <p:cNvSpPr txBox="1"/>
          <p:nvPr/>
        </p:nvSpPr>
        <p:spPr>
          <a:xfrm>
            <a:off x="6731000" y="43561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신규 요구사항 추적</a:t>
            </a:r>
          </a:p>
        </p:txBody>
      </p:sp>
    </p:spTree>
    <p:extLst>
      <p:ext uri="{BB962C8B-B14F-4D97-AF65-F5344CB8AC3E}">
        <p14:creationId xmlns:p14="http://schemas.microsoft.com/office/powerpoint/2010/main" val="4772517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DCEFA9-F561-450E-9323-6BD2194D3FB5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ISSUES &amp; AS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CAF6E-4B33-4E7E-B0C5-7B02D0293EFA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추가 대응 작업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워런티 후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3200" b="1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87C14E5-9226-4FEC-950F-AA0AA2F1EFB4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722B1-B2B9-463A-8870-04A6070E91ED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고객 요청 탭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=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단순 요청 기록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/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추가 대응 탭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=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실제 개발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/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구현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혼동 금지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F0EE13-52CD-4C52-8C78-8D1E23EFDC0A}"/>
              </a:ext>
            </a:extLst>
          </p:cNvPr>
          <p:cNvSpPr txBox="1"/>
          <p:nvPr/>
        </p:nvSpPr>
        <p:spPr>
          <a:xfrm>
            <a:off x="762000" y="22225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추적 항목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DE9424-5FBF-485E-9519-CEF4F43BA90C}"/>
              </a:ext>
            </a:extLst>
          </p:cNvPr>
          <p:cNvSpPr/>
          <p:nvPr/>
        </p:nvSpPr>
        <p:spPr>
          <a:xfrm>
            <a:off x="762000" y="2603500"/>
            <a:ext cx="1905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CB9E34-FE1C-4CA2-BDE0-DD5148C0DCEF}"/>
              </a:ext>
            </a:extLst>
          </p:cNvPr>
          <p:cNvSpPr txBox="1"/>
          <p:nvPr/>
        </p:nvSpPr>
        <p:spPr>
          <a:xfrm>
            <a:off x="762000" y="27051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기능 추가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74CD668-F6A7-47DA-8971-1E6E7D901959}"/>
              </a:ext>
            </a:extLst>
          </p:cNvPr>
          <p:cNvSpPr/>
          <p:nvPr/>
        </p:nvSpPr>
        <p:spPr>
          <a:xfrm>
            <a:off x="2819400" y="2603500"/>
            <a:ext cx="1905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434FAD-3603-4B59-9E2F-A7BCD53A9926}"/>
              </a:ext>
            </a:extLst>
          </p:cNvPr>
          <p:cNvSpPr txBox="1"/>
          <p:nvPr/>
        </p:nvSpPr>
        <p:spPr>
          <a:xfrm>
            <a:off x="2819400" y="27051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개선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AE028D-A0F9-46CB-A7B5-D071BC0A8F70}"/>
              </a:ext>
            </a:extLst>
          </p:cNvPr>
          <p:cNvSpPr/>
          <p:nvPr/>
        </p:nvSpPr>
        <p:spPr>
          <a:xfrm>
            <a:off x="4876800" y="2603500"/>
            <a:ext cx="1905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8EAFF0-F9CF-451E-9E80-236398395420}"/>
              </a:ext>
            </a:extLst>
          </p:cNvPr>
          <p:cNvSpPr txBox="1"/>
          <p:nvPr/>
        </p:nvSpPr>
        <p:spPr>
          <a:xfrm>
            <a:off x="4876800" y="27051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버그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23C6C2-F075-4017-A0EF-C77F75D69F7F}"/>
              </a:ext>
            </a:extLst>
          </p:cNvPr>
          <p:cNvSpPr/>
          <p:nvPr/>
        </p:nvSpPr>
        <p:spPr>
          <a:xfrm>
            <a:off x="6934200" y="2603500"/>
            <a:ext cx="1905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93C149-CE0C-4EF0-96DC-4322530ADE3F}"/>
              </a:ext>
            </a:extLst>
          </p:cNvPr>
          <p:cNvSpPr txBox="1"/>
          <p:nvPr/>
        </p:nvSpPr>
        <p:spPr>
          <a:xfrm>
            <a:off x="6934200" y="27051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UI</a:t>
            </a:r>
            <a:endParaRPr lang="ko-KR" altLang="en-US" sz="13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036F123-C2CB-40E9-A965-786A0A93DD6F}"/>
              </a:ext>
            </a:extLst>
          </p:cNvPr>
          <p:cNvSpPr/>
          <p:nvPr/>
        </p:nvSpPr>
        <p:spPr>
          <a:xfrm>
            <a:off x="8991600" y="2603500"/>
            <a:ext cx="1905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F1F198-3BE9-4998-ACF5-F5689015DEA9}"/>
              </a:ext>
            </a:extLst>
          </p:cNvPr>
          <p:cNvSpPr txBox="1"/>
          <p:nvPr/>
        </p:nvSpPr>
        <p:spPr>
          <a:xfrm>
            <a:off x="8991600" y="27051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공정 튜닝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B5CBFC-756F-42A4-9D65-34BD0CB4D7D0}"/>
              </a:ext>
            </a:extLst>
          </p:cNvPr>
          <p:cNvSpPr txBox="1"/>
          <p:nvPr/>
        </p:nvSpPr>
        <p:spPr>
          <a:xfrm>
            <a:off x="762000" y="3556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상태 흐름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D1B4F3C-0099-4025-B92A-7AEC172447F8}"/>
              </a:ext>
            </a:extLst>
          </p:cNvPr>
          <p:cNvSpPr/>
          <p:nvPr/>
        </p:nvSpPr>
        <p:spPr>
          <a:xfrm>
            <a:off x="762000" y="3937000"/>
            <a:ext cx="1905000" cy="508000"/>
          </a:xfrm>
          <a:prstGeom prst="rect">
            <a:avLst/>
          </a:prstGeom>
          <a:solidFill>
            <a:srgbClr val="C8D6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ED1A4E-29C2-4AA4-8480-233301C98B77}"/>
              </a:ext>
            </a:extLst>
          </p:cNvPr>
          <p:cNvSpPr txBox="1"/>
          <p:nvPr/>
        </p:nvSpPr>
        <p:spPr>
          <a:xfrm>
            <a:off x="762000" y="40640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대기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A3C9C67-9116-440E-ACC1-B5960D40EB38}"/>
              </a:ext>
            </a:extLst>
          </p:cNvPr>
          <p:cNvSpPr/>
          <p:nvPr/>
        </p:nvSpPr>
        <p:spPr>
          <a:xfrm>
            <a:off x="2819400" y="3937000"/>
            <a:ext cx="1905000" cy="5080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4DBEF1-BEBD-40CE-9D63-87BEFC2C1B2C}"/>
              </a:ext>
            </a:extLst>
          </p:cNvPr>
          <p:cNvSpPr txBox="1"/>
          <p:nvPr/>
        </p:nvSpPr>
        <p:spPr>
          <a:xfrm>
            <a:off x="2819400" y="40640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검토중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7C448D-65E4-45CB-9FD7-D21F623CE6CB}"/>
              </a:ext>
            </a:extLst>
          </p:cNvPr>
          <p:cNvSpPr/>
          <p:nvPr/>
        </p:nvSpPr>
        <p:spPr>
          <a:xfrm>
            <a:off x="4876800" y="3937000"/>
            <a:ext cx="1905000" cy="508000"/>
          </a:xfrm>
          <a:prstGeom prst="rect">
            <a:avLst/>
          </a:prstGeom>
          <a:solidFill>
            <a:srgbClr val="63B3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C07281-38B8-4C12-878F-9B163382CA8C}"/>
              </a:ext>
            </a:extLst>
          </p:cNvPr>
          <p:cNvSpPr txBox="1"/>
          <p:nvPr/>
        </p:nvSpPr>
        <p:spPr>
          <a:xfrm>
            <a:off x="4876800" y="40640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진행중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254C02-C224-408B-A4F3-CF0608566C6D}"/>
              </a:ext>
            </a:extLst>
          </p:cNvPr>
          <p:cNvSpPr/>
          <p:nvPr/>
        </p:nvSpPr>
        <p:spPr>
          <a:xfrm>
            <a:off x="6934200" y="3937000"/>
            <a:ext cx="1905000" cy="508000"/>
          </a:xfrm>
          <a:prstGeom prst="rect">
            <a:avLst/>
          </a:prstGeom>
          <a:solidFill>
            <a:srgbClr val="38A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9816DB-1001-4377-A65E-973E114717CE}"/>
              </a:ext>
            </a:extLst>
          </p:cNvPr>
          <p:cNvSpPr txBox="1"/>
          <p:nvPr/>
        </p:nvSpPr>
        <p:spPr>
          <a:xfrm>
            <a:off x="6934200" y="40640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완료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A4D2C70-5EE1-4CB7-BF9D-70BA4B0BBBFB}"/>
              </a:ext>
            </a:extLst>
          </p:cNvPr>
          <p:cNvSpPr/>
          <p:nvPr/>
        </p:nvSpPr>
        <p:spPr>
          <a:xfrm>
            <a:off x="8991600" y="3937000"/>
            <a:ext cx="1905000" cy="508000"/>
          </a:xfrm>
          <a:prstGeom prst="rect">
            <a:avLst/>
          </a:prstGeom>
          <a:solidFill>
            <a:srgbClr val="E53E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5BFC4C-127F-479C-8D12-FD045B539F55}"/>
              </a:ext>
            </a:extLst>
          </p:cNvPr>
          <p:cNvSpPr txBox="1"/>
          <p:nvPr/>
        </p:nvSpPr>
        <p:spPr>
          <a:xfrm>
            <a:off x="8991600" y="40640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반려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A9B6A0-C1C2-4C21-8AC6-FFF8831F38E8}"/>
              </a:ext>
            </a:extLst>
          </p:cNvPr>
          <p:cNvSpPr txBox="1"/>
          <p:nvPr/>
        </p:nvSpPr>
        <p:spPr>
          <a:xfrm>
            <a:off x="762000" y="5080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6AD55"/>
                </a:solidFill>
                <a:latin typeface="맑은 고딕"/>
                <a:ea typeface="맑은 고딕"/>
              </a:rPr>
              <a:t>셋업 일정과 분리  </a:t>
            </a:r>
            <a:r>
              <a:rPr lang="en-US" altLang="ko-KR" sz="1400">
                <a:solidFill>
                  <a:srgbClr val="F6AD55"/>
                </a:solidFill>
                <a:latin typeface="맑은 고딕"/>
                <a:ea typeface="맑은 고딕"/>
              </a:rPr>
              <a:t>=  </a:t>
            </a:r>
            <a:r>
              <a:rPr lang="ko-KR" altLang="en-US" sz="1400">
                <a:solidFill>
                  <a:srgbClr val="F6AD55"/>
                </a:solidFill>
                <a:latin typeface="맑은 고딕"/>
                <a:ea typeface="맑은 고딕"/>
              </a:rPr>
              <a:t>워런티 변경사항 명확히 추적</a:t>
            </a:r>
          </a:p>
        </p:txBody>
      </p:sp>
    </p:spTree>
    <p:extLst>
      <p:ext uri="{BB962C8B-B14F-4D97-AF65-F5344CB8AC3E}">
        <p14:creationId xmlns:p14="http://schemas.microsoft.com/office/powerpoint/2010/main" val="24008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54FA56-F246-48C1-ADB6-FDDC0686A69A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PEOPLE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8D2BC8-AD53-4FA4-942E-2EF277C3A475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엔지니어 등록 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+ 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활동 이력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95E45F-AECE-4DA7-A537-C3D65ABD6382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031327-0705-4181-8C80-EEB7CE307539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매칭 기준은 이름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본인 명의 항목만 자동 집계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E9AB0E-B488-4834-A514-C9E15BEB5829}"/>
              </a:ext>
            </a:extLst>
          </p:cNvPr>
          <p:cNvSpPr/>
          <p:nvPr/>
        </p:nvSpPr>
        <p:spPr>
          <a:xfrm>
            <a:off x="762000" y="2286000"/>
            <a:ext cx="1066800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237BFE-E601-4715-9DBD-EE502CBBEDC4}"/>
              </a:ext>
            </a:extLst>
          </p:cNvPr>
          <p:cNvSpPr txBox="1"/>
          <p:nvPr/>
        </p:nvSpPr>
        <p:spPr>
          <a:xfrm>
            <a:off x="1016000" y="24638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00D4AA"/>
                </a:solidFill>
                <a:latin typeface="맑은 고딕"/>
                <a:ea typeface="맑은 고딕"/>
              </a:rPr>
              <a:t>엔지니어 추가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08AF39-AFFF-4E15-9E9C-DB98811F346D}"/>
              </a:ext>
            </a:extLst>
          </p:cNvPr>
          <p:cNvSpPr txBox="1"/>
          <p:nvPr/>
        </p:nvSpPr>
        <p:spPr>
          <a:xfrm>
            <a:off x="1016000" y="28448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이름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직급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부서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위치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수동 상태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71E8E82-56C1-4BAC-B7DA-559BEBB75725}"/>
              </a:ext>
            </a:extLst>
          </p:cNvPr>
          <p:cNvSpPr/>
          <p:nvPr/>
        </p:nvSpPr>
        <p:spPr>
          <a:xfrm>
            <a:off x="762000" y="3492500"/>
            <a:ext cx="1066800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51ABC1-C922-4414-9D11-B5102CF1B6B3}"/>
              </a:ext>
            </a:extLst>
          </p:cNvPr>
          <p:cNvSpPr txBox="1"/>
          <p:nvPr/>
        </p:nvSpPr>
        <p:spPr>
          <a:xfrm>
            <a:off x="1016000" y="36703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00D4AA"/>
                </a:solidFill>
                <a:latin typeface="맑은 고딕"/>
                <a:ea typeface="맑은 고딕"/>
              </a:rPr>
              <a:t>활성 프로젝트 배정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84975F-8F4A-49FE-8B6D-F867845C6334}"/>
              </a:ext>
            </a:extLst>
          </p:cNvPr>
          <p:cNvSpPr txBox="1"/>
          <p:nvPr/>
        </p:nvSpPr>
        <p:spPr>
          <a:xfrm>
            <a:off x="1016000" y="40513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체크박스로 멀티 선택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CB71961-5728-4528-B37F-161D9BD25582}"/>
              </a:ext>
            </a:extLst>
          </p:cNvPr>
          <p:cNvSpPr/>
          <p:nvPr/>
        </p:nvSpPr>
        <p:spPr>
          <a:xfrm>
            <a:off x="762000" y="4699000"/>
            <a:ext cx="1066800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EB3D48-4EA2-4D78-9790-A7D9B39CAFB0}"/>
              </a:ext>
            </a:extLst>
          </p:cNvPr>
          <p:cNvSpPr txBox="1"/>
          <p:nvPr/>
        </p:nvSpPr>
        <p:spPr>
          <a:xfrm>
            <a:off x="1016000" y="48768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00D4AA"/>
                </a:solidFill>
                <a:latin typeface="맑은 고딕"/>
                <a:ea typeface="맑은 고딕"/>
              </a:rPr>
              <a:t>활동 이력 모달 </a:t>
            </a:r>
            <a:r>
              <a:rPr lang="en-US" altLang="ko-KR" sz="1700" b="1">
                <a:solidFill>
                  <a:srgbClr val="00D4AA"/>
                </a:solidFill>
                <a:latin typeface="맑은 고딕"/>
                <a:ea typeface="맑은 고딕"/>
              </a:rPr>
              <a:t>(</a:t>
            </a:r>
            <a:r>
              <a:rPr lang="ko-KR" altLang="en-US" sz="1700" b="1">
                <a:solidFill>
                  <a:srgbClr val="00D4AA"/>
                </a:solidFill>
                <a:latin typeface="맑은 고딕"/>
                <a:ea typeface="맑은 고딕"/>
              </a:rPr>
              <a:t>시계 아이콘</a:t>
            </a:r>
            <a:r>
              <a:rPr lang="en-US" altLang="ko-KR" sz="1700" b="1">
                <a:solidFill>
                  <a:srgbClr val="00D4AA"/>
                </a:solidFill>
                <a:latin typeface="맑은 고딕"/>
                <a:ea typeface="맑은 고딕"/>
              </a:rPr>
              <a:t>)</a:t>
            </a:r>
            <a:endParaRPr lang="ko-KR" altLang="en-US" sz="17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3E25C2-291A-4ED0-BC60-5156189FC367}"/>
              </a:ext>
            </a:extLst>
          </p:cNvPr>
          <p:cNvSpPr txBox="1"/>
          <p:nvPr/>
        </p:nvSpPr>
        <p:spPr>
          <a:xfrm>
            <a:off x="1016000" y="52578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출장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이슈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노트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버전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AS /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요청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PM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변경 통합 타임라인</a:t>
            </a:r>
          </a:p>
        </p:txBody>
      </p:sp>
    </p:spTree>
    <p:extLst>
      <p:ext uri="{BB962C8B-B14F-4D97-AF65-F5344CB8AC3E}">
        <p14:creationId xmlns:p14="http://schemas.microsoft.com/office/powerpoint/2010/main" val="1297621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D969D1-F653-40C4-B331-2EBDE507FEB1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PEOPLE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287E70-B919-40B1-819B-225382BE99AE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자격 정보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출입증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안전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비자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473ECF-04BD-4BD7-AD99-18FF5AF4E29E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D8FC4-4DA6-40D0-8048-C59635DAC396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리스트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자격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/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만료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셀 클릭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=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자격 관리 모달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(3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탭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)</a:t>
            </a:r>
            <a:endParaRPr lang="ko-KR" altLang="en-US" sz="1400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ED7F90-B2FB-4DA1-BD74-0C0AD2B3527F}"/>
              </a:ext>
            </a:extLst>
          </p:cNvPr>
          <p:cNvSpPr/>
          <p:nvPr/>
        </p:nvSpPr>
        <p:spPr>
          <a:xfrm>
            <a:off x="762000" y="2222500"/>
            <a:ext cx="3471333" cy="2540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4CD85A4-63C1-4A79-98F2-2FD4CA620BE5}"/>
              </a:ext>
            </a:extLst>
          </p:cNvPr>
          <p:cNvSpPr/>
          <p:nvPr/>
        </p:nvSpPr>
        <p:spPr>
          <a:xfrm>
            <a:off x="762000" y="2222500"/>
            <a:ext cx="3471333" cy="50800"/>
          </a:xfrm>
          <a:prstGeom prst="rect">
            <a:avLst/>
          </a:prstGeom>
          <a:solidFill>
            <a:srgbClr val="63B3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805F5F-F8D5-4EF0-A469-8FDC545985F5}"/>
              </a:ext>
            </a:extLst>
          </p:cNvPr>
          <p:cNvSpPr txBox="1"/>
          <p:nvPr/>
        </p:nvSpPr>
        <p:spPr>
          <a:xfrm>
            <a:off x="762000" y="2540000"/>
            <a:ext cx="3471333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63B3ED"/>
                </a:solidFill>
                <a:latin typeface="맑은 고딕"/>
                <a:ea typeface="맑은 고딕"/>
              </a:rPr>
              <a:t>출입증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6F95A9-F271-4D56-AE69-74F75C88858F}"/>
              </a:ext>
            </a:extLst>
          </p:cNvPr>
          <p:cNvSpPr txBox="1"/>
          <p:nvPr/>
        </p:nvSpPr>
        <p:spPr>
          <a:xfrm>
            <a:off x="1016000" y="3175000"/>
            <a:ext cx="2963333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여러 사이트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만료 추적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FCBC0-4F1E-4FA6-8822-318E8970AC3A}"/>
              </a:ext>
            </a:extLst>
          </p:cNvPr>
          <p:cNvSpPr/>
          <p:nvPr/>
        </p:nvSpPr>
        <p:spPr>
          <a:xfrm>
            <a:off x="4360333" y="2222500"/>
            <a:ext cx="3471333" cy="2540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20C4D1-B28D-4A77-9C19-ADCCE1A0DEF4}"/>
              </a:ext>
            </a:extLst>
          </p:cNvPr>
          <p:cNvSpPr/>
          <p:nvPr/>
        </p:nvSpPr>
        <p:spPr>
          <a:xfrm>
            <a:off x="4360333" y="2222500"/>
            <a:ext cx="3471333" cy="50800"/>
          </a:xfrm>
          <a:prstGeom prst="rect">
            <a:avLst/>
          </a:prstGeom>
          <a:solidFill>
            <a:srgbClr val="38A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67B84E-DEFB-483D-BE12-C3EEC447E2F8}"/>
              </a:ext>
            </a:extLst>
          </p:cNvPr>
          <p:cNvSpPr txBox="1"/>
          <p:nvPr/>
        </p:nvSpPr>
        <p:spPr>
          <a:xfrm>
            <a:off x="4360333" y="2540000"/>
            <a:ext cx="3471333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38A169"/>
                </a:solidFill>
                <a:latin typeface="맑은 고딕"/>
                <a:ea typeface="맑은 고딕"/>
              </a:rPr>
              <a:t>안전교육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8CC189-F61A-4EED-86CE-ACB8040EA625}"/>
              </a:ext>
            </a:extLst>
          </p:cNvPr>
          <p:cNvSpPr txBox="1"/>
          <p:nvPr/>
        </p:nvSpPr>
        <p:spPr>
          <a:xfrm>
            <a:off x="4614333" y="3175000"/>
            <a:ext cx="2963333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여러 교육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"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상시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만료없음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)"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옵션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A748DB7-2BB9-441E-93FA-C0B58982399F}"/>
              </a:ext>
            </a:extLst>
          </p:cNvPr>
          <p:cNvSpPr/>
          <p:nvPr/>
        </p:nvSpPr>
        <p:spPr>
          <a:xfrm>
            <a:off x="7958666" y="2222500"/>
            <a:ext cx="3471333" cy="2540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FC25E0-0EF3-46B4-A3D4-0CE1198AD00E}"/>
              </a:ext>
            </a:extLst>
          </p:cNvPr>
          <p:cNvSpPr/>
          <p:nvPr/>
        </p:nvSpPr>
        <p:spPr>
          <a:xfrm>
            <a:off x="7958666" y="2222500"/>
            <a:ext cx="3471333" cy="508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88F093-4B7E-433D-B73D-F1AFBB64B2E2}"/>
              </a:ext>
            </a:extLst>
          </p:cNvPr>
          <p:cNvSpPr txBox="1"/>
          <p:nvPr/>
        </p:nvSpPr>
        <p:spPr>
          <a:xfrm>
            <a:off x="7958666" y="2540000"/>
            <a:ext cx="3471333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F6AD55"/>
                </a:solidFill>
                <a:latin typeface="맑은 고딕"/>
                <a:ea typeface="맑은 고딕"/>
              </a:rPr>
              <a:t>비자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1CE875-31A3-4B03-9018-432D829418C4}"/>
              </a:ext>
            </a:extLst>
          </p:cNvPr>
          <p:cNvSpPr txBox="1"/>
          <p:nvPr/>
        </p:nvSpPr>
        <p:spPr>
          <a:xfrm>
            <a:off x="8212666" y="3175000"/>
            <a:ext cx="2963333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필요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만료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=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비자 이슈 자동 카운트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26D481-AEBC-4FEF-9CFB-F6E1B551760B}"/>
              </a:ext>
            </a:extLst>
          </p:cNvPr>
          <p:cNvSpPr/>
          <p:nvPr/>
        </p:nvSpPr>
        <p:spPr>
          <a:xfrm>
            <a:off x="762000" y="5143500"/>
            <a:ext cx="2540000" cy="508000"/>
          </a:xfrm>
          <a:prstGeom prst="rect">
            <a:avLst/>
          </a:prstGeom>
          <a:solidFill>
            <a:srgbClr val="E53E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4D7E30-3FEE-41BA-98B6-E922C6C7139F}"/>
              </a:ext>
            </a:extLst>
          </p:cNvPr>
          <p:cNvSpPr txBox="1"/>
          <p:nvPr/>
        </p:nvSpPr>
        <p:spPr>
          <a:xfrm>
            <a:off x="762000" y="52578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만료  </a:t>
            </a:r>
            <a:r>
              <a:rPr lang="en-US" altLang="ko-KR" sz="1400" b="1">
                <a:solidFill>
                  <a:srgbClr val="1A2A3A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빨간 배지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78A8251-C382-4611-9509-422D2AB420CB}"/>
              </a:ext>
            </a:extLst>
          </p:cNvPr>
          <p:cNvSpPr/>
          <p:nvPr/>
        </p:nvSpPr>
        <p:spPr>
          <a:xfrm>
            <a:off x="3556000" y="5143500"/>
            <a:ext cx="3556000" cy="5080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D98FAE-964D-4379-A46A-49483799452B}"/>
              </a:ext>
            </a:extLst>
          </p:cNvPr>
          <p:cNvSpPr txBox="1"/>
          <p:nvPr/>
        </p:nvSpPr>
        <p:spPr>
          <a:xfrm>
            <a:off x="3556000" y="52578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1A2A3A"/>
                </a:solidFill>
                <a:latin typeface="맑은 고딕"/>
                <a:ea typeface="맑은 고딕"/>
              </a:rPr>
              <a:t>30</a:t>
            </a:r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일 이내 임박  </a:t>
            </a:r>
            <a:r>
              <a:rPr lang="en-US" altLang="ko-KR" sz="1400" b="1">
                <a:solidFill>
                  <a:srgbClr val="1A2A3A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노란 배지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D38C06A-C929-4EAD-B357-E7B85E96FB8A}"/>
              </a:ext>
            </a:extLst>
          </p:cNvPr>
          <p:cNvSpPr/>
          <p:nvPr/>
        </p:nvSpPr>
        <p:spPr>
          <a:xfrm>
            <a:off x="7366000" y="5143500"/>
            <a:ext cx="4064000" cy="508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3D4F4C-F397-4D43-ABA4-7ACBC2A5CAA7}"/>
              </a:ext>
            </a:extLst>
          </p:cNvPr>
          <p:cNvSpPr txBox="1"/>
          <p:nvPr/>
        </p:nvSpPr>
        <p:spPr>
          <a:xfrm>
            <a:off x="7366000" y="52578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C8D6E5"/>
                </a:solidFill>
                <a:latin typeface="맑은 고딕"/>
                <a:ea typeface="맑은 고딕"/>
              </a:rPr>
              <a:t>상시 </a:t>
            </a:r>
            <a:r>
              <a:rPr lang="en-US" altLang="ko-KR" sz="1400" b="1">
                <a:solidFill>
                  <a:srgbClr val="C8D6E5"/>
                </a:solidFill>
                <a:latin typeface="맑은 고딕"/>
                <a:ea typeface="맑은 고딕"/>
              </a:rPr>
              <a:t>(</a:t>
            </a:r>
            <a:r>
              <a:rPr lang="ko-KR" altLang="en-US" sz="1400" b="1">
                <a:solidFill>
                  <a:srgbClr val="C8D6E5"/>
                </a:solidFill>
                <a:latin typeface="맑은 고딕"/>
                <a:ea typeface="맑은 고딕"/>
              </a:rPr>
              <a:t>만료없음</a:t>
            </a:r>
            <a:r>
              <a:rPr lang="en-US" altLang="ko-KR" sz="1400" b="1">
                <a:solidFill>
                  <a:srgbClr val="C8D6E5"/>
                </a:solidFill>
                <a:latin typeface="맑은 고딕"/>
                <a:ea typeface="맑은 고딕"/>
              </a:rPr>
              <a:t>)  —  </a:t>
            </a:r>
            <a:r>
              <a:rPr lang="ko-KR" altLang="en-US" sz="1400" b="1">
                <a:solidFill>
                  <a:srgbClr val="C8D6E5"/>
                </a:solidFill>
                <a:latin typeface="맑은 고딕"/>
                <a:ea typeface="맑은 고딕"/>
              </a:rPr>
              <a:t>안전교육 한정</a:t>
            </a:r>
          </a:p>
        </p:txBody>
      </p:sp>
    </p:spTree>
    <p:extLst>
      <p:ext uri="{BB962C8B-B14F-4D97-AF65-F5344CB8AC3E}">
        <p14:creationId xmlns:p14="http://schemas.microsoft.com/office/powerpoint/2010/main" val="40504748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EC507D-7EF7-4D46-A40D-0431AEE094D9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PEOPLE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F6295-2991-4947-9C68-3A439B748C17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8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주 가용성 히트맵 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+ 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가용 인력 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D9B618-596F-40A0-85E1-A1EED9AA954C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C6924C-9535-49A0-8279-51448D9C0587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다음달 셋업 누구 보낼까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의사결정 화면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63D2BB-014D-410C-81BD-17A568B6ECAD}"/>
              </a:ext>
            </a:extLst>
          </p:cNvPr>
          <p:cNvSpPr txBox="1"/>
          <p:nvPr/>
        </p:nvSpPr>
        <p:spPr>
          <a:xfrm>
            <a:off x="762000" y="22225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8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주 격자 히트맵  </a:t>
            </a:r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(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엔지니어 </a:t>
            </a:r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× 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주차</a:t>
            </a:r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)</a:t>
            </a:r>
            <a:endParaRPr lang="ko-KR" altLang="en-US" sz="14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2F2CA1-F32D-4AB4-826E-9990EE4E373E}"/>
              </a:ext>
            </a:extLst>
          </p:cNvPr>
          <p:cNvSpPr txBox="1"/>
          <p:nvPr/>
        </p:nvSpPr>
        <p:spPr>
          <a:xfrm>
            <a:off x="2540000" y="22987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C8D6E5"/>
                </a:solidFill>
                <a:latin typeface="맑은 고딕"/>
                <a:ea typeface="맑은 고딕"/>
              </a:rPr>
              <a:t>W1</a:t>
            </a:r>
            <a:endParaRPr lang="ko-KR" altLang="en-US" sz="1100" b="1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C4CAC7-A12B-4854-9796-35FB10C98EDB}"/>
              </a:ext>
            </a:extLst>
          </p:cNvPr>
          <p:cNvSpPr txBox="1"/>
          <p:nvPr/>
        </p:nvSpPr>
        <p:spPr>
          <a:xfrm>
            <a:off x="3302000" y="22987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C8D6E5"/>
                </a:solidFill>
                <a:latin typeface="맑은 고딕"/>
                <a:ea typeface="맑은 고딕"/>
              </a:rPr>
              <a:t>W2</a:t>
            </a:r>
            <a:endParaRPr lang="ko-KR" altLang="en-US" sz="1100" b="1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1D8F82-DDA3-4138-B769-38292B785CF3}"/>
              </a:ext>
            </a:extLst>
          </p:cNvPr>
          <p:cNvSpPr txBox="1"/>
          <p:nvPr/>
        </p:nvSpPr>
        <p:spPr>
          <a:xfrm>
            <a:off x="4064000" y="22987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C8D6E5"/>
                </a:solidFill>
                <a:latin typeface="맑은 고딕"/>
                <a:ea typeface="맑은 고딕"/>
              </a:rPr>
              <a:t>W3</a:t>
            </a:r>
            <a:endParaRPr lang="ko-KR" altLang="en-US" sz="1100" b="1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525844-BBAB-4AC3-8233-14512C0E734E}"/>
              </a:ext>
            </a:extLst>
          </p:cNvPr>
          <p:cNvSpPr txBox="1"/>
          <p:nvPr/>
        </p:nvSpPr>
        <p:spPr>
          <a:xfrm>
            <a:off x="4826000" y="22987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C8D6E5"/>
                </a:solidFill>
                <a:latin typeface="맑은 고딕"/>
                <a:ea typeface="맑은 고딕"/>
              </a:rPr>
              <a:t>W4</a:t>
            </a:r>
            <a:endParaRPr lang="ko-KR" altLang="en-US" sz="1100" b="1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6E8D9-B54E-4F39-9397-28AC49C4B820}"/>
              </a:ext>
            </a:extLst>
          </p:cNvPr>
          <p:cNvSpPr txBox="1"/>
          <p:nvPr/>
        </p:nvSpPr>
        <p:spPr>
          <a:xfrm>
            <a:off x="5588000" y="22987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C8D6E5"/>
                </a:solidFill>
                <a:latin typeface="맑은 고딕"/>
                <a:ea typeface="맑은 고딕"/>
              </a:rPr>
              <a:t>W5</a:t>
            </a:r>
            <a:endParaRPr lang="ko-KR" altLang="en-US" sz="1100" b="1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B76E67-CBB5-476E-A51B-CF3F78113FA5}"/>
              </a:ext>
            </a:extLst>
          </p:cNvPr>
          <p:cNvSpPr txBox="1"/>
          <p:nvPr/>
        </p:nvSpPr>
        <p:spPr>
          <a:xfrm>
            <a:off x="6350000" y="22987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C8D6E5"/>
                </a:solidFill>
                <a:latin typeface="맑은 고딕"/>
                <a:ea typeface="맑은 고딕"/>
              </a:rPr>
              <a:t>W6</a:t>
            </a:r>
            <a:endParaRPr lang="ko-KR" altLang="en-US" sz="1100" b="1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3776A3-9D1A-4DFA-96F3-4E334D69280F}"/>
              </a:ext>
            </a:extLst>
          </p:cNvPr>
          <p:cNvSpPr txBox="1"/>
          <p:nvPr/>
        </p:nvSpPr>
        <p:spPr>
          <a:xfrm>
            <a:off x="7112000" y="22987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C8D6E5"/>
                </a:solidFill>
                <a:latin typeface="맑은 고딕"/>
                <a:ea typeface="맑은 고딕"/>
              </a:rPr>
              <a:t>W7</a:t>
            </a:r>
            <a:endParaRPr lang="ko-KR" altLang="en-US" sz="1100" b="1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050BC4-2A80-4577-822C-49DA82118A1D}"/>
              </a:ext>
            </a:extLst>
          </p:cNvPr>
          <p:cNvSpPr txBox="1"/>
          <p:nvPr/>
        </p:nvSpPr>
        <p:spPr>
          <a:xfrm>
            <a:off x="7874000" y="22987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C8D6E5"/>
                </a:solidFill>
                <a:latin typeface="맑은 고딕"/>
                <a:ea typeface="맑은 고딕"/>
              </a:rPr>
              <a:t>W8</a:t>
            </a:r>
            <a:endParaRPr lang="ko-KR" altLang="en-US" sz="1100" b="1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1A53B9-DCBA-4080-A83F-D012AAC30364}"/>
              </a:ext>
            </a:extLst>
          </p:cNvPr>
          <p:cNvSpPr txBox="1"/>
          <p:nvPr/>
        </p:nvSpPr>
        <p:spPr>
          <a:xfrm>
            <a:off x="762000" y="26543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0F0F0"/>
                </a:solidFill>
                <a:latin typeface="맑은 고딕"/>
                <a:ea typeface="맑은 고딕"/>
              </a:rPr>
              <a:t>김</a:t>
            </a:r>
            <a:r>
              <a:rPr lang="en-US" altLang="ko-KR" sz="1200">
                <a:solidFill>
                  <a:srgbClr val="F0F0F0"/>
                </a:solidFill>
                <a:latin typeface="맑은 고딕"/>
                <a:ea typeface="맑은 고딕"/>
              </a:rPr>
              <a:t>OO</a:t>
            </a:r>
            <a:endParaRPr lang="ko-KR" altLang="en-US" sz="12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27F9B7B-2795-4099-97D4-562FD5B03B25}"/>
              </a:ext>
            </a:extLst>
          </p:cNvPr>
          <p:cNvSpPr/>
          <p:nvPr/>
        </p:nvSpPr>
        <p:spPr>
          <a:xfrm>
            <a:off x="2540000" y="2603500"/>
            <a:ext cx="736600" cy="3556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B444262-8065-4F1B-9F71-33B8FE943DEA}"/>
              </a:ext>
            </a:extLst>
          </p:cNvPr>
          <p:cNvSpPr/>
          <p:nvPr/>
        </p:nvSpPr>
        <p:spPr>
          <a:xfrm>
            <a:off x="3302000" y="2603500"/>
            <a:ext cx="736600" cy="355600"/>
          </a:xfrm>
          <a:prstGeom prst="rect">
            <a:avLst/>
          </a:prstGeom>
          <a:solidFill>
            <a:srgbClr val="38A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8713B4C-ABE8-4C61-A8D3-00A55BC6B2FB}"/>
              </a:ext>
            </a:extLst>
          </p:cNvPr>
          <p:cNvSpPr/>
          <p:nvPr/>
        </p:nvSpPr>
        <p:spPr>
          <a:xfrm>
            <a:off x="4064000" y="2603500"/>
            <a:ext cx="736600" cy="3556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6EA8DC-1795-4ABC-B497-7D1EBDBAD9C6}"/>
              </a:ext>
            </a:extLst>
          </p:cNvPr>
          <p:cNvSpPr/>
          <p:nvPr/>
        </p:nvSpPr>
        <p:spPr>
          <a:xfrm>
            <a:off x="4826000" y="2603500"/>
            <a:ext cx="736600" cy="355600"/>
          </a:xfrm>
          <a:prstGeom prst="rect">
            <a:avLst/>
          </a:prstGeom>
          <a:solidFill>
            <a:srgbClr val="E53E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1FCFEBB-DC00-47F7-B243-ECE44A86D23F}"/>
              </a:ext>
            </a:extLst>
          </p:cNvPr>
          <p:cNvSpPr/>
          <p:nvPr/>
        </p:nvSpPr>
        <p:spPr>
          <a:xfrm>
            <a:off x="5588000" y="2603500"/>
            <a:ext cx="736600" cy="3556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99123D5-EF10-4488-83BA-E32752ED283C}"/>
              </a:ext>
            </a:extLst>
          </p:cNvPr>
          <p:cNvSpPr/>
          <p:nvPr/>
        </p:nvSpPr>
        <p:spPr>
          <a:xfrm>
            <a:off x="6350000" y="2603500"/>
            <a:ext cx="736600" cy="355600"/>
          </a:xfrm>
          <a:prstGeom prst="rect">
            <a:avLst/>
          </a:prstGeom>
          <a:solidFill>
            <a:srgbClr val="38A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4CB03CC-4237-463E-8E7D-8FD3804D24DF}"/>
              </a:ext>
            </a:extLst>
          </p:cNvPr>
          <p:cNvSpPr/>
          <p:nvPr/>
        </p:nvSpPr>
        <p:spPr>
          <a:xfrm>
            <a:off x="7112000" y="2603500"/>
            <a:ext cx="736600" cy="3556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9CCFB12-04F2-4275-A3AE-FBC34C1934FB}"/>
              </a:ext>
            </a:extLst>
          </p:cNvPr>
          <p:cNvSpPr/>
          <p:nvPr/>
        </p:nvSpPr>
        <p:spPr>
          <a:xfrm>
            <a:off x="7874000" y="2603500"/>
            <a:ext cx="736600" cy="3556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87F443-8C5C-4954-AF1E-799F307D2381}"/>
              </a:ext>
            </a:extLst>
          </p:cNvPr>
          <p:cNvSpPr txBox="1"/>
          <p:nvPr/>
        </p:nvSpPr>
        <p:spPr>
          <a:xfrm>
            <a:off x="762000" y="30353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0F0F0"/>
                </a:solidFill>
                <a:latin typeface="맑은 고딕"/>
                <a:ea typeface="맑은 고딕"/>
              </a:rPr>
              <a:t>이</a:t>
            </a:r>
            <a:r>
              <a:rPr lang="en-US" altLang="ko-KR" sz="1200">
                <a:solidFill>
                  <a:srgbClr val="F0F0F0"/>
                </a:solidFill>
                <a:latin typeface="맑은 고딕"/>
                <a:ea typeface="맑은 고딕"/>
              </a:rPr>
              <a:t>OO</a:t>
            </a:r>
            <a:endParaRPr lang="ko-KR" altLang="en-US" sz="12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F989DC-95B6-4842-A5AC-9352FEB4DFB3}"/>
              </a:ext>
            </a:extLst>
          </p:cNvPr>
          <p:cNvSpPr/>
          <p:nvPr/>
        </p:nvSpPr>
        <p:spPr>
          <a:xfrm>
            <a:off x="2540000" y="2984500"/>
            <a:ext cx="736600" cy="355600"/>
          </a:xfrm>
          <a:prstGeom prst="rect">
            <a:avLst/>
          </a:prstGeom>
          <a:solidFill>
            <a:srgbClr val="E53E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4C3BA95-CF57-4EE0-ACFC-C8E1C4D14A67}"/>
              </a:ext>
            </a:extLst>
          </p:cNvPr>
          <p:cNvSpPr/>
          <p:nvPr/>
        </p:nvSpPr>
        <p:spPr>
          <a:xfrm>
            <a:off x="3302000" y="2984500"/>
            <a:ext cx="736600" cy="3556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AF8A7ED-DA3D-42A3-ACF6-68CE5C9EBE1C}"/>
              </a:ext>
            </a:extLst>
          </p:cNvPr>
          <p:cNvSpPr/>
          <p:nvPr/>
        </p:nvSpPr>
        <p:spPr>
          <a:xfrm>
            <a:off x="4064000" y="2984500"/>
            <a:ext cx="736600" cy="355600"/>
          </a:xfrm>
          <a:prstGeom prst="rect">
            <a:avLst/>
          </a:prstGeom>
          <a:solidFill>
            <a:srgbClr val="38A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CE9E17-5E4E-408A-8804-049372E1E817}"/>
              </a:ext>
            </a:extLst>
          </p:cNvPr>
          <p:cNvSpPr/>
          <p:nvPr/>
        </p:nvSpPr>
        <p:spPr>
          <a:xfrm>
            <a:off x="4826000" y="2984500"/>
            <a:ext cx="736600" cy="3556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EE3AE52-78FB-42B7-86B3-808992F079A2}"/>
              </a:ext>
            </a:extLst>
          </p:cNvPr>
          <p:cNvSpPr/>
          <p:nvPr/>
        </p:nvSpPr>
        <p:spPr>
          <a:xfrm>
            <a:off x="5588000" y="2984500"/>
            <a:ext cx="736600" cy="3556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E1FEEB9-FDD5-4322-9848-61BC5A282A57}"/>
              </a:ext>
            </a:extLst>
          </p:cNvPr>
          <p:cNvSpPr/>
          <p:nvPr/>
        </p:nvSpPr>
        <p:spPr>
          <a:xfrm>
            <a:off x="6350000" y="2984500"/>
            <a:ext cx="736600" cy="3556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B1A9DDA-23FB-477E-862E-19B276348536}"/>
              </a:ext>
            </a:extLst>
          </p:cNvPr>
          <p:cNvSpPr/>
          <p:nvPr/>
        </p:nvSpPr>
        <p:spPr>
          <a:xfrm>
            <a:off x="7112000" y="2984500"/>
            <a:ext cx="736600" cy="355600"/>
          </a:xfrm>
          <a:prstGeom prst="rect">
            <a:avLst/>
          </a:prstGeom>
          <a:solidFill>
            <a:srgbClr val="38A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FBE12BB-1BFF-4A22-98A3-A171D5416C89}"/>
              </a:ext>
            </a:extLst>
          </p:cNvPr>
          <p:cNvSpPr/>
          <p:nvPr/>
        </p:nvSpPr>
        <p:spPr>
          <a:xfrm>
            <a:off x="7874000" y="2984500"/>
            <a:ext cx="736600" cy="3556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A51AFF-FD61-4D05-8B0E-C451852E6ADE}"/>
              </a:ext>
            </a:extLst>
          </p:cNvPr>
          <p:cNvSpPr txBox="1"/>
          <p:nvPr/>
        </p:nvSpPr>
        <p:spPr>
          <a:xfrm>
            <a:off x="762000" y="34163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0F0F0"/>
                </a:solidFill>
                <a:latin typeface="맑은 고딕"/>
                <a:ea typeface="맑은 고딕"/>
              </a:rPr>
              <a:t>박</a:t>
            </a:r>
            <a:r>
              <a:rPr lang="en-US" altLang="ko-KR" sz="1200">
                <a:solidFill>
                  <a:srgbClr val="F0F0F0"/>
                </a:solidFill>
                <a:latin typeface="맑은 고딕"/>
                <a:ea typeface="맑은 고딕"/>
              </a:rPr>
              <a:t>OO</a:t>
            </a:r>
            <a:endParaRPr lang="ko-KR" altLang="en-US" sz="12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4ADA16A-4A40-4902-812B-DC32745D3DBB}"/>
              </a:ext>
            </a:extLst>
          </p:cNvPr>
          <p:cNvSpPr/>
          <p:nvPr/>
        </p:nvSpPr>
        <p:spPr>
          <a:xfrm>
            <a:off x="2540000" y="3365500"/>
            <a:ext cx="736600" cy="3556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368D64A-BE0C-4481-AC3C-D974EE8F04EA}"/>
              </a:ext>
            </a:extLst>
          </p:cNvPr>
          <p:cNvSpPr/>
          <p:nvPr/>
        </p:nvSpPr>
        <p:spPr>
          <a:xfrm>
            <a:off x="3302000" y="3365500"/>
            <a:ext cx="736600" cy="3556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9DB5FF5-E92C-4E0B-8D65-8948E4551638}"/>
              </a:ext>
            </a:extLst>
          </p:cNvPr>
          <p:cNvSpPr/>
          <p:nvPr/>
        </p:nvSpPr>
        <p:spPr>
          <a:xfrm>
            <a:off x="4064000" y="3365500"/>
            <a:ext cx="736600" cy="3556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BFC2676-7D5F-4F47-8FB5-A1524B83676B}"/>
              </a:ext>
            </a:extLst>
          </p:cNvPr>
          <p:cNvSpPr/>
          <p:nvPr/>
        </p:nvSpPr>
        <p:spPr>
          <a:xfrm>
            <a:off x="4826000" y="3365500"/>
            <a:ext cx="736600" cy="355600"/>
          </a:xfrm>
          <a:prstGeom prst="rect">
            <a:avLst/>
          </a:prstGeom>
          <a:solidFill>
            <a:srgbClr val="38A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F93EE4F-B88F-43A8-89B7-08BC8682DC3B}"/>
              </a:ext>
            </a:extLst>
          </p:cNvPr>
          <p:cNvSpPr/>
          <p:nvPr/>
        </p:nvSpPr>
        <p:spPr>
          <a:xfrm>
            <a:off x="5588000" y="3365500"/>
            <a:ext cx="736600" cy="3556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5EDBCBA-F78A-4F7E-9950-B77E1CA665D3}"/>
              </a:ext>
            </a:extLst>
          </p:cNvPr>
          <p:cNvSpPr/>
          <p:nvPr/>
        </p:nvSpPr>
        <p:spPr>
          <a:xfrm>
            <a:off x="6350000" y="3365500"/>
            <a:ext cx="736600" cy="355600"/>
          </a:xfrm>
          <a:prstGeom prst="rect">
            <a:avLst/>
          </a:prstGeom>
          <a:solidFill>
            <a:srgbClr val="E53E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7DED5A2-2647-4267-AF5F-520E27D200AA}"/>
              </a:ext>
            </a:extLst>
          </p:cNvPr>
          <p:cNvSpPr/>
          <p:nvPr/>
        </p:nvSpPr>
        <p:spPr>
          <a:xfrm>
            <a:off x="7112000" y="3365500"/>
            <a:ext cx="736600" cy="3556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A658BE3-94D0-4F33-8B0A-60D6C7437CCE}"/>
              </a:ext>
            </a:extLst>
          </p:cNvPr>
          <p:cNvSpPr/>
          <p:nvPr/>
        </p:nvSpPr>
        <p:spPr>
          <a:xfrm>
            <a:off x="7874000" y="3365500"/>
            <a:ext cx="736600" cy="355600"/>
          </a:xfrm>
          <a:prstGeom prst="rect">
            <a:avLst/>
          </a:prstGeom>
          <a:solidFill>
            <a:srgbClr val="38A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7CA8F8-FF20-40E7-9BC7-D51D77149B7D}"/>
              </a:ext>
            </a:extLst>
          </p:cNvPr>
          <p:cNvSpPr txBox="1"/>
          <p:nvPr/>
        </p:nvSpPr>
        <p:spPr>
          <a:xfrm>
            <a:off x="762000" y="37973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0F0F0"/>
                </a:solidFill>
                <a:latin typeface="맑은 고딕"/>
                <a:ea typeface="맑은 고딕"/>
              </a:rPr>
              <a:t>최</a:t>
            </a:r>
            <a:r>
              <a:rPr lang="en-US" altLang="ko-KR" sz="1200">
                <a:solidFill>
                  <a:srgbClr val="F0F0F0"/>
                </a:solidFill>
                <a:latin typeface="맑은 고딕"/>
                <a:ea typeface="맑은 고딕"/>
              </a:rPr>
              <a:t>OO</a:t>
            </a:r>
            <a:endParaRPr lang="ko-KR" altLang="en-US" sz="12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0613297-DAE0-46A6-A522-80EAC12F5CE5}"/>
              </a:ext>
            </a:extLst>
          </p:cNvPr>
          <p:cNvSpPr/>
          <p:nvPr/>
        </p:nvSpPr>
        <p:spPr>
          <a:xfrm>
            <a:off x="2540000" y="3746500"/>
            <a:ext cx="736600" cy="355600"/>
          </a:xfrm>
          <a:prstGeom prst="rect">
            <a:avLst/>
          </a:prstGeom>
          <a:solidFill>
            <a:srgbClr val="38A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89CB08B-44FF-44B3-8406-CA0A6121C008}"/>
              </a:ext>
            </a:extLst>
          </p:cNvPr>
          <p:cNvSpPr/>
          <p:nvPr/>
        </p:nvSpPr>
        <p:spPr>
          <a:xfrm>
            <a:off x="3302000" y="3746500"/>
            <a:ext cx="736600" cy="3556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56016F0-90D1-4A8F-B952-9CB6B6C39A86}"/>
              </a:ext>
            </a:extLst>
          </p:cNvPr>
          <p:cNvSpPr/>
          <p:nvPr/>
        </p:nvSpPr>
        <p:spPr>
          <a:xfrm>
            <a:off x="4064000" y="3746500"/>
            <a:ext cx="736600" cy="355600"/>
          </a:xfrm>
          <a:prstGeom prst="rect">
            <a:avLst/>
          </a:prstGeom>
          <a:solidFill>
            <a:srgbClr val="E53E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9F8B172-4CE4-4AFF-915F-C9CD272EBA3C}"/>
              </a:ext>
            </a:extLst>
          </p:cNvPr>
          <p:cNvSpPr/>
          <p:nvPr/>
        </p:nvSpPr>
        <p:spPr>
          <a:xfrm>
            <a:off x="4826000" y="3746500"/>
            <a:ext cx="736600" cy="3556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CAE4D14-0F81-46BA-8520-D81958D5D072}"/>
              </a:ext>
            </a:extLst>
          </p:cNvPr>
          <p:cNvSpPr/>
          <p:nvPr/>
        </p:nvSpPr>
        <p:spPr>
          <a:xfrm>
            <a:off x="5588000" y="3746500"/>
            <a:ext cx="736600" cy="355600"/>
          </a:xfrm>
          <a:prstGeom prst="rect">
            <a:avLst/>
          </a:prstGeom>
          <a:solidFill>
            <a:srgbClr val="38A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D583D79-D5F2-4AB2-A30D-B20833C9A9FC}"/>
              </a:ext>
            </a:extLst>
          </p:cNvPr>
          <p:cNvSpPr/>
          <p:nvPr/>
        </p:nvSpPr>
        <p:spPr>
          <a:xfrm>
            <a:off x="6350000" y="3746500"/>
            <a:ext cx="736600" cy="3556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2DAE895-9A54-4AB3-96B0-D9156332BB43}"/>
              </a:ext>
            </a:extLst>
          </p:cNvPr>
          <p:cNvSpPr/>
          <p:nvPr/>
        </p:nvSpPr>
        <p:spPr>
          <a:xfrm>
            <a:off x="7112000" y="3746500"/>
            <a:ext cx="736600" cy="3556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9925F1B-C95E-422E-9B74-8A7AE62760B1}"/>
              </a:ext>
            </a:extLst>
          </p:cNvPr>
          <p:cNvSpPr/>
          <p:nvPr/>
        </p:nvSpPr>
        <p:spPr>
          <a:xfrm>
            <a:off x="7874000" y="3746500"/>
            <a:ext cx="736600" cy="3556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67D63C-5921-47C6-9B75-E8D0CB92A680}"/>
              </a:ext>
            </a:extLst>
          </p:cNvPr>
          <p:cNvSpPr/>
          <p:nvPr/>
        </p:nvSpPr>
        <p:spPr>
          <a:xfrm>
            <a:off x="762000" y="4572000"/>
            <a:ext cx="10668000" cy="1270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80F7E1-6736-43E1-817B-6430DE3D4FAF}"/>
              </a:ext>
            </a:extLst>
          </p:cNvPr>
          <p:cNvSpPr txBox="1"/>
          <p:nvPr/>
        </p:nvSpPr>
        <p:spPr>
          <a:xfrm>
            <a:off x="1016000" y="47625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00D4AA"/>
                </a:solidFill>
                <a:latin typeface="맑은 고딕"/>
                <a:ea typeface="맑은 고딕"/>
              </a:rPr>
              <a:t>가용 인력 풀  </a:t>
            </a:r>
            <a:r>
              <a:rPr lang="en-US" altLang="ko-KR" sz="1600" b="1">
                <a:solidFill>
                  <a:srgbClr val="00D4AA"/>
                </a:solidFill>
                <a:latin typeface="맑은 고딕"/>
                <a:ea typeface="맑은 고딕"/>
              </a:rPr>
              <a:t>+  Excel </a:t>
            </a:r>
            <a:r>
              <a:rPr lang="ko-KR" altLang="en-US" sz="1600" b="1">
                <a:solidFill>
                  <a:srgbClr val="00D4AA"/>
                </a:solidFill>
                <a:latin typeface="맑은 고딕"/>
                <a:ea typeface="맑은 고딕"/>
              </a:rPr>
              <a:t>추출 </a:t>
            </a:r>
            <a:r>
              <a:rPr lang="en-US" altLang="ko-KR" sz="1600" b="1">
                <a:solidFill>
                  <a:srgbClr val="00D4AA"/>
                </a:solidFill>
                <a:latin typeface="맑은 고딕"/>
                <a:ea typeface="맑은 고딕"/>
              </a:rPr>
              <a:t>3</a:t>
            </a:r>
            <a:r>
              <a:rPr lang="ko-KR" altLang="en-US" sz="1600" b="1">
                <a:solidFill>
                  <a:srgbClr val="00D4AA"/>
                </a:solidFill>
                <a:latin typeface="맑은 고딕"/>
                <a:ea typeface="맑은 고딕"/>
              </a:rPr>
              <a:t>시트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4338D4-7B2B-4BD1-AB18-14D0790218DC}"/>
              </a:ext>
            </a:extLst>
          </p:cNvPr>
          <p:cNvSpPr txBox="1"/>
          <p:nvPr/>
        </p:nvSpPr>
        <p:spPr>
          <a:xfrm>
            <a:off x="1016000" y="51435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출장 일정 없는 엔지니어 별도 노출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A72D84-2609-48F2-99EF-B9D69A05AF2E}"/>
              </a:ext>
            </a:extLst>
          </p:cNvPr>
          <p:cNvSpPr txBox="1"/>
          <p:nvPr/>
        </p:nvSpPr>
        <p:spPr>
          <a:xfrm>
            <a:off x="1016000" y="5461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Excel =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엔지니어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가용 풀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 8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주 히트맵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3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시트</a:t>
            </a:r>
          </a:p>
        </p:txBody>
      </p:sp>
    </p:spTree>
    <p:extLst>
      <p:ext uri="{BB962C8B-B14F-4D97-AF65-F5344CB8AC3E}">
        <p14:creationId xmlns:p14="http://schemas.microsoft.com/office/powerpoint/2010/main" val="41534108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F0BB28-3A10-40E6-89F0-1311A503D5E3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VERSIONS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54814B-0CA8-4655-90D7-E602C847B43A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프로젝트별 버전 등록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B0A092-7300-4ED1-A309-55C1F942C3B8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BF947A-F171-470D-8E15-34B65930372C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변경 노트 필수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추적성 강제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AF25D46-27CF-4602-9B6B-9ED54AF9AE62}"/>
              </a:ext>
            </a:extLst>
          </p:cNvPr>
          <p:cNvSpPr/>
          <p:nvPr/>
        </p:nvSpPr>
        <p:spPr>
          <a:xfrm>
            <a:off x="762000" y="2222500"/>
            <a:ext cx="10668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B117D8-BB44-4AD5-A12D-03B4E7EDF802}"/>
              </a:ext>
            </a:extLst>
          </p:cNvPr>
          <p:cNvSpPr txBox="1"/>
          <p:nvPr/>
        </p:nvSpPr>
        <p:spPr>
          <a:xfrm>
            <a:off x="1016000" y="2387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00D4AA"/>
                </a:solidFill>
                <a:latin typeface="맑은 고딕"/>
                <a:ea typeface="맑은 고딕"/>
              </a:rPr>
              <a:t>카테고리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30D4F5-37E6-463A-B363-8B9BCD30B98C}"/>
              </a:ext>
            </a:extLst>
          </p:cNvPr>
          <p:cNvSpPr txBox="1"/>
          <p:nvPr/>
        </p:nvSpPr>
        <p:spPr>
          <a:xfrm>
            <a:off x="3683000" y="2387600"/>
            <a:ext cx="762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HW / SW /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충방전기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FW /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인터페이스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FW (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추천 칩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CF54B5-9AF0-41A1-87BE-DFBE0BDAC056}"/>
              </a:ext>
            </a:extLst>
          </p:cNvPr>
          <p:cNvSpPr/>
          <p:nvPr/>
        </p:nvSpPr>
        <p:spPr>
          <a:xfrm>
            <a:off x="762000" y="2984500"/>
            <a:ext cx="10668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3FB7DD-AEEC-47C0-897C-E98ADD18FA4F}"/>
              </a:ext>
            </a:extLst>
          </p:cNvPr>
          <p:cNvSpPr txBox="1"/>
          <p:nvPr/>
        </p:nvSpPr>
        <p:spPr>
          <a:xfrm>
            <a:off x="1016000" y="3149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00D4AA"/>
                </a:solidFill>
                <a:latin typeface="맑은 고딕"/>
                <a:ea typeface="맑은 고딕"/>
              </a:rPr>
              <a:t>버전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62AAC1-3D2C-4725-8625-5625EDAD9E27}"/>
              </a:ext>
            </a:extLst>
          </p:cNvPr>
          <p:cNvSpPr txBox="1"/>
          <p:nvPr/>
        </p:nvSpPr>
        <p:spPr>
          <a:xfrm>
            <a:off x="3683000" y="3149600"/>
            <a:ext cx="762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예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) 2.1.3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690B77-9EBF-4B0D-BD04-221B3D5383CB}"/>
              </a:ext>
            </a:extLst>
          </p:cNvPr>
          <p:cNvSpPr/>
          <p:nvPr/>
        </p:nvSpPr>
        <p:spPr>
          <a:xfrm>
            <a:off x="762000" y="3746500"/>
            <a:ext cx="10668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77A9E1-C549-4B49-8B2B-5D026A2018C9}"/>
              </a:ext>
            </a:extLst>
          </p:cNvPr>
          <p:cNvSpPr txBox="1"/>
          <p:nvPr/>
        </p:nvSpPr>
        <p:spPr>
          <a:xfrm>
            <a:off x="1016000" y="3911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00D4AA"/>
                </a:solidFill>
                <a:latin typeface="맑은 고딕"/>
                <a:ea typeface="맑은 고딕"/>
              </a:rPr>
              <a:t>배포일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F3BF7D-3062-422A-94EB-004E2AAC380A}"/>
              </a:ext>
            </a:extLst>
          </p:cNvPr>
          <p:cNvSpPr txBox="1"/>
          <p:nvPr/>
        </p:nvSpPr>
        <p:spPr>
          <a:xfrm>
            <a:off x="3683000" y="3911600"/>
            <a:ext cx="762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ko-KR" altLang="en-US" sz="14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0AD731B-0F8C-4890-9B39-7F9C92C8B1C5}"/>
              </a:ext>
            </a:extLst>
          </p:cNvPr>
          <p:cNvSpPr/>
          <p:nvPr/>
        </p:nvSpPr>
        <p:spPr>
          <a:xfrm>
            <a:off x="762000" y="4508500"/>
            <a:ext cx="10668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D7019C-38DC-47EB-BE31-C709821B843C}"/>
              </a:ext>
            </a:extLst>
          </p:cNvPr>
          <p:cNvSpPr txBox="1"/>
          <p:nvPr/>
        </p:nvSpPr>
        <p:spPr>
          <a:xfrm>
            <a:off x="1016000" y="4673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00D4AA"/>
                </a:solidFill>
                <a:latin typeface="맑은 고딕"/>
                <a:ea typeface="맑은 고딕"/>
              </a:rPr>
              <a:t>변경 노트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9D9920-F956-4C88-AB68-D7F2A326B4BB}"/>
              </a:ext>
            </a:extLst>
          </p:cNvPr>
          <p:cNvSpPr txBox="1"/>
          <p:nvPr/>
        </p:nvSpPr>
        <p:spPr>
          <a:xfrm>
            <a:off x="3683000" y="4673600"/>
            <a:ext cx="762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필수 입력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비우면 등록 불가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26F501E-D29E-47C2-A77E-69E91EB6A3CB}"/>
              </a:ext>
            </a:extLst>
          </p:cNvPr>
          <p:cNvSpPr/>
          <p:nvPr/>
        </p:nvSpPr>
        <p:spPr>
          <a:xfrm>
            <a:off x="762000" y="5397500"/>
            <a:ext cx="10668000" cy="762000"/>
          </a:xfrm>
          <a:prstGeom prst="rect">
            <a:avLst/>
          </a:prstGeom>
          <a:solidFill>
            <a:srgbClr val="1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468DD1-BFB6-4BF2-AD26-1CF65CD713A5}"/>
              </a:ext>
            </a:extLst>
          </p:cNvPr>
          <p:cNvSpPr txBox="1"/>
          <p:nvPr/>
        </p:nvSpPr>
        <p:spPr>
          <a:xfrm>
            <a:off x="1016000" y="55499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F6AD55"/>
                </a:solidFill>
                <a:latin typeface="맑은 고딕"/>
                <a:ea typeface="맑은 고딕"/>
              </a:rPr>
              <a:t>💡  단축키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784C84-AD7C-41EC-85A9-F7D2C00F352E}"/>
              </a:ext>
            </a:extLst>
          </p:cNvPr>
          <p:cNvSpPr txBox="1"/>
          <p:nvPr/>
        </p:nvSpPr>
        <p:spPr>
          <a:xfrm>
            <a:off x="1016000" y="58420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카테고리</a:t>
            </a:r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/</a:t>
            </a:r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버전 칸  </a:t>
            </a:r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Enter  ·  </a:t>
            </a:r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노트 칸  </a:t>
            </a:r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Ctrl+Enter  ·  </a:t>
            </a:r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모달 안 닫힘 </a:t>
            </a:r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= </a:t>
            </a:r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카테고리 유지하며 연속 등록</a:t>
            </a:r>
          </a:p>
        </p:txBody>
      </p:sp>
    </p:spTree>
    <p:extLst>
      <p:ext uri="{BB962C8B-B14F-4D97-AF65-F5344CB8AC3E}">
        <p14:creationId xmlns:p14="http://schemas.microsoft.com/office/powerpoint/2010/main" val="31810107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335913-EDC4-4B2F-9767-56C9AAC3D230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VERSIONS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1326AB-8F91-477A-A691-36DBD8FB07F6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카테고리 통일 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/ 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전사 통합 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FD1C7E-3F21-4804-A306-3276D4E4FBF8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AE794-C9EC-4ADD-AE74-A1B49E76C077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최신 버전이 뭐였지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?"  —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카테고리 필터로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5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초 안에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34C40F-4E70-46E6-8150-C79FE24D2F94}"/>
              </a:ext>
            </a:extLst>
          </p:cNvPr>
          <p:cNvSpPr/>
          <p:nvPr/>
        </p:nvSpPr>
        <p:spPr>
          <a:xfrm>
            <a:off x="762000" y="2222500"/>
            <a:ext cx="5080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53DE8C8-9177-43A3-809E-E4693F4D48A5}"/>
              </a:ext>
            </a:extLst>
          </p:cNvPr>
          <p:cNvSpPr/>
          <p:nvPr/>
        </p:nvSpPr>
        <p:spPr>
          <a:xfrm>
            <a:off x="762000" y="2222500"/>
            <a:ext cx="50800" cy="3556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464E57-EAA9-4D45-AF77-A66797CC0C60}"/>
              </a:ext>
            </a:extLst>
          </p:cNvPr>
          <p:cNvSpPr txBox="1"/>
          <p:nvPr/>
        </p:nvSpPr>
        <p:spPr>
          <a:xfrm>
            <a:off x="1016000" y="2476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00D4AA"/>
                </a:solidFill>
                <a:latin typeface="맑은 고딕"/>
                <a:ea typeface="맑은 고딕"/>
              </a:rPr>
              <a:t>카테고리 자동 정렬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6531A1-8220-46C6-B80A-B06B24F51976}"/>
              </a:ext>
            </a:extLst>
          </p:cNvPr>
          <p:cNvSpPr txBox="1"/>
          <p:nvPr/>
        </p:nvSpPr>
        <p:spPr>
          <a:xfrm>
            <a:off x="1270000" y="29845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1.  HW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1CBF05-D2F9-4F81-9E6B-1D4B1BFC79BB}"/>
              </a:ext>
            </a:extLst>
          </p:cNvPr>
          <p:cNvSpPr txBox="1"/>
          <p:nvPr/>
        </p:nvSpPr>
        <p:spPr>
          <a:xfrm>
            <a:off x="1270000" y="33909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2.  SW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7A0DE-47DD-41E7-B71F-56233D04544B}"/>
              </a:ext>
            </a:extLst>
          </p:cNvPr>
          <p:cNvSpPr txBox="1"/>
          <p:nvPr/>
        </p:nvSpPr>
        <p:spPr>
          <a:xfrm>
            <a:off x="1270000" y="37973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3.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충방전기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FW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B8C148-4D10-417F-83E5-3CCE03DDBC5D}"/>
              </a:ext>
            </a:extLst>
          </p:cNvPr>
          <p:cNvSpPr txBox="1"/>
          <p:nvPr/>
        </p:nvSpPr>
        <p:spPr>
          <a:xfrm>
            <a:off x="1270000" y="42037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4.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인터페이스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FW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3C4C3F-9130-46D6-9BC8-262212383AD5}"/>
              </a:ext>
            </a:extLst>
          </p:cNvPr>
          <p:cNvSpPr txBox="1"/>
          <p:nvPr/>
        </p:nvSpPr>
        <p:spPr>
          <a:xfrm>
            <a:off x="1270000" y="46101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5.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자유 입력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한글 순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FD2E053-72A0-4CE3-A9B9-EFA86C4E80C2}"/>
              </a:ext>
            </a:extLst>
          </p:cNvPr>
          <p:cNvSpPr/>
          <p:nvPr/>
        </p:nvSpPr>
        <p:spPr>
          <a:xfrm>
            <a:off x="6350000" y="2222500"/>
            <a:ext cx="5080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8FCB2E-7AA3-4FE3-BCE3-D4094AD06261}"/>
              </a:ext>
            </a:extLst>
          </p:cNvPr>
          <p:cNvSpPr/>
          <p:nvPr/>
        </p:nvSpPr>
        <p:spPr>
          <a:xfrm>
            <a:off x="6350000" y="2222500"/>
            <a:ext cx="50800" cy="3556000"/>
          </a:xfrm>
          <a:prstGeom prst="rect">
            <a:avLst/>
          </a:prstGeom>
          <a:solidFill>
            <a:srgbClr val="667E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736875-D171-4430-BD8E-4281EBA2A66C}"/>
              </a:ext>
            </a:extLst>
          </p:cNvPr>
          <p:cNvSpPr txBox="1"/>
          <p:nvPr/>
        </p:nvSpPr>
        <p:spPr>
          <a:xfrm>
            <a:off x="6604000" y="2476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667EEA"/>
                </a:solidFill>
                <a:latin typeface="맑은 고딕"/>
                <a:ea typeface="맑은 고딕"/>
              </a:rPr>
              <a:t>버전 릴리즈 관리 메뉴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79B64D-E78A-4EA2-B040-4B835B490207}"/>
              </a:ext>
            </a:extLst>
          </p:cNvPr>
          <p:cNvSpPr txBox="1"/>
          <p:nvPr/>
        </p:nvSpPr>
        <p:spPr>
          <a:xfrm>
            <a:off x="6604000" y="29845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전 프로젝트 버전 변경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C3DE73-D20E-4847-812E-19B283969EA7}"/>
              </a:ext>
            </a:extLst>
          </p:cNvPr>
          <p:cNvSpPr txBox="1"/>
          <p:nvPr/>
        </p:nvSpPr>
        <p:spPr>
          <a:xfrm>
            <a:off x="6604000" y="33909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시간 역순 통합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03C10C-C06A-438B-9C16-228D1ED5CBFC}"/>
              </a:ext>
            </a:extLst>
          </p:cNvPr>
          <p:cNvSpPr txBox="1"/>
          <p:nvPr/>
        </p:nvSpPr>
        <p:spPr>
          <a:xfrm>
            <a:off x="6604000" y="37973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카테고리 필터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619C42-BD6F-46E3-B5A2-2496E9613FBA}"/>
              </a:ext>
            </a:extLst>
          </p:cNvPr>
          <p:cNvSpPr txBox="1"/>
          <p:nvPr/>
        </p:nvSpPr>
        <p:spPr>
          <a:xfrm>
            <a:off x="6604000" y="42037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프로젝트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작성자 검색</a:t>
            </a:r>
          </a:p>
        </p:txBody>
      </p:sp>
    </p:spTree>
    <p:extLst>
      <p:ext uri="{BB962C8B-B14F-4D97-AF65-F5344CB8AC3E}">
        <p14:creationId xmlns:p14="http://schemas.microsoft.com/office/powerpoint/2010/main" val="40432819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BE77A7-E42A-4E32-907E-956D96F6E834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WEEKLY REPORT  ★ NEW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E8FC62-7604-42A1-A937-627DEB829D98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왜 이 기능을 쓰나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72A1C9-9F09-41C0-BB20-1F5F4E493944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C99228-4091-41E8-A3A9-BCA84C78C655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EQ-PMS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한 주간 활동을 자동 집계  →  보고서 초안 생성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9B7018-9C7F-491B-9EF6-FE58B0EC3252}"/>
              </a:ext>
            </a:extLst>
          </p:cNvPr>
          <p:cNvSpPr/>
          <p:nvPr/>
        </p:nvSpPr>
        <p:spPr>
          <a:xfrm>
            <a:off x="762000" y="2222500"/>
            <a:ext cx="5207000" cy="2794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7B1DE6-BD93-4AF9-97CF-9394A1E68E26}"/>
              </a:ext>
            </a:extLst>
          </p:cNvPr>
          <p:cNvSpPr txBox="1"/>
          <p:nvPr/>
        </p:nvSpPr>
        <p:spPr>
          <a:xfrm>
            <a:off x="1016000" y="2476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C8D6E5"/>
                </a:solidFill>
                <a:latin typeface="맑은 고딕"/>
                <a:ea typeface="맑은 고딕"/>
              </a:rPr>
              <a:t>기존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F7D7BC-7461-4062-A50C-78FA46FE0C8E}"/>
              </a:ext>
            </a:extLst>
          </p:cNvPr>
          <p:cNvSpPr txBox="1"/>
          <p:nvPr/>
        </p:nvSpPr>
        <p:spPr>
          <a:xfrm>
            <a:off x="1016000" y="2921000"/>
            <a:ext cx="4699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6400" b="1">
                <a:solidFill>
                  <a:srgbClr val="E53E3E"/>
                </a:solidFill>
                <a:latin typeface="맑은 고딕"/>
                <a:ea typeface="맑은 고딕"/>
              </a:rPr>
              <a:t>30</a:t>
            </a:r>
            <a:r>
              <a:rPr lang="ko-KR" altLang="en-US" sz="6400" b="1">
                <a:solidFill>
                  <a:srgbClr val="E53E3E"/>
                </a:solidFill>
                <a:latin typeface="맑은 고딕"/>
                <a:ea typeface="맑은 고딕"/>
              </a:rPr>
              <a:t>분</a:t>
            </a:r>
            <a:r>
              <a:rPr lang="en-US" altLang="ko-KR" sz="6400" b="1">
                <a:solidFill>
                  <a:srgbClr val="E53E3E"/>
                </a:solidFill>
                <a:latin typeface="맑은 고딕"/>
                <a:ea typeface="맑은 고딕"/>
              </a:rPr>
              <a:t>+</a:t>
            </a:r>
            <a:endParaRPr lang="ko-KR" altLang="en-US" sz="6400" b="1">
              <a:solidFill>
                <a:srgbClr val="E53E3E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0E98A6-7FBE-43FD-A323-455516E96C4A}"/>
              </a:ext>
            </a:extLst>
          </p:cNvPr>
          <p:cNvSpPr txBox="1"/>
          <p:nvPr/>
        </p:nvSpPr>
        <p:spPr>
          <a:xfrm>
            <a:off x="1016000" y="4318000"/>
            <a:ext cx="469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매주 월요일 보고서 작성 시간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B0359E8-71EC-4421-B405-D620F7828799}"/>
              </a:ext>
            </a:extLst>
          </p:cNvPr>
          <p:cNvSpPr/>
          <p:nvPr/>
        </p:nvSpPr>
        <p:spPr>
          <a:xfrm>
            <a:off x="6223000" y="2222500"/>
            <a:ext cx="5207000" cy="2794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F2767C-93FA-40A4-8969-FF70796A5989}"/>
              </a:ext>
            </a:extLst>
          </p:cNvPr>
          <p:cNvSpPr/>
          <p:nvPr/>
        </p:nvSpPr>
        <p:spPr>
          <a:xfrm>
            <a:off x="6223000" y="2222500"/>
            <a:ext cx="5207000" cy="508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168F61-A09F-4537-A09E-10CBDBE183E6}"/>
              </a:ext>
            </a:extLst>
          </p:cNvPr>
          <p:cNvSpPr txBox="1"/>
          <p:nvPr/>
        </p:nvSpPr>
        <p:spPr>
          <a:xfrm>
            <a:off x="6477000" y="24765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EQ-PMS</a:t>
            </a:r>
            <a:endParaRPr lang="ko-KR" altLang="en-US" sz="14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CD8B50-CD2C-4F19-80E0-99568AA4B630}"/>
              </a:ext>
            </a:extLst>
          </p:cNvPr>
          <p:cNvSpPr txBox="1"/>
          <p:nvPr/>
        </p:nvSpPr>
        <p:spPr>
          <a:xfrm>
            <a:off x="6477000" y="2921000"/>
            <a:ext cx="4699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6400" b="1">
                <a:solidFill>
                  <a:srgbClr val="00D4AA"/>
                </a:solidFill>
                <a:latin typeface="맑은 고딕"/>
                <a:ea typeface="맑은 고딕"/>
              </a:rPr>
              <a:t>90%↓</a:t>
            </a:r>
            <a:endParaRPr lang="ko-KR" altLang="en-US" sz="64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ACCEA0-6013-4C66-B90F-5804394A04CE}"/>
              </a:ext>
            </a:extLst>
          </p:cNvPr>
          <p:cNvSpPr txBox="1"/>
          <p:nvPr/>
        </p:nvSpPr>
        <p:spPr>
          <a:xfrm>
            <a:off x="6477000" y="4318000"/>
            <a:ext cx="469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수기 작성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90%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단축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7269E9-6B92-46D9-B8EE-CD47F8E841EE}"/>
              </a:ext>
            </a:extLst>
          </p:cNvPr>
          <p:cNvSpPr txBox="1"/>
          <p:nvPr/>
        </p:nvSpPr>
        <p:spPr>
          <a:xfrm>
            <a:off x="762000" y="52705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>
                <a:solidFill>
                  <a:srgbClr val="F6AD55"/>
                </a:solidFill>
                <a:latin typeface="맑은 고딕"/>
                <a:ea typeface="맑은 고딕"/>
              </a:rPr>
              <a:t>워드</a:t>
            </a:r>
            <a:r>
              <a:rPr lang="en-US" altLang="ko-KR" sz="1600">
                <a:solidFill>
                  <a:srgbClr val="F6AD55"/>
                </a:solidFill>
                <a:latin typeface="맑은 고딕"/>
                <a:ea typeface="맑은 고딕"/>
              </a:rPr>
              <a:t>/</a:t>
            </a:r>
            <a:r>
              <a:rPr lang="ko-KR" altLang="en-US" sz="1600">
                <a:solidFill>
                  <a:srgbClr val="F6AD55"/>
                </a:solidFill>
                <a:latin typeface="맑은 고딕"/>
                <a:ea typeface="맑은 고딕"/>
              </a:rPr>
              <a:t>엑셀 따로 </a:t>
            </a:r>
            <a:r>
              <a:rPr lang="en-US" altLang="ko-KR" sz="1600">
                <a:solidFill>
                  <a:srgbClr val="F6AD55"/>
                </a:solidFill>
                <a:latin typeface="맑은 고딕"/>
                <a:ea typeface="맑은 고딕"/>
              </a:rPr>
              <a:t>X — </a:t>
            </a:r>
            <a:r>
              <a:rPr lang="ko-KR" altLang="en-US" sz="1600">
                <a:solidFill>
                  <a:srgbClr val="F6AD55"/>
                </a:solidFill>
                <a:latin typeface="맑은 고딕"/>
                <a:ea typeface="맑은 고딕"/>
              </a:rPr>
              <a:t>시스템 안에서 작성  →  제출  →  승인까지</a:t>
            </a:r>
          </a:p>
        </p:txBody>
      </p:sp>
    </p:spTree>
    <p:extLst>
      <p:ext uri="{BB962C8B-B14F-4D97-AF65-F5344CB8AC3E}">
        <p14:creationId xmlns:p14="http://schemas.microsoft.com/office/powerpoint/2010/main" val="36461976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9202DB-D19D-4ACA-AB0D-07B05C6F4DCA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WEEKLY REPORT  ★ NEW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83450-1BD4-4719-A769-7B2B0CCA3191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활성화 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/ 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권한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(ADMIN)</a:t>
            </a:r>
            <a:endParaRPr lang="ko-KR" altLang="en-US" sz="3200" b="1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0A01DB-BEB3-47D2-953A-A46E82A7ED93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485E9-5DB3-442F-96CF-558E809E550B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활성화 또는 권한 없으면 사이드바 메뉴 자체 숨김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AC5C60-E7E7-4665-9BD2-B8597E80634D}"/>
              </a:ext>
            </a:extLst>
          </p:cNvPr>
          <p:cNvSpPr/>
          <p:nvPr/>
        </p:nvSpPr>
        <p:spPr>
          <a:xfrm>
            <a:off x="762000" y="2222500"/>
            <a:ext cx="1066800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C41890D-951D-4633-8160-1C1EBB097260}"/>
              </a:ext>
            </a:extLst>
          </p:cNvPr>
          <p:cNvSpPr/>
          <p:nvPr/>
        </p:nvSpPr>
        <p:spPr>
          <a:xfrm>
            <a:off x="952500" y="2476500"/>
            <a:ext cx="508000" cy="5080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36ABEC-59A9-4544-A072-36E58B0D745B}"/>
              </a:ext>
            </a:extLst>
          </p:cNvPr>
          <p:cNvSpPr txBox="1"/>
          <p:nvPr/>
        </p:nvSpPr>
        <p:spPr>
          <a:xfrm>
            <a:off x="952500" y="2540000"/>
            <a:ext cx="50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1A2A3A"/>
                </a:solidFill>
                <a:latin typeface="맑은 고딕"/>
                <a:ea typeface="맑은 고딕"/>
              </a:rPr>
              <a:t>1</a:t>
            </a:r>
            <a:endParaRPr lang="ko-KR" altLang="en-US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22D963-C58A-4E4E-8DD6-5B54C41C95B2}"/>
              </a:ext>
            </a:extLst>
          </p:cNvPr>
          <p:cNvSpPr txBox="1"/>
          <p:nvPr/>
        </p:nvSpPr>
        <p:spPr>
          <a:xfrm>
            <a:off x="1651000" y="24384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시스템 설정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3871E1-FAB6-4A69-9CA8-8D54B46E7B4B}"/>
              </a:ext>
            </a:extLst>
          </p:cNvPr>
          <p:cNvSpPr txBox="1"/>
          <p:nvPr/>
        </p:nvSpPr>
        <p:spPr>
          <a:xfrm>
            <a:off x="1651000" y="27686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주간 업무 보고 기능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ON  → 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전체 설정 저장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923B33-AD10-4E4E-8A5E-10D0924551DD}"/>
              </a:ext>
            </a:extLst>
          </p:cNvPr>
          <p:cNvSpPr/>
          <p:nvPr/>
        </p:nvSpPr>
        <p:spPr>
          <a:xfrm>
            <a:off x="762000" y="3365500"/>
            <a:ext cx="1066800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EE549D8-2D48-4C90-BBDE-1AC75364F1B6}"/>
              </a:ext>
            </a:extLst>
          </p:cNvPr>
          <p:cNvSpPr/>
          <p:nvPr/>
        </p:nvSpPr>
        <p:spPr>
          <a:xfrm>
            <a:off x="952500" y="3619500"/>
            <a:ext cx="508000" cy="5080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649286-C420-4656-AEC1-492C2453D5AE}"/>
              </a:ext>
            </a:extLst>
          </p:cNvPr>
          <p:cNvSpPr txBox="1"/>
          <p:nvPr/>
        </p:nvSpPr>
        <p:spPr>
          <a:xfrm>
            <a:off x="952500" y="3683000"/>
            <a:ext cx="50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1A2A3A"/>
                </a:solidFill>
                <a:latin typeface="맑은 고딕"/>
                <a:ea typeface="맑은 고딕"/>
              </a:rPr>
              <a:t>2</a:t>
            </a:r>
            <a:endParaRPr lang="ko-KR" altLang="en-US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59C585-7020-46A7-BE33-C4124A92AB30}"/>
              </a:ext>
            </a:extLst>
          </p:cNvPr>
          <p:cNvSpPr txBox="1"/>
          <p:nvPr/>
        </p:nvSpPr>
        <p:spPr>
          <a:xfrm>
            <a:off x="1651000" y="35814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사용자 관리  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—  "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주간 보고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" 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토글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83F0D5-991D-4F80-9247-DFB0C125862A}"/>
              </a:ext>
            </a:extLst>
          </p:cNvPr>
          <p:cNvSpPr txBox="1"/>
          <p:nvPr/>
        </p:nvSpPr>
        <p:spPr>
          <a:xfrm>
            <a:off x="1651000" y="39116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사용자별 사용 권한 부여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3ABF5B9-9B20-42E4-9D18-96D2AFF69C55}"/>
              </a:ext>
            </a:extLst>
          </p:cNvPr>
          <p:cNvSpPr/>
          <p:nvPr/>
        </p:nvSpPr>
        <p:spPr>
          <a:xfrm>
            <a:off x="762000" y="4508500"/>
            <a:ext cx="1066800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867DEE6A-1DAD-42F8-A83A-425C784E4660}"/>
              </a:ext>
            </a:extLst>
          </p:cNvPr>
          <p:cNvSpPr/>
          <p:nvPr/>
        </p:nvSpPr>
        <p:spPr>
          <a:xfrm>
            <a:off x="952500" y="4762500"/>
            <a:ext cx="508000" cy="5080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B6076C-8DF1-4BD7-8967-10A5B6524CCE}"/>
              </a:ext>
            </a:extLst>
          </p:cNvPr>
          <p:cNvSpPr txBox="1"/>
          <p:nvPr/>
        </p:nvSpPr>
        <p:spPr>
          <a:xfrm>
            <a:off x="952500" y="4826000"/>
            <a:ext cx="50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1A2A3A"/>
                </a:solidFill>
                <a:latin typeface="맑은 고딕"/>
                <a:ea typeface="맑은 고딕"/>
              </a:rPr>
              <a:t>3</a:t>
            </a:r>
            <a:endParaRPr lang="ko-KR" altLang="en-US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E59C4F-D83E-4BC8-B469-8C5A415CEFB1}"/>
              </a:ext>
            </a:extLst>
          </p:cNvPr>
          <p:cNvSpPr txBox="1"/>
          <p:nvPr/>
        </p:nvSpPr>
        <p:spPr>
          <a:xfrm>
            <a:off x="1651000" y="47244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사용자 관리  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—  "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팀장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" 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토글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2C96E4-E76F-4EF6-9C2F-D6B3067E8A53}"/>
              </a:ext>
            </a:extLst>
          </p:cNvPr>
          <p:cNvSpPr txBox="1"/>
          <p:nvPr/>
        </p:nvSpPr>
        <p:spPr>
          <a:xfrm>
            <a:off x="1651000" y="50546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부서장 권한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(PM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과 별도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)  — 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같은 부서원 보고 검토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217B4C-FBAE-4119-8D57-44CCB7F5028D}"/>
              </a:ext>
            </a:extLst>
          </p:cNvPr>
          <p:cNvSpPr txBox="1"/>
          <p:nvPr/>
        </p:nvSpPr>
        <p:spPr>
          <a:xfrm>
            <a:off x="762000" y="5842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6AD55"/>
                </a:solidFill>
                <a:latin typeface="맑은 고딕"/>
                <a:ea typeface="맑은 고딕"/>
              </a:rPr>
              <a:t>⚠  팀장 </a:t>
            </a:r>
            <a:r>
              <a:rPr lang="en-US" altLang="ko-KR" sz="1400">
                <a:solidFill>
                  <a:srgbClr val="F6AD55"/>
                </a:solidFill>
                <a:latin typeface="맑은 고딕"/>
                <a:ea typeface="맑은 고딕"/>
              </a:rPr>
              <a:t>= PM</a:t>
            </a:r>
            <a:r>
              <a:rPr lang="ko-KR" altLang="en-US" sz="1400">
                <a:solidFill>
                  <a:srgbClr val="F6AD55"/>
                </a:solidFill>
                <a:latin typeface="맑은 고딕"/>
                <a:ea typeface="맑은 고딕"/>
              </a:rPr>
              <a:t>과 무관  </a:t>
            </a:r>
            <a:r>
              <a:rPr lang="en-US" altLang="ko-KR" sz="1400">
                <a:solidFill>
                  <a:srgbClr val="F6AD5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6AD55"/>
                </a:solidFill>
                <a:latin typeface="맑은 고딕"/>
                <a:ea typeface="맑은 고딕"/>
              </a:rPr>
              <a:t>팀장만 부서원 검토</a:t>
            </a:r>
            <a:r>
              <a:rPr lang="en-US" altLang="ko-KR" sz="1400">
                <a:solidFill>
                  <a:srgbClr val="F6AD55"/>
                </a:solidFill>
                <a:latin typeface="맑은 고딕"/>
                <a:ea typeface="맑은 고딕"/>
              </a:rPr>
              <a:t>/</a:t>
            </a:r>
            <a:r>
              <a:rPr lang="ko-KR" altLang="en-US" sz="1400">
                <a:solidFill>
                  <a:srgbClr val="F6AD55"/>
                </a:solidFill>
                <a:latin typeface="맑은 고딕"/>
                <a:ea typeface="맑은 고딕"/>
              </a:rPr>
              <a:t>승인 가능</a:t>
            </a:r>
          </a:p>
        </p:txBody>
      </p:sp>
    </p:spTree>
    <p:extLst>
      <p:ext uri="{BB962C8B-B14F-4D97-AF65-F5344CB8AC3E}">
        <p14:creationId xmlns:p14="http://schemas.microsoft.com/office/powerpoint/2010/main" val="398384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287E5D-1B1F-4246-BB74-BC556E8DFFE4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WEEKLY REPORT  ★ NEW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628024-205A-4691-B560-DC90A1060C31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자동 집계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어떤 활동이 어디로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34D174-2CF5-47EC-9D93-C42B25BC5CF7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9F1AE4-31FF-4671-A051-1C24D401AFBB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매칭 기준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=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본인 이름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다른 사람 명의 활동은 미포함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F752D9B-919B-465D-BBB0-25049822EB09}"/>
              </a:ext>
            </a:extLst>
          </p:cNvPr>
          <p:cNvSpPr/>
          <p:nvPr/>
        </p:nvSpPr>
        <p:spPr>
          <a:xfrm>
            <a:off x="762000" y="2222500"/>
            <a:ext cx="3471333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8E78E0-7A30-42B0-9756-5ED50817D5C5}"/>
              </a:ext>
            </a:extLst>
          </p:cNvPr>
          <p:cNvSpPr/>
          <p:nvPr/>
        </p:nvSpPr>
        <p:spPr>
          <a:xfrm>
            <a:off x="762000" y="2222500"/>
            <a:ext cx="3471333" cy="508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164613-D1E7-465F-B301-7FC71AC8D8B4}"/>
              </a:ext>
            </a:extLst>
          </p:cNvPr>
          <p:cNvSpPr txBox="1"/>
          <p:nvPr/>
        </p:nvSpPr>
        <p:spPr>
          <a:xfrm>
            <a:off x="762000" y="2540000"/>
            <a:ext cx="3471333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00D4AA"/>
                </a:solidFill>
                <a:latin typeface="맑은 고딕"/>
                <a:ea typeface="맑은 고딕"/>
              </a:rPr>
              <a:t>금주 실적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1E596-CF0C-4DF4-85F8-4F39BF1693A1}"/>
              </a:ext>
            </a:extLst>
          </p:cNvPr>
          <p:cNvSpPr txBox="1"/>
          <p:nvPr/>
        </p:nvSpPr>
        <p:spPr>
          <a:xfrm>
            <a:off x="1016000" y="3111500"/>
            <a:ext cx="2963333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회의록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처리된 이슈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/AS  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완료된 셋업
검수 사인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버전 릴리즈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출장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84EFDBE-E581-41B5-A79C-AC287B3A3AA1}"/>
              </a:ext>
            </a:extLst>
          </p:cNvPr>
          <p:cNvSpPr/>
          <p:nvPr/>
        </p:nvSpPr>
        <p:spPr>
          <a:xfrm>
            <a:off x="4360333" y="2222500"/>
            <a:ext cx="3471333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9C63654-8E98-4F93-92B2-5B70F853F337}"/>
              </a:ext>
            </a:extLst>
          </p:cNvPr>
          <p:cNvSpPr/>
          <p:nvPr/>
        </p:nvSpPr>
        <p:spPr>
          <a:xfrm>
            <a:off x="4360333" y="2222500"/>
            <a:ext cx="3471333" cy="50800"/>
          </a:xfrm>
          <a:prstGeom prst="rect">
            <a:avLst/>
          </a:prstGeom>
          <a:solidFill>
            <a:srgbClr val="667E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0D6FD5-D691-4602-BAB1-F3AF0446CD9A}"/>
              </a:ext>
            </a:extLst>
          </p:cNvPr>
          <p:cNvSpPr txBox="1"/>
          <p:nvPr/>
        </p:nvSpPr>
        <p:spPr>
          <a:xfrm>
            <a:off x="4360333" y="2540000"/>
            <a:ext cx="3471333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667EEA"/>
                </a:solidFill>
                <a:latin typeface="맑은 고딕"/>
                <a:ea typeface="맑은 고딕"/>
              </a:rPr>
              <a:t>차주 계획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82A8D2-5D12-4F8A-BE97-050B99072698}"/>
              </a:ext>
            </a:extLst>
          </p:cNvPr>
          <p:cNvSpPr txBox="1"/>
          <p:nvPr/>
        </p:nvSpPr>
        <p:spPr>
          <a:xfrm>
            <a:off x="4614333" y="3111500"/>
            <a:ext cx="2963333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다음 주 시작 셋업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임박 마일스톤
미해결 고객요청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9E45E4F-B4E9-4FA1-AFE8-77A4ACF60992}"/>
              </a:ext>
            </a:extLst>
          </p:cNvPr>
          <p:cNvSpPr/>
          <p:nvPr/>
        </p:nvSpPr>
        <p:spPr>
          <a:xfrm>
            <a:off x="7958666" y="2222500"/>
            <a:ext cx="3471333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B9914E7-3C83-49D7-843D-0B79E1DDC1B2}"/>
              </a:ext>
            </a:extLst>
          </p:cNvPr>
          <p:cNvSpPr/>
          <p:nvPr/>
        </p:nvSpPr>
        <p:spPr>
          <a:xfrm>
            <a:off x="7958666" y="2222500"/>
            <a:ext cx="3471333" cy="50800"/>
          </a:xfrm>
          <a:prstGeom prst="rect">
            <a:avLst/>
          </a:prstGeom>
          <a:solidFill>
            <a:srgbClr val="E53E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EDA04C-2268-461B-A317-8364D1E1D834}"/>
              </a:ext>
            </a:extLst>
          </p:cNvPr>
          <p:cNvSpPr txBox="1"/>
          <p:nvPr/>
        </p:nvSpPr>
        <p:spPr>
          <a:xfrm>
            <a:off x="7958666" y="2540000"/>
            <a:ext cx="3471333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E53E3E"/>
                </a:solidFill>
                <a:latin typeface="맑은 고딕"/>
                <a:ea typeface="맑은 고딕"/>
              </a:rPr>
              <a:t>이슈 </a:t>
            </a:r>
            <a:r>
              <a:rPr lang="en-US" altLang="ko-KR" b="1">
                <a:solidFill>
                  <a:srgbClr val="E53E3E"/>
                </a:solidFill>
                <a:latin typeface="맑은 고딕"/>
                <a:ea typeface="맑은 고딕"/>
              </a:rPr>
              <a:t>/ </a:t>
            </a:r>
            <a:r>
              <a:rPr lang="ko-KR" altLang="en-US" b="1">
                <a:solidFill>
                  <a:srgbClr val="E53E3E"/>
                </a:solidFill>
                <a:latin typeface="맑은 고딕"/>
                <a:ea typeface="맑은 고딕"/>
              </a:rPr>
              <a:t>리스크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6EF837-7754-485C-91FE-357FA9C76251}"/>
              </a:ext>
            </a:extLst>
          </p:cNvPr>
          <p:cNvSpPr txBox="1"/>
          <p:nvPr/>
        </p:nvSpPr>
        <p:spPr>
          <a:xfrm>
            <a:off x="8212666" y="3111500"/>
            <a:ext cx="2963333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High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이슈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지연 프로젝트
자격 만료 임박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중대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AS</a:t>
            </a:r>
            <a:endParaRPr lang="ko-KR" altLang="en-US" sz="13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2282244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E9C8B0-268C-47F0-A41C-F42085BCB82F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WEEKLY REPORT  ★ NEW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2879B-058E-484C-AFFE-661DB710158B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작성 워크플로우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— 1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분이면 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2155041-AC14-4AE8-943D-B50CC74049C9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6FC8E7-49C5-48DB-8ACD-A0EEA787079C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단축 버튼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: "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자동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+ Excel"  ·  "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자동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+ PDF" —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자동 작성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+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추출 한 번에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39F6AD9-404A-4A4E-A09E-FDD85131CE9C}"/>
              </a:ext>
            </a:extLst>
          </p:cNvPr>
          <p:cNvSpPr/>
          <p:nvPr/>
        </p:nvSpPr>
        <p:spPr>
          <a:xfrm>
            <a:off x="762000" y="2222500"/>
            <a:ext cx="635000" cy="6350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A452B3-1A0C-4185-8D09-68A5F7777462}"/>
              </a:ext>
            </a:extLst>
          </p:cNvPr>
          <p:cNvSpPr txBox="1"/>
          <p:nvPr/>
        </p:nvSpPr>
        <p:spPr>
          <a:xfrm>
            <a:off x="762000" y="2349500"/>
            <a:ext cx="63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200" b="1">
                <a:solidFill>
                  <a:srgbClr val="1A2A3A"/>
                </a:solidFill>
                <a:latin typeface="맑은 고딕"/>
                <a:ea typeface="맑은 고딕"/>
              </a:rPr>
              <a:t>1</a:t>
            </a:r>
            <a:endParaRPr lang="ko-KR" altLang="en-US" sz="22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C31860-DA8A-4148-9FDB-3EF7DF4A32A9}"/>
              </a:ext>
            </a:extLst>
          </p:cNvPr>
          <p:cNvSpPr txBox="1"/>
          <p:nvPr/>
        </p:nvSpPr>
        <p:spPr>
          <a:xfrm>
            <a:off x="1651000" y="2374900"/>
            <a:ext cx="977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주간 업무 보고  →  주차 선택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ECD5DDF-5D5D-4391-BAA8-D17598DD0F87}"/>
              </a:ext>
            </a:extLst>
          </p:cNvPr>
          <p:cNvSpPr/>
          <p:nvPr/>
        </p:nvSpPr>
        <p:spPr>
          <a:xfrm>
            <a:off x="762000" y="3048000"/>
            <a:ext cx="635000" cy="6350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93E460-51DF-4BA1-91F3-C40E6141A386}"/>
              </a:ext>
            </a:extLst>
          </p:cNvPr>
          <p:cNvSpPr txBox="1"/>
          <p:nvPr/>
        </p:nvSpPr>
        <p:spPr>
          <a:xfrm>
            <a:off x="762000" y="3175000"/>
            <a:ext cx="63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200" b="1">
                <a:solidFill>
                  <a:srgbClr val="1A2A3A"/>
                </a:solidFill>
                <a:latin typeface="맑은 고딕"/>
                <a:ea typeface="맑은 고딕"/>
              </a:rPr>
              <a:t>2</a:t>
            </a:r>
            <a:endParaRPr lang="ko-KR" altLang="en-US" sz="22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F0A96E-D587-4C1A-BA5B-FACBFF114CAF}"/>
              </a:ext>
            </a:extLst>
          </p:cNvPr>
          <p:cNvSpPr txBox="1"/>
          <p:nvPr/>
        </p:nvSpPr>
        <p:spPr>
          <a:xfrm>
            <a:off x="1651000" y="3200400"/>
            <a:ext cx="977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"100% 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자동 작성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" 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클릭  → 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3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개 섹션 자동 채움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2B9B467-6246-4989-BF66-A05B1AA78621}"/>
              </a:ext>
            </a:extLst>
          </p:cNvPr>
          <p:cNvSpPr/>
          <p:nvPr/>
        </p:nvSpPr>
        <p:spPr>
          <a:xfrm>
            <a:off x="762000" y="3873500"/>
            <a:ext cx="635000" cy="6350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543484-78C9-4B1F-9A31-D90EBDD9624E}"/>
              </a:ext>
            </a:extLst>
          </p:cNvPr>
          <p:cNvSpPr txBox="1"/>
          <p:nvPr/>
        </p:nvSpPr>
        <p:spPr>
          <a:xfrm>
            <a:off x="762000" y="4000500"/>
            <a:ext cx="63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200" b="1">
                <a:solidFill>
                  <a:srgbClr val="1A2A3A"/>
                </a:solidFill>
                <a:latin typeface="맑은 고딕"/>
                <a:ea typeface="맑은 고딕"/>
              </a:rPr>
              <a:t>3</a:t>
            </a:r>
            <a:endParaRPr lang="ko-KR" altLang="en-US" sz="22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6FEEF6-287B-4B15-BB03-F929B0570EDB}"/>
              </a:ext>
            </a:extLst>
          </p:cNvPr>
          <p:cNvSpPr txBox="1"/>
          <p:nvPr/>
        </p:nvSpPr>
        <p:spPr>
          <a:xfrm>
            <a:off x="1651000" y="4025900"/>
            <a:ext cx="977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필요한 부분만 다듬기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4825752-92DE-4D89-93B9-733652157C44}"/>
              </a:ext>
            </a:extLst>
          </p:cNvPr>
          <p:cNvSpPr/>
          <p:nvPr/>
        </p:nvSpPr>
        <p:spPr>
          <a:xfrm>
            <a:off x="762000" y="4699000"/>
            <a:ext cx="635000" cy="6350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01D05A-FAB4-4888-8F3E-2DE77FC8D806}"/>
              </a:ext>
            </a:extLst>
          </p:cNvPr>
          <p:cNvSpPr txBox="1"/>
          <p:nvPr/>
        </p:nvSpPr>
        <p:spPr>
          <a:xfrm>
            <a:off x="762000" y="4826000"/>
            <a:ext cx="63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200" b="1">
                <a:solidFill>
                  <a:srgbClr val="1A2A3A"/>
                </a:solidFill>
                <a:latin typeface="맑은 고딕"/>
                <a:ea typeface="맑은 고딕"/>
              </a:rPr>
              <a:t>4</a:t>
            </a:r>
            <a:endParaRPr lang="ko-KR" altLang="en-US" sz="22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631C82-8122-4E5E-B882-6C72A49E320F}"/>
              </a:ext>
            </a:extLst>
          </p:cNvPr>
          <p:cNvSpPr txBox="1"/>
          <p:nvPr/>
        </p:nvSpPr>
        <p:spPr>
          <a:xfrm>
            <a:off x="1651000" y="4851400"/>
            <a:ext cx="977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임시 저장  또는  제출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476B3F9-BE14-4B8D-BC99-982CA5349972}"/>
              </a:ext>
            </a:extLst>
          </p:cNvPr>
          <p:cNvSpPr/>
          <p:nvPr/>
        </p:nvSpPr>
        <p:spPr>
          <a:xfrm>
            <a:off x="762000" y="5524500"/>
            <a:ext cx="635000" cy="6350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AF3667-6F39-43E8-8B7B-C20CF8125639}"/>
              </a:ext>
            </a:extLst>
          </p:cNvPr>
          <p:cNvSpPr txBox="1"/>
          <p:nvPr/>
        </p:nvSpPr>
        <p:spPr>
          <a:xfrm>
            <a:off x="762000" y="5651500"/>
            <a:ext cx="63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200" b="1">
                <a:solidFill>
                  <a:srgbClr val="1A2A3A"/>
                </a:solidFill>
                <a:latin typeface="맑은 고딕"/>
                <a:ea typeface="맑은 고딕"/>
              </a:rPr>
              <a:t>5</a:t>
            </a:r>
            <a:endParaRPr lang="ko-KR" altLang="en-US" sz="22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BB027F-1D87-4EC5-B640-CBF2335E92EE}"/>
              </a:ext>
            </a:extLst>
          </p:cNvPr>
          <p:cNvSpPr txBox="1"/>
          <p:nvPr/>
        </p:nvSpPr>
        <p:spPr>
          <a:xfrm>
            <a:off x="1651000" y="5676900"/>
            <a:ext cx="977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팀장 검토  →  승인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반려  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</a:rPr>
              <a:t>반려 사유는 작성자 화면 상단 붉은 배너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16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1271528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666ABB-6C0E-4BD0-BE23-5464FE52701A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WEEKLY REPORT  ★ NEW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C859C2-0197-4633-80DF-FBD70822FDC0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팀장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검토 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+ 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팀 종합 보고서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DBBA2A-6350-45A0-8E25-8C930BDDCA6B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706DB3-75F9-49B3-A75F-0F464EE1362E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부서원 보고가 추가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/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수정될 때마다 모달 다시 열면 자동 재집계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091531-46CC-4799-97DD-972C76DD2514}"/>
              </a:ext>
            </a:extLst>
          </p:cNvPr>
          <p:cNvSpPr/>
          <p:nvPr/>
        </p:nvSpPr>
        <p:spPr>
          <a:xfrm>
            <a:off x="762000" y="2222500"/>
            <a:ext cx="5080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9B4811A-DE99-44B6-B6BA-5143FC282572}"/>
              </a:ext>
            </a:extLst>
          </p:cNvPr>
          <p:cNvSpPr/>
          <p:nvPr/>
        </p:nvSpPr>
        <p:spPr>
          <a:xfrm>
            <a:off x="762000" y="2222500"/>
            <a:ext cx="50800" cy="3556000"/>
          </a:xfrm>
          <a:prstGeom prst="rect">
            <a:avLst/>
          </a:prstGeom>
          <a:solidFill>
            <a:srgbClr val="667E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672886-D91A-4FE7-AD83-1E52E28D489B}"/>
              </a:ext>
            </a:extLst>
          </p:cNvPr>
          <p:cNvSpPr txBox="1"/>
          <p:nvPr/>
        </p:nvSpPr>
        <p:spPr>
          <a:xfrm>
            <a:off x="1016000" y="2476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667EEA"/>
                </a:solidFill>
                <a:latin typeface="맑은 고딕"/>
                <a:ea typeface="맑은 고딕"/>
              </a:rPr>
              <a:t>부서원 보고 검토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1F1183-629D-4B61-83CE-E8A6F7CDC67C}"/>
              </a:ext>
            </a:extLst>
          </p:cNvPr>
          <p:cNvSpPr txBox="1"/>
          <p:nvPr/>
        </p:nvSpPr>
        <p:spPr>
          <a:xfrm>
            <a:off x="1143000" y="2984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"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팀원 보기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"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탭 진입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934FB5-4301-40DF-A3E3-F7E6A9B9F0F0}"/>
              </a:ext>
            </a:extLst>
          </p:cNvPr>
          <p:cNvSpPr txBox="1"/>
          <p:nvPr/>
        </p:nvSpPr>
        <p:spPr>
          <a:xfrm>
            <a:off x="1143000" y="34417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부서원 카드 클릭  →  같은 화면 모달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46E2CD-CD68-4604-9E9C-0DDC01382A0A}"/>
              </a:ext>
            </a:extLst>
          </p:cNvPr>
          <p:cNvSpPr txBox="1"/>
          <p:nvPr/>
        </p:nvSpPr>
        <p:spPr>
          <a:xfrm>
            <a:off x="1143000" y="38989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보고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+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활동 근거 한눈에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DFE1E2-96BA-46AB-887B-74C5E8F7D5FE}"/>
              </a:ext>
            </a:extLst>
          </p:cNvPr>
          <p:cNvSpPr txBox="1"/>
          <p:nvPr/>
        </p:nvSpPr>
        <p:spPr>
          <a:xfrm>
            <a:off x="1143000" y="43561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모달 안에서 직접 승인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반려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302700-BFCA-4F7C-8E24-6318ED0FA8CB}"/>
              </a:ext>
            </a:extLst>
          </p:cNvPr>
          <p:cNvSpPr txBox="1"/>
          <p:nvPr/>
        </p:nvSpPr>
        <p:spPr>
          <a:xfrm>
            <a:off x="1143000" y="48133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탭 이동 없음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51595DF-A1CF-4537-9DD7-196E1BE2C190}"/>
              </a:ext>
            </a:extLst>
          </p:cNvPr>
          <p:cNvSpPr/>
          <p:nvPr/>
        </p:nvSpPr>
        <p:spPr>
          <a:xfrm>
            <a:off x="6350000" y="2222500"/>
            <a:ext cx="5080000" cy="355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3B621CD-12A2-45E4-861E-F3763C19144D}"/>
              </a:ext>
            </a:extLst>
          </p:cNvPr>
          <p:cNvSpPr/>
          <p:nvPr/>
        </p:nvSpPr>
        <p:spPr>
          <a:xfrm>
            <a:off x="6350000" y="2222500"/>
            <a:ext cx="50800" cy="3556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5D3844-DAF3-4548-BFDC-0BB856AF3175}"/>
              </a:ext>
            </a:extLst>
          </p:cNvPr>
          <p:cNvSpPr txBox="1"/>
          <p:nvPr/>
        </p:nvSpPr>
        <p:spPr>
          <a:xfrm>
            <a:off x="6604000" y="2476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00D4AA"/>
                </a:solidFill>
                <a:latin typeface="맑은 고딕"/>
                <a:ea typeface="맑은 고딕"/>
              </a:rPr>
              <a:t>팀 종합 보고서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E98AEB-092D-4774-989B-A23A4AE2C15A}"/>
              </a:ext>
            </a:extLst>
          </p:cNvPr>
          <p:cNvSpPr txBox="1"/>
          <p:nvPr/>
        </p:nvSpPr>
        <p:spPr>
          <a:xfrm>
            <a:off x="6731000" y="2984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사람별 그룹 자동 통합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B75AF7-D90A-4081-88AC-3096A5B4F209}"/>
              </a:ext>
            </a:extLst>
          </p:cNvPr>
          <p:cNvSpPr txBox="1"/>
          <p:nvPr/>
        </p:nvSpPr>
        <p:spPr>
          <a:xfrm>
            <a:off x="6731000" y="34417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4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개 통계 박스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부서원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제출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승인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미제출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13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05B3D4-74A6-4C43-87D9-82C15F7765DA}"/>
              </a:ext>
            </a:extLst>
          </p:cNvPr>
          <p:cNvSpPr txBox="1"/>
          <p:nvPr/>
        </p:nvSpPr>
        <p:spPr>
          <a:xfrm>
            <a:off x="6731000" y="38989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팀장 종합 코멘트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+  3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섹션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F10ED0-38EA-49BB-BB9B-3676536E65B5}"/>
              </a:ext>
            </a:extLst>
          </p:cNvPr>
          <p:cNvSpPr txBox="1"/>
          <p:nvPr/>
        </p:nvSpPr>
        <p:spPr>
          <a:xfrm>
            <a:off x="6731000" y="43561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임시저장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제출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 Excel / PDF</a:t>
            </a:r>
            <a:endParaRPr lang="ko-KR" altLang="en-US" sz="13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AAB9A0-652C-495F-BC26-BDE3EDFEB922}"/>
              </a:ext>
            </a:extLst>
          </p:cNvPr>
          <p:cNvSpPr txBox="1"/>
          <p:nvPr/>
        </p:nvSpPr>
        <p:spPr>
          <a:xfrm>
            <a:off x="6731000" y="48133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5~10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분이면 충분</a:t>
            </a:r>
          </a:p>
        </p:txBody>
      </p:sp>
    </p:spTree>
    <p:extLst>
      <p:ext uri="{BB962C8B-B14F-4D97-AF65-F5344CB8AC3E}">
        <p14:creationId xmlns:p14="http://schemas.microsoft.com/office/powerpoint/2010/main" val="36646453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E50C03-8E7A-4A9C-87EF-0F55F0FBB043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WEEKLY REPORT  ★ NEW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02FAD7-EC0A-4DCD-B4F2-745686A2E93B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샘플 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+ 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사용 가이드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페이지 내장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3200" b="1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D2CA2E-9347-4A34-9975-3D283C8CE38B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E30E9-3611-4E24-B4B8-60EA8874479F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처음 쓰는 사람도 샘플만 보면 양식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기대치 파악 가능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F232EE3-9528-473A-BC5B-E43512685E09}"/>
              </a:ext>
            </a:extLst>
          </p:cNvPr>
          <p:cNvSpPr/>
          <p:nvPr/>
        </p:nvSpPr>
        <p:spPr>
          <a:xfrm>
            <a:off x="762000" y="2286000"/>
            <a:ext cx="342900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1CB5A7-4806-4283-A105-4846D5E7DE66}"/>
              </a:ext>
            </a:extLst>
          </p:cNvPr>
          <p:cNvSpPr/>
          <p:nvPr/>
        </p:nvSpPr>
        <p:spPr>
          <a:xfrm>
            <a:off x="762000" y="2286000"/>
            <a:ext cx="50800" cy="1016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A0B947-86F6-4E97-91AF-937B6DD37DC8}"/>
              </a:ext>
            </a:extLst>
          </p:cNvPr>
          <p:cNvSpPr txBox="1"/>
          <p:nvPr/>
        </p:nvSpPr>
        <p:spPr>
          <a:xfrm>
            <a:off x="1016000" y="2641600"/>
            <a:ext cx="292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30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초 사용법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45FB24-A461-4742-BBE8-6C0B93543951}"/>
              </a:ext>
            </a:extLst>
          </p:cNvPr>
          <p:cNvSpPr/>
          <p:nvPr/>
        </p:nvSpPr>
        <p:spPr>
          <a:xfrm>
            <a:off x="4381500" y="2286000"/>
            <a:ext cx="342900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0AD8595-DABB-4A5F-AA4F-AD927A8968E0}"/>
              </a:ext>
            </a:extLst>
          </p:cNvPr>
          <p:cNvSpPr/>
          <p:nvPr/>
        </p:nvSpPr>
        <p:spPr>
          <a:xfrm>
            <a:off x="4381500" y="2286000"/>
            <a:ext cx="50800" cy="1016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1FB763-5AA2-4236-9569-BC4970CACC88}"/>
              </a:ext>
            </a:extLst>
          </p:cNvPr>
          <p:cNvSpPr txBox="1"/>
          <p:nvPr/>
        </p:nvSpPr>
        <p:spPr>
          <a:xfrm>
            <a:off x="4635500" y="2641600"/>
            <a:ext cx="292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자동 작성 결과 샘플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06F69F-6568-4189-A63F-3AF5A298F39E}"/>
              </a:ext>
            </a:extLst>
          </p:cNvPr>
          <p:cNvSpPr/>
          <p:nvPr/>
        </p:nvSpPr>
        <p:spPr>
          <a:xfrm>
            <a:off x="8001000" y="2286000"/>
            <a:ext cx="342900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43A9FC8-A1AC-4DE2-B942-00752346324D}"/>
              </a:ext>
            </a:extLst>
          </p:cNvPr>
          <p:cNvSpPr/>
          <p:nvPr/>
        </p:nvSpPr>
        <p:spPr>
          <a:xfrm>
            <a:off x="8001000" y="2286000"/>
            <a:ext cx="50800" cy="1016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1FE161-33DF-4623-801D-E5A445B9C1C3}"/>
              </a:ext>
            </a:extLst>
          </p:cNvPr>
          <p:cNvSpPr txBox="1"/>
          <p:nvPr/>
        </p:nvSpPr>
        <p:spPr>
          <a:xfrm>
            <a:off x="8255000" y="2641600"/>
            <a:ext cx="292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자동 집계 데이터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B0C791-5FD1-494D-B37D-0918A71A2713}"/>
              </a:ext>
            </a:extLst>
          </p:cNvPr>
          <p:cNvSpPr/>
          <p:nvPr/>
        </p:nvSpPr>
        <p:spPr>
          <a:xfrm>
            <a:off x="762000" y="3492500"/>
            <a:ext cx="342900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06B52BB-8AA4-4885-B660-9BBF3FA18C82}"/>
              </a:ext>
            </a:extLst>
          </p:cNvPr>
          <p:cNvSpPr/>
          <p:nvPr/>
        </p:nvSpPr>
        <p:spPr>
          <a:xfrm>
            <a:off x="762000" y="3492500"/>
            <a:ext cx="50800" cy="1016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A8659B-FF6F-4A38-81AF-2FDAD3ED6264}"/>
              </a:ext>
            </a:extLst>
          </p:cNvPr>
          <p:cNvSpPr txBox="1"/>
          <p:nvPr/>
        </p:nvSpPr>
        <p:spPr>
          <a:xfrm>
            <a:off x="1016000" y="3848100"/>
            <a:ext cx="292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권한별 접근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7122640-4995-43D6-922B-8565CBA9D658}"/>
              </a:ext>
            </a:extLst>
          </p:cNvPr>
          <p:cNvSpPr/>
          <p:nvPr/>
        </p:nvSpPr>
        <p:spPr>
          <a:xfrm>
            <a:off x="4381500" y="3492500"/>
            <a:ext cx="342900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DBB22EA-583A-4465-A012-250D7E4813C8}"/>
              </a:ext>
            </a:extLst>
          </p:cNvPr>
          <p:cNvSpPr/>
          <p:nvPr/>
        </p:nvSpPr>
        <p:spPr>
          <a:xfrm>
            <a:off x="4381500" y="3492500"/>
            <a:ext cx="50800" cy="1016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2C7800-D894-46D5-9EB8-0A51E13CF224}"/>
              </a:ext>
            </a:extLst>
          </p:cNvPr>
          <p:cNvSpPr txBox="1"/>
          <p:nvPr/>
        </p:nvSpPr>
        <p:spPr>
          <a:xfrm>
            <a:off x="4635500" y="3848100"/>
            <a:ext cx="292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워크플로우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2B3179A-9EF5-477E-8E01-9E87EBA17BA9}"/>
              </a:ext>
            </a:extLst>
          </p:cNvPr>
          <p:cNvSpPr/>
          <p:nvPr/>
        </p:nvSpPr>
        <p:spPr>
          <a:xfrm>
            <a:off x="8001000" y="3492500"/>
            <a:ext cx="342900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B3FC0D-A741-48EA-A4B8-11F8E7D8F219}"/>
              </a:ext>
            </a:extLst>
          </p:cNvPr>
          <p:cNvSpPr/>
          <p:nvPr/>
        </p:nvSpPr>
        <p:spPr>
          <a:xfrm>
            <a:off x="8001000" y="3492500"/>
            <a:ext cx="50800" cy="1016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FA4AD0-547A-4F6F-A013-E46233C07D45}"/>
              </a:ext>
            </a:extLst>
          </p:cNvPr>
          <p:cNvSpPr txBox="1"/>
          <p:nvPr/>
        </p:nvSpPr>
        <p:spPr>
          <a:xfrm>
            <a:off x="8255000" y="3848100"/>
            <a:ext cx="292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팀 종합 보고서 시각 샘플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49DA69-5010-468F-A39C-2B3F0BB3B7E6}"/>
              </a:ext>
            </a:extLst>
          </p:cNvPr>
          <p:cNvSpPr txBox="1"/>
          <p:nvPr/>
        </p:nvSpPr>
        <p:spPr>
          <a:xfrm>
            <a:off x="762000" y="4826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6AD55"/>
                </a:solidFill>
                <a:latin typeface="맑은 고딕"/>
                <a:ea typeface="맑은 고딕"/>
              </a:rPr>
              <a:t>📍  페이지 우측 상단  </a:t>
            </a:r>
            <a:r>
              <a:rPr lang="en-US" altLang="ko-KR" sz="1400">
                <a:solidFill>
                  <a:srgbClr val="F6AD55"/>
                </a:solidFill>
                <a:latin typeface="맑은 고딕"/>
                <a:ea typeface="맑은 고딕"/>
              </a:rPr>
              <a:t>"</a:t>
            </a:r>
            <a:r>
              <a:rPr lang="ko-KR" altLang="en-US" sz="1400">
                <a:solidFill>
                  <a:srgbClr val="F6AD55"/>
                </a:solidFill>
                <a:latin typeface="맑은 고딕"/>
                <a:ea typeface="맑은 고딕"/>
              </a:rPr>
              <a:t>샘플 </a:t>
            </a:r>
            <a:r>
              <a:rPr lang="en-US" altLang="ko-KR" sz="1400">
                <a:solidFill>
                  <a:srgbClr val="F6AD55"/>
                </a:solidFill>
                <a:latin typeface="맑은 고딕"/>
                <a:ea typeface="맑은 고딕"/>
              </a:rPr>
              <a:t>+ </a:t>
            </a:r>
            <a:r>
              <a:rPr lang="ko-KR" altLang="en-US" sz="1400">
                <a:solidFill>
                  <a:srgbClr val="F6AD55"/>
                </a:solidFill>
                <a:latin typeface="맑은 고딕"/>
                <a:ea typeface="맑은 고딕"/>
              </a:rPr>
              <a:t>사용 가이드</a:t>
            </a:r>
            <a:r>
              <a:rPr lang="en-US" altLang="ko-KR" sz="1400">
                <a:solidFill>
                  <a:srgbClr val="F6AD55"/>
                </a:solidFill>
                <a:latin typeface="맑은 고딕"/>
                <a:ea typeface="맑은 고딕"/>
              </a:rPr>
              <a:t>"  </a:t>
            </a:r>
            <a:r>
              <a:rPr lang="ko-KR" altLang="en-US" sz="1400">
                <a:solidFill>
                  <a:srgbClr val="F6AD55"/>
                </a:solidFill>
                <a:latin typeface="맑은 고딕"/>
                <a:ea typeface="맑은 고딕"/>
              </a:rPr>
              <a:t>버튼 클릭</a:t>
            </a:r>
          </a:p>
        </p:txBody>
      </p:sp>
    </p:spTree>
    <p:extLst>
      <p:ext uri="{BB962C8B-B14F-4D97-AF65-F5344CB8AC3E}">
        <p14:creationId xmlns:p14="http://schemas.microsoft.com/office/powerpoint/2010/main" val="9714495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D79D6D-D405-44DC-899A-7174404AF88D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ACTIVITY LOG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464514-9302-42D0-9CB6-8293AF384064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활동 이력 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= 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이력 탭에서 클릭하면 점프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AB82F49-1160-4928-A1F9-1397F6124A1D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AD2DC6-7CA7-46EA-A0BE-F29C8BAA651B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이게 언제 누가 한 거지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?"  →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이력 탭 한 번이면 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C80BB20-5559-4ABC-BA69-33D7C37A4CA6}"/>
              </a:ext>
            </a:extLst>
          </p:cNvPr>
          <p:cNvSpPr/>
          <p:nvPr/>
        </p:nvSpPr>
        <p:spPr>
          <a:xfrm>
            <a:off x="762000" y="2222500"/>
            <a:ext cx="76200" cy="4572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F5DA5D2-F439-40EC-90CE-49AF77A27125}"/>
              </a:ext>
            </a:extLst>
          </p:cNvPr>
          <p:cNvSpPr/>
          <p:nvPr/>
        </p:nvSpPr>
        <p:spPr>
          <a:xfrm>
            <a:off x="1016000" y="2222500"/>
            <a:ext cx="10414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9F529-7D71-4573-81D7-080016E7033B}"/>
              </a:ext>
            </a:extLst>
          </p:cNvPr>
          <p:cNvSpPr txBox="1"/>
          <p:nvPr/>
        </p:nvSpPr>
        <p:spPr>
          <a:xfrm>
            <a:off x="1270000" y="23114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0D4AA"/>
                </a:solidFill>
                <a:latin typeface="맑은 고딕"/>
                <a:ea typeface="맑은 고딕"/>
              </a:rPr>
              <a:t>TASK / PHASE / MANAGER / SIGN / VERSION / TRIP</a:t>
            </a:r>
            <a:endParaRPr lang="ko-KR" altLang="en-US" sz="13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0E5249-8E9C-4885-ADCF-9A5E58A8634A}"/>
              </a:ext>
            </a:extLst>
          </p:cNvPr>
          <p:cNvSpPr txBox="1"/>
          <p:nvPr/>
        </p:nvSpPr>
        <p:spPr>
          <a:xfrm>
            <a:off x="7874000" y="23114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→  일정 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A65E91-E69F-4199-91C9-D2594CC61B83}"/>
              </a:ext>
            </a:extLst>
          </p:cNvPr>
          <p:cNvSpPr/>
          <p:nvPr/>
        </p:nvSpPr>
        <p:spPr>
          <a:xfrm>
            <a:off x="762000" y="2781300"/>
            <a:ext cx="76200" cy="457200"/>
          </a:xfrm>
          <a:prstGeom prst="rect">
            <a:avLst/>
          </a:prstGeom>
          <a:solidFill>
            <a:srgbClr val="667E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C28D39C-150B-4E4D-8227-D7A94F0A8062}"/>
              </a:ext>
            </a:extLst>
          </p:cNvPr>
          <p:cNvSpPr/>
          <p:nvPr/>
        </p:nvSpPr>
        <p:spPr>
          <a:xfrm>
            <a:off x="1016000" y="2781300"/>
            <a:ext cx="10414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8D41E1-A433-49EF-9F87-59921094E122}"/>
              </a:ext>
            </a:extLst>
          </p:cNvPr>
          <p:cNvSpPr txBox="1"/>
          <p:nvPr/>
        </p:nvSpPr>
        <p:spPr>
          <a:xfrm>
            <a:off x="1270000" y="28702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667EEA"/>
                </a:solidFill>
                <a:latin typeface="맑은 고딕"/>
                <a:ea typeface="맑은 고딕"/>
              </a:rPr>
              <a:t>EXTRA</a:t>
            </a:r>
            <a:endParaRPr lang="ko-KR" altLang="en-US" sz="1300" b="1">
              <a:solidFill>
                <a:srgbClr val="667EEA"/>
              </a:solidFill>
              <a:latin typeface="맑은 고딕"/>
              <a:ea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A9A3DC-B100-4099-ACD7-CE5DAE541AF7}"/>
              </a:ext>
            </a:extLst>
          </p:cNvPr>
          <p:cNvSpPr txBox="1"/>
          <p:nvPr/>
        </p:nvSpPr>
        <p:spPr>
          <a:xfrm>
            <a:off x="7874000" y="28702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→  추가 대응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B6C63E7-3BC3-4E89-A2B6-71F58E88A308}"/>
              </a:ext>
            </a:extLst>
          </p:cNvPr>
          <p:cNvSpPr/>
          <p:nvPr/>
        </p:nvSpPr>
        <p:spPr>
          <a:xfrm>
            <a:off x="762000" y="3340100"/>
            <a:ext cx="76200" cy="457200"/>
          </a:xfrm>
          <a:prstGeom prst="rect">
            <a:avLst/>
          </a:prstGeom>
          <a:solidFill>
            <a:srgbClr val="63B3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391A9A1-8037-4861-B192-4BF558378B38}"/>
              </a:ext>
            </a:extLst>
          </p:cNvPr>
          <p:cNvSpPr/>
          <p:nvPr/>
        </p:nvSpPr>
        <p:spPr>
          <a:xfrm>
            <a:off x="1016000" y="3340100"/>
            <a:ext cx="10414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B58CD1-A9E9-4D68-9CF0-F5A65B1E0FD2}"/>
              </a:ext>
            </a:extLst>
          </p:cNvPr>
          <p:cNvSpPr txBox="1"/>
          <p:nvPr/>
        </p:nvSpPr>
        <p:spPr>
          <a:xfrm>
            <a:off x="1270000" y="34290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63B3ED"/>
                </a:solidFill>
                <a:latin typeface="맑은 고딕"/>
                <a:ea typeface="맑은 고딕"/>
              </a:rPr>
              <a:t>CHECKLIST</a:t>
            </a:r>
            <a:endParaRPr lang="ko-KR" altLang="en-US" sz="1300" b="1">
              <a:solidFill>
                <a:srgbClr val="63B3ED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86869E-DF22-4065-ADBB-9B9F3FA9377F}"/>
              </a:ext>
            </a:extLst>
          </p:cNvPr>
          <p:cNvSpPr txBox="1"/>
          <p:nvPr/>
        </p:nvSpPr>
        <p:spPr>
          <a:xfrm>
            <a:off x="7874000" y="34290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→  검수표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C407B1E-AA25-492A-B27B-C64A35DB41BF}"/>
              </a:ext>
            </a:extLst>
          </p:cNvPr>
          <p:cNvSpPr/>
          <p:nvPr/>
        </p:nvSpPr>
        <p:spPr>
          <a:xfrm>
            <a:off x="762000" y="3898900"/>
            <a:ext cx="76200" cy="457200"/>
          </a:xfrm>
          <a:prstGeom prst="rect">
            <a:avLst/>
          </a:prstGeom>
          <a:solidFill>
            <a:srgbClr val="E53E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38A9F5F-5046-4869-AC0A-67EC754926E0}"/>
              </a:ext>
            </a:extLst>
          </p:cNvPr>
          <p:cNvSpPr/>
          <p:nvPr/>
        </p:nvSpPr>
        <p:spPr>
          <a:xfrm>
            <a:off x="1016000" y="3898900"/>
            <a:ext cx="10414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5D1EE3-E190-4B1E-97CB-48FD44D38617}"/>
              </a:ext>
            </a:extLst>
          </p:cNvPr>
          <p:cNvSpPr txBox="1"/>
          <p:nvPr/>
        </p:nvSpPr>
        <p:spPr>
          <a:xfrm>
            <a:off x="1270000" y="39878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E53E3E"/>
                </a:solidFill>
                <a:latin typeface="맑은 고딕"/>
                <a:ea typeface="맑은 고딕"/>
              </a:rPr>
              <a:t>ISSUE</a:t>
            </a:r>
            <a:endParaRPr lang="ko-KR" altLang="en-US" sz="1300" b="1">
              <a:solidFill>
                <a:srgbClr val="E53E3E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E25FFD-FFF1-4EEE-8F92-CDEC24A817FC}"/>
              </a:ext>
            </a:extLst>
          </p:cNvPr>
          <p:cNvSpPr txBox="1"/>
          <p:nvPr/>
        </p:nvSpPr>
        <p:spPr>
          <a:xfrm>
            <a:off x="7874000" y="39878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→  이슈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5C25E89-3825-4EE1-B321-AD3A76C99710}"/>
              </a:ext>
            </a:extLst>
          </p:cNvPr>
          <p:cNvSpPr/>
          <p:nvPr/>
        </p:nvSpPr>
        <p:spPr>
          <a:xfrm>
            <a:off x="762000" y="4457700"/>
            <a:ext cx="76200" cy="4572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9383F7B-6CB0-4B38-90A9-15E455A965A6}"/>
              </a:ext>
            </a:extLst>
          </p:cNvPr>
          <p:cNvSpPr/>
          <p:nvPr/>
        </p:nvSpPr>
        <p:spPr>
          <a:xfrm>
            <a:off x="1016000" y="4457700"/>
            <a:ext cx="10414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DCD696-9014-4909-AC8F-4EB99CD5D61C}"/>
              </a:ext>
            </a:extLst>
          </p:cNvPr>
          <p:cNvSpPr txBox="1"/>
          <p:nvPr/>
        </p:nvSpPr>
        <p:spPr>
          <a:xfrm>
            <a:off x="1270000" y="4546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F6AD55"/>
                </a:solidFill>
                <a:latin typeface="맑은 고딕"/>
                <a:ea typeface="맑은 고딕"/>
              </a:rPr>
              <a:t>REQUEST</a:t>
            </a:r>
            <a:endParaRPr lang="ko-KR" altLang="en-US" sz="1300" b="1">
              <a:solidFill>
                <a:srgbClr val="F6AD55"/>
              </a:solidFill>
              <a:latin typeface="맑은 고딕"/>
              <a:ea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A8746D-93E0-4D22-B791-698A1A3BDC4B}"/>
              </a:ext>
            </a:extLst>
          </p:cNvPr>
          <p:cNvSpPr txBox="1"/>
          <p:nvPr/>
        </p:nvSpPr>
        <p:spPr>
          <a:xfrm>
            <a:off x="7874000" y="45466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→  고객요청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B57A4C3-4EA1-4736-8A54-11F48E8B91C2}"/>
              </a:ext>
            </a:extLst>
          </p:cNvPr>
          <p:cNvSpPr/>
          <p:nvPr/>
        </p:nvSpPr>
        <p:spPr>
          <a:xfrm>
            <a:off x="762000" y="5016500"/>
            <a:ext cx="76200" cy="457200"/>
          </a:xfrm>
          <a:prstGeom prst="rect">
            <a:avLst/>
          </a:prstGeom>
          <a:solidFill>
            <a:srgbClr val="38A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2A6DBA7-9C12-48A7-9578-C87D68347392}"/>
              </a:ext>
            </a:extLst>
          </p:cNvPr>
          <p:cNvSpPr/>
          <p:nvPr/>
        </p:nvSpPr>
        <p:spPr>
          <a:xfrm>
            <a:off x="1016000" y="5016500"/>
            <a:ext cx="10414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2F2806-3200-4375-A162-B23A4BE1B22A}"/>
              </a:ext>
            </a:extLst>
          </p:cNvPr>
          <p:cNvSpPr txBox="1"/>
          <p:nvPr/>
        </p:nvSpPr>
        <p:spPr>
          <a:xfrm>
            <a:off x="1270000" y="51054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38A169"/>
                </a:solidFill>
                <a:latin typeface="맑은 고딕"/>
                <a:ea typeface="맑은 고딕"/>
              </a:rPr>
              <a:t>AS</a:t>
            </a:r>
            <a:endParaRPr lang="ko-KR" altLang="en-US" sz="1300" b="1">
              <a:solidFill>
                <a:srgbClr val="38A169"/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0DF517-5A61-49FC-9CF3-301074FD103D}"/>
              </a:ext>
            </a:extLst>
          </p:cNvPr>
          <p:cNvSpPr txBox="1"/>
          <p:nvPr/>
        </p:nvSpPr>
        <p:spPr>
          <a:xfrm>
            <a:off x="7874000" y="51054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→  AS</a:t>
            </a:r>
            <a:endParaRPr lang="ko-KR" altLang="en-US" sz="13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FA8CDBA-DD60-4222-8347-17A3DEB8BAFD}"/>
              </a:ext>
            </a:extLst>
          </p:cNvPr>
          <p:cNvSpPr/>
          <p:nvPr/>
        </p:nvSpPr>
        <p:spPr>
          <a:xfrm>
            <a:off x="762000" y="5575300"/>
            <a:ext cx="76200" cy="457200"/>
          </a:xfrm>
          <a:prstGeom prst="rect">
            <a:avLst/>
          </a:prstGeom>
          <a:solidFill>
            <a:srgbClr val="C8D6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C86C237-4D46-4D92-918F-01AA01F6491C}"/>
              </a:ext>
            </a:extLst>
          </p:cNvPr>
          <p:cNvSpPr/>
          <p:nvPr/>
        </p:nvSpPr>
        <p:spPr>
          <a:xfrm>
            <a:off x="1016000" y="5575300"/>
            <a:ext cx="10414000" cy="457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330A72-5567-477B-B3FB-00A29244CF2D}"/>
              </a:ext>
            </a:extLst>
          </p:cNvPr>
          <p:cNvSpPr txBox="1"/>
          <p:nvPr/>
        </p:nvSpPr>
        <p:spPr>
          <a:xfrm>
            <a:off x="1270000" y="56642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C8D6E5"/>
                </a:solidFill>
                <a:latin typeface="맑은 고딕"/>
                <a:ea typeface="맑은 고딕"/>
              </a:rPr>
              <a:t>NOTE</a:t>
            </a:r>
            <a:endParaRPr lang="ko-KR" altLang="en-US" sz="1300" b="1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85B2FB-8974-4609-9EEB-86A5783ECB1E}"/>
              </a:ext>
            </a:extLst>
          </p:cNvPr>
          <p:cNvSpPr txBox="1"/>
          <p:nvPr/>
        </p:nvSpPr>
        <p:spPr>
          <a:xfrm>
            <a:off x="7874000" y="56642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→  회의록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A41F2E-2687-4FB7-847C-F0092EB7BFB8}"/>
              </a:ext>
            </a:extLst>
          </p:cNvPr>
          <p:cNvSpPr txBox="1"/>
          <p:nvPr/>
        </p:nvSpPr>
        <p:spPr>
          <a:xfrm>
            <a:off x="762000" y="6223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6AD55"/>
                </a:solidFill>
                <a:latin typeface="맑은 고딕"/>
                <a:ea typeface="맑은 고딕"/>
              </a:rPr>
              <a:t>💡  </a:t>
            </a:r>
            <a:r>
              <a:rPr lang="en-US" altLang="ko-KR" sz="1200">
                <a:solidFill>
                  <a:srgbClr val="F6AD55"/>
                </a:solidFill>
                <a:latin typeface="맑은 고딕"/>
                <a:ea typeface="맑은 고딕"/>
              </a:rPr>
              <a:t>hover </a:t>
            </a:r>
            <a:r>
              <a:rPr lang="ko-KR" altLang="en-US" sz="1200">
                <a:solidFill>
                  <a:srgbClr val="F6AD55"/>
                </a:solidFill>
                <a:latin typeface="맑은 고딕"/>
                <a:ea typeface="맑은 고딕"/>
              </a:rPr>
              <a:t>시 인디고 </a:t>
            </a:r>
            <a:r>
              <a:rPr lang="en-US" altLang="ko-KR" sz="1200">
                <a:solidFill>
                  <a:srgbClr val="F6AD55"/>
                </a:solidFill>
                <a:latin typeface="맑은 고딕"/>
                <a:ea typeface="맑은 고딕"/>
              </a:rPr>
              <a:t>border  +  ↗ </a:t>
            </a:r>
            <a:r>
              <a:rPr lang="ko-KR" altLang="en-US" sz="1200">
                <a:solidFill>
                  <a:srgbClr val="F6AD55"/>
                </a:solidFill>
                <a:latin typeface="맑은 고딕"/>
                <a:ea typeface="맑은 고딕"/>
              </a:rPr>
              <a:t>아이콘</a:t>
            </a:r>
          </a:p>
        </p:txBody>
      </p:sp>
    </p:spTree>
    <p:extLst>
      <p:ext uri="{BB962C8B-B14F-4D97-AF65-F5344CB8AC3E}">
        <p14:creationId xmlns:p14="http://schemas.microsoft.com/office/powerpoint/2010/main" val="20605076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519444-0741-47F6-9E29-D577F3E3F4B5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ACTIVITY LOG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F6777-08F2-48D4-8D41-B9ED75983847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알림 센터 활용 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A36A48-802C-40D5-9925-E400A28B8AAD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187D3E-CFF0-42B0-BFCC-A6B2E33DE59A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푸시는 아니지만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미확인 뱃지가 시각적으로 강함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3B72D19-ABE9-4413-B19A-0590650A8DE3}"/>
              </a:ext>
            </a:extLst>
          </p:cNvPr>
          <p:cNvSpPr/>
          <p:nvPr/>
        </p:nvSpPr>
        <p:spPr>
          <a:xfrm>
            <a:off x="762000" y="2286000"/>
            <a:ext cx="10668000" cy="1143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F1FB25-55D6-4D66-BB3F-5CAB801BF00D}"/>
              </a:ext>
            </a:extLst>
          </p:cNvPr>
          <p:cNvSpPr txBox="1"/>
          <p:nvPr/>
        </p:nvSpPr>
        <p:spPr>
          <a:xfrm>
            <a:off x="1016000" y="26035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600">
                <a:solidFill>
                  <a:srgbClr val="F0F0F0"/>
                </a:solidFill>
                <a:latin typeface="맑은 고딕"/>
                <a:ea typeface="맑은 고딕"/>
              </a:rPr>
              <a:t>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7E2D3-D4F4-4153-91E5-205355C2467C}"/>
              </a:ext>
            </a:extLst>
          </p:cNvPr>
          <p:cNvSpPr txBox="1"/>
          <p:nvPr/>
        </p:nvSpPr>
        <p:spPr>
          <a:xfrm>
            <a:off x="2286000" y="25654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00D4AA"/>
                </a:solidFill>
                <a:latin typeface="맑은 고딕"/>
                <a:ea typeface="맑은 고딕"/>
              </a:rPr>
              <a:t>출근 직후 </a:t>
            </a:r>
            <a:r>
              <a:rPr lang="en-US" altLang="ko-KR" b="1">
                <a:solidFill>
                  <a:srgbClr val="00D4AA"/>
                </a:solidFill>
                <a:latin typeface="맑은 고딕"/>
                <a:ea typeface="맑은 고딕"/>
              </a:rPr>
              <a:t>5</a:t>
            </a:r>
            <a:r>
              <a:rPr lang="ko-KR" altLang="en-US" b="1">
                <a:solidFill>
                  <a:srgbClr val="00D4AA"/>
                </a:solidFill>
                <a:latin typeface="맑은 고딕"/>
                <a:ea typeface="맑은 고딕"/>
              </a:rPr>
              <a:t>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A60A36-F1DF-450D-BBE5-F3AF5D282BDC}"/>
              </a:ext>
            </a:extLst>
          </p:cNvPr>
          <p:cNvSpPr txBox="1"/>
          <p:nvPr/>
        </p:nvSpPr>
        <p:spPr>
          <a:xfrm>
            <a:off x="2286000" y="29464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종 아이콘 →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"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어제 무슨 일이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"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304904-892E-42B0-9686-B12342A89B20}"/>
              </a:ext>
            </a:extLst>
          </p:cNvPr>
          <p:cNvSpPr/>
          <p:nvPr/>
        </p:nvSpPr>
        <p:spPr>
          <a:xfrm>
            <a:off x="762000" y="3619500"/>
            <a:ext cx="10668000" cy="1143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EEA53E-2EB3-4683-88EF-A538E150379B}"/>
              </a:ext>
            </a:extLst>
          </p:cNvPr>
          <p:cNvSpPr txBox="1"/>
          <p:nvPr/>
        </p:nvSpPr>
        <p:spPr>
          <a:xfrm>
            <a:off x="1016000" y="39370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600">
                <a:solidFill>
                  <a:srgbClr val="F0F0F0"/>
                </a:solidFill>
                <a:latin typeface="맑은 고딕"/>
                <a:ea typeface="맑은 고딕"/>
              </a:rPr>
              <a:t>🎯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8033F0-5729-4743-A7BC-501265267D76}"/>
              </a:ext>
            </a:extLst>
          </p:cNvPr>
          <p:cNvSpPr txBox="1"/>
          <p:nvPr/>
        </p:nvSpPr>
        <p:spPr>
          <a:xfrm>
            <a:off x="2286000" y="38989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00D4AA"/>
                </a:solidFill>
                <a:latin typeface="맑은 고딕"/>
                <a:ea typeface="맑은 고딕"/>
              </a:rPr>
              <a:t>필터 칩 활용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EB6438-6E8E-429B-8C7B-662A25BA5A36}"/>
              </a:ext>
            </a:extLst>
          </p:cNvPr>
          <p:cNvSpPr txBox="1"/>
          <p:nvPr/>
        </p:nvSpPr>
        <p:spPr>
          <a:xfrm>
            <a:off x="2286000" y="42799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본인 관심 항목만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예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: AS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만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B2D7B6-293D-47F8-9081-98FFDD279A48}"/>
              </a:ext>
            </a:extLst>
          </p:cNvPr>
          <p:cNvSpPr/>
          <p:nvPr/>
        </p:nvSpPr>
        <p:spPr>
          <a:xfrm>
            <a:off x="762000" y="4953000"/>
            <a:ext cx="10668000" cy="1143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89E1AB-9499-4762-B3D5-88BB881E9A86}"/>
              </a:ext>
            </a:extLst>
          </p:cNvPr>
          <p:cNvSpPr txBox="1"/>
          <p:nvPr/>
        </p:nvSpPr>
        <p:spPr>
          <a:xfrm>
            <a:off x="1016000" y="52705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600">
                <a:solidFill>
                  <a:srgbClr val="F0F0F0"/>
                </a:solidFill>
                <a:latin typeface="맑은 고딕"/>
                <a:ea typeface="맑은 고딕"/>
              </a:rPr>
              <a:t>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D54FC9-6C6E-467F-B4CA-AC43947BF7E6}"/>
              </a:ext>
            </a:extLst>
          </p:cNvPr>
          <p:cNvSpPr txBox="1"/>
          <p:nvPr/>
        </p:nvSpPr>
        <p:spPr>
          <a:xfrm>
            <a:off x="2286000" y="52324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00D4AA"/>
                </a:solidFill>
                <a:latin typeface="맑은 고딕"/>
                <a:ea typeface="맑은 고딕"/>
              </a:rPr>
              <a:t>"</a:t>
            </a:r>
            <a:r>
              <a:rPr lang="ko-KR" altLang="en-US" b="1">
                <a:solidFill>
                  <a:srgbClr val="00D4AA"/>
                </a:solidFill>
                <a:latin typeface="맑은 고딕"/>
                <a:ea typeface="맑은 고딕"/>
              </a:rPr>
              <a:t>모두 읽음</a:t>
            </a:r>
            <a:r>
              <a:rPr lang="en-US" altLang="ko-KR" b="1">
                <a:solidFill>
                  <a:srgbClr val="00D4AA"/>
                </a:solidFill>
                <a:latin typeface="맑은 고딕"/>
                <a:ea typeface="맑은 고딕"/>
              </a:rPr>
              <a:t>" </a:t>
            </a:r>
            <a:r>
              <a:rPr lang="ko-KR" altLang="en-US" b="1">
                <a:solidFill>
                  <a:srgbClr val="00D4AA"/>
                </a:solidFill>
                <a:latin typeface="맑은 고딕"/>
                <a:ea typeface="맑은 고딕"/>
              </a:rPr>
              <a:t>일괄 처리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3EE4E1-D437-4238-AD0E-86DD17C6D3BD}"/>
              </a:ext>
            </a:extLst>
          </p:cNvPr>
          <p:cNvSpPr txBox="1"/>
          <p:nvPr/>
        </p:nvSpPr>
        <p:spPr>
          <a:xfrm>
            <a:off x="2286000" y="56134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마지막 본 시각 사용자별 저장</a:t>
            </a:r>
          </a:p>
        </p:txBody>
      </p:sp>
    </p:spTree>
    <p:extLst>
      <p:ext uri="{BB962C8B-B14F-4D97-AF65-F5344CB8AC3E}">
        <p14:creationId xmlns:p14="http://schemas.microsoft.com/office/powerpoint/2010/main" val="35316259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A59786-05EE-4F1D-B5EF-76B1A2641552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REPORTS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74A2F1-51E1-49CA-B917-3E44BAE8B196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Excel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추출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보고용 스타일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2CAD02-C2EB-404C-8EA4-16CAA313E9A0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4DD2D1-9D9D-488E-94C7-5AAF15A2E50E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별도 후처리 없이 그대로 보고용으로 송부 가능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A55063-B0CF-483E-A8B4-EAAB44B022BC}"/>
              </a:ext>
            </a:extLst>
          </p:cNvPr>
          <p:cNvSpPr/>
          <p:nvPr/>
        </p:nvSpPr>
        <p:spPr>
          <a:xfrm>
            <a:off x="762000" y="2286000"/>
            <a:ext cx="76200" cy="635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740233-7776-4E5B-B8C9-E9365B1E6BBC}"/>
              </a:ext>
            </a:extLst>
          </p:cNvPr>
          <p:cNvSpPr txBox="1"/>
          <p:nvPr/>
        </p:nvSpPr>
        <p:spPr>
          <a:xfrm>
            <a:off x="1016000" y="2438400"/>
            <a:ext cx="1041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대시보드형 스타일 자동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진한 블루 헤더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+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흰색 굵은 글씨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+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헤더 행 고정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E6B838D-3657-42F6-88ED-21FAE5F0C3DF}"/>
              </a:ext>
            </a:extLst>
          </p:cNvPr>
          <p:cNvSpPr/>
          <p:nvPr/>
        </p:nvSpPr>
        <p:spPr>
          <a:xfrm>
            <a:off x="762000" y="3111500"/>
            <a:ext cx="76200" cy="635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7CB877-0866-43AF-BF87-B18680D4AF16}"/>
              </a:ext>
            </a:extLst>
          </p:cNvPr>
          <p:cNvSpPr txBox="1"/>
          <p:nvPr/>
        </p:nvSpPr>
        <p:spPr>
          <a:xfrm>
            <a:off x="1016000" y="3263900"/>
            <a:ext cx="1041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자동 필터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한글 가중치 컬럼 너비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얼룩말 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709DED-F69E-4A79-A767-ED6803BE9095}"/>
              </a:ext>
            </a:extLst>
          </p:cNvPr>
          <p:cNvSpPr/>
          <p:nvPr/>
        </p:nvSpPr>
        <p:spPr>
          <a:xfrm>
            <a:off x="762000" y="3937000"/>
            <a:ext cx="76200" cy="635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806212-BAD3-4907-B8CD-AAE7A4330BB3}"/>
              </a:ext>
            </a:extLst>
          </p:cNvPr>
          <p:cNvSpPr txBox="1"/>
          <p:nvPr/>
        </p:nvSpPr>
        <p:spPr>
          <a:xfrm>
            <a:off x="1016000" y="4089400"/>
            <a:ext cx="1041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상태별 자동 컬러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— 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완료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=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초록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지연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/NG=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빨강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대기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=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노랑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474B03-816A-4607-B3B3-FE880D85B810}"/>
              </a:ext>
            </a:extLst>
          </p:cNvPr>
          <p:cNvSpPr/>
          <p:nvPr/>
        </p:nvSpPr>
        <p:spPr>
          <a:xfrm>
            <a:off x="762000" y="4762500"/>
            <a:ext cx="76200" cy="635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D24101-3AA6-45FE-A188-C316D42FCAAF}"/>
              </a:ext>
            </a:extLst>
          </p:cNvPr>
          <p:cNvSpPr txBox="1"/>
          <p:nvPr/>
        </p:nvSpPr>
        <p:spPr>
          <a:xfrm>
            <a:off x="1016000" y="4914900"/>
            <a:ext cx="1041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진행률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(%)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자동 컬러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·  ISO </a:t>
            </a:r>
            <a:r>
              <a:rPr lang="ko-KR" altLang="en-US" sz="1500">
                <a:solidFill>
                  <a:srgbClr val="F0F0F0"/>
                </a:solidFill>
                <a:latin typeface="맑은 고딕"/>
                <a:ea typeface="맑은 고딕"/>
              </a:rPr>
              <a:t>날짜  →  </a:t>
            </a:r>
            <a:r>
              <a:rPr lang="en-US" altLang="ko-KR" sz="1500">
                <a:solidFill>
                  <a:srgbClr val="F0F0F0"/>
                </a:solidFill>
                <a:latin typeface="맑은 고딕"/>
                <a:ea typeface="맑은 고딕"/>
              </a:rPr>
              <a:t>YYYY-MM-DD</a:t>
            </a:r>
            <a:endParaRPr lang="ko-KR" altLang="en-US" sz="15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2F0895-E84D-4BAB-810B-FDBBCA253ACB}"/>
              </a:ext>
            </a:extLst>
          </p:cNvPr>
          <p:cNvSpPr txBox="1"/>
          <p:nvPr/>
        </p:nvSpPr>
        <p:spPr>
          <a:xfrm>
            <a:off x="762000" y="5715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상태 컬러 자동 적용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40D19CF-DC53-4C24-A536-834454F9EDF9}"/>
              </a:ext>
            </a:extLst>
          </p:cNvPr>
          <p:cNvSpPr/>
          <p:nvPr/>
        </p:nvSpPr>
        <p:spPr>
          <a:xfrm>
            <a:off x="762000" y="6096000"/>
            <a:ext cx="1524000" cy="457200"/>
          </a:xfrm>
          <a:prstGeom prst="rect">
            <a:avLst/>
          </a:prstGeom>
          <a:solidFill>
            <a:srgbClr val="38A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37278E-2FEE-4B97-8B1F-73F87846CBD9}"/>
              </a:ext>
            </a:extLst>
          </p:cNvPr>
          <p:cNvSpPr txBox="1"/>
          <p:nvPr/>
        </p:nvSpPr>
        <p:spPr>
          <a:xfrm>
            <a:off x="762000" y="61976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1A2A3A"/>
                </a:solidFill>
                <a:latin typeface="맑은 고딕"/>
                <a:ea typeface="맑은 고딕"/>
              </a:rPr>
              <a:t>완료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FB76AC-32CD-437E-9669-588508D16D89}"/>
              </a:ext>
            </a:extLst>
          </p:cNvPr>
          <p:cNvSpPr/>
          <p:nvPr/>
        </p:nvSpPr>
        <p:spPr>
          <a:xfrm>
            <a:off x="2413000" y="6096000"/>
            <a:ext cx="1524000" cy="4572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73607C-3DA9-4B70-A82D-AC5BC2B0ACA9}"/>
              </a:ext>
            </a:extLst>
          </p:cNvPr>
          <p:cNvSpPr txBox="1"/>
          <p:nvPr/>
        </p:nvSpPr>
        <p:spPr>
          <a:xfrm>
            <a:off x="2413000" y="61976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1A2A3A"/>
                </a:solidFill>
                <a:latin typeface="맑은 고딕"/>
                <a:ea typeface="맑은 고딕"/>
              </a:rPr>
              <a:t>대기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33EDE66-4E10-4143-9649-98D6033BADFF}"/>
              </a:ext>
            </a:extLst>
          </p:cNvPr>
          <p:cNvSpPr/>
          <p:nvPr/>
        </p:nvSpPr>
        <p:spPr>
          <a:xfrm>
            <a:off x="4064000" y="6096000"/>
            <a:ext cx="1524000" cy="457200"/>
          </a:xfrm>
          <a:prstGeom prst="rect">
            <a:avLst/>
          </a:prstGeom>
          <a:solidFill>
            <a:srgbClr val="E53E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64A586-3B70-46DF-899C-58536E56357E}"/>
              </a:ext>
            </a:extLst>
          </p:cNvPr>
          <p:cNvSpPr txBox="1"/>
          <p:nvPr/>
        </p:nvSpPr>
        <p:spPr>
          <a:xfrm>
            <a:off x="4064000" y="61976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1A2A3A"/>
                </a:solidFill>
                <a:latin typeface="맑은 고딕"/>
                <a:ea typeface="맑은 고딕"/>
              </a:rPr>
              <a:t>지연</a:t>
            </a:r>
            <a:r>
              <a:rPr lang="en-US" altLang="ko-KR" sz="1300" b="1">
                <a:solidFill>
                  <a:srgbClr val="1A2A3A"/>
                </a:solidFill>
                <a:latin typeface="맑은 고딕"/>
                <a:ea typeface="맑은 고딕"/>
              </a:rPr>
              <a:t>/NG</a:t>
            </a:r>
            <a:endParaRPr lang="ko-KR" altLang="en-US" sz="13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779500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D04E99-98C6-4E76-ADE2-53C468483E87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REPORTS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BBA7CD-F04E-4813-993A-8A7DE24A1D6E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추출 종류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B0CB8B-C422-4BDB-9BCE-D6405B00CB0C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69B2A-3A52-4A36-9A3B-06CFAACD029D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메뉴마다 우측 상단에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Excel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버튼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—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같은 위치 일관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0CF8F5-EDF6-482D-8299-02748B77879B}"/>
              </a:ext>
            </a:extLst>
          </p:cNvPr>
          <p:cNvSpPr/>
          <p:nvPr/>
        </p:nvSpPr>
        <p:spPr>
          <a:xfrm>
            <a:off x="762000" y="2222500"/>
            <a:ext cx="10668000" cy="406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D7F6C4-92BD-4B26-A568-05BF8FD8CFCE}"/>
              </a:ext>
            </a:extLst>
          </p:cNvPr>
          <p:cNvSpPr txBox="1"/>
          <p:nvPr/>
        </p:nvSpPr>
        <p:spPr>
          <a:xfrm>
            <a:off x="1016000" y="22987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1A2A3A"/>
                </a:solidFill>
                <a:latin typeface="맑은 고딕"/>
                <a:ea typeface="맑은 고딕"/>
              </a:rPr>
              <a:t>출처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9AC50B-7445-4F4A-9954-988620543A15}"/>
              </a:ext>
            </a:extLst>
          </p:cNvPr>
          <p:cNvSpPr txBox="1"/>
          <p:nvPr/>
        </p:nvSpPr>
        <p:spPr>
          <a:xfrm>
            <a:off x="5334000" y="22987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1A2A3A"/>
                </a:solidFill>
                <a:latin typeface="맑은 고딕"/>
                <a:ea typeface="맑은 고딕"/>
              </a:rPr>
              <a:t>출력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6E1332-D2CB-4271-A02C-7A9ADF024A93}"/>
              </a:ext>
            </a:extLst>
          </p:cNvPr>
          <p:cNvSpPr/>
          <p:nvPr/>
        </p:nvSpPr>
        <p:spPr>
          <a:xfrm>
            <a:off x="762000" y="2628900"/>
            <a:ext cx="10668000" cy="584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2348DC-B0FF-402B-8644-3EDF489431FB}"/>
              </a:ext>
            </a:extLst>
          </p:cNvPr>
          <p:cNvSpPr txBox="1"/>
          <p:nvPr/>
        </p:nvSpPr>
        <p:spPr>
          <a:xfrm>
            <a:off x="1016000" y="2781300"/>
            <a:ext cx="406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F0F0F0"/>
                </a:solidFill>
                <a:latin typeface="맑은 고딕"/>
                <a:ea typeface="맑은 고딕"/>
              </a:rPr>
              <a:t>대시보드  →  종합 리포트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F15690-0BF7-42A6-AC03-4DA2E2E83F48}"/>
              </a:ext>
            </a:extLst>
          </p:cNvPr>
          <p:cNvSpPr txBox="1"/>
          <p:nvPr/>
        </p:nvSpPr>
        <p:spPr>
          <a:xfrm>
            <a:off x="5334000" y="2781300"/>
            <a:ext cx="584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차트 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+  14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시트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회의록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50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건 포함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)</a:t>
            </a:r>
            <a:endParaRPr lang="ko-KR" altLang="en-US" sz="1300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86B942-792F-4B7E-8BC7-8F3A27CD7E88}"/>
              </a:ext>
            </a:extLst>
          </p:cNvPr>
          <p:cNvSpPr/>
          <p:nvPr/>
        </p:nvSpPr>
        <p:spPr>
          <a:xfrm>
            <a:off x="762000" y="3213100"/>
            <a:ext cx="10668000" cy="584200"/>
          </a:xfrm>
          <a:prstGeom prst="rect">
            <a:avLst/>
          </a:prstGeom>
          <a:solidFill>
            <a:srgbClr val="1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7D3F26-5A6A-431D-AF31-48C946BCA2C2}"/>
              </a:ext>
            </a:extLst>
          </p:cNvPr>
          <p:cNvSpPr txBox="1"/>
          <p:nvPr/>
        </p:nvSpPr>
        <p:spPr>
          <a:xfrm>
            <a:off x="1016000" y="3365500"/>
            <a:ext cx="406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F0F0F0"/>
                </a:solidFill>
                <a:latin typeface="맑은 고딕"/>
                <a:ea typeface="맑은 고딕"/>
              </a:rPr>
              <a:t>대시보드  →  </a:t>
            </a:r>
            <a:r>
              <a:rPr lang="en-US" altLang="ko-KR" sz="1300" b="1">
                <a:solidFill>
                  <a:srgbClr val="F0F0F0"/>
                </a:solidFill>
                <a:latin typeface="맑은 고딕"/>
                <a:ea typeface="맑은 고딕"/>
              </a:rPr>
              <a:t>PDF</a:t>
            </a:r>
            <a:endParaRPr lang="ko-KR" altLang="en-US" sz="1300" b="1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3F5699-206F-41E0-995A-9D699345A222}"/>
              </a:ext>
            </a:extLst>
          </p:cNvPr>
          <p:cNvSpPr txBox="1"/>
          <p:nvPr/>
        </p:nvSpPr>
        <p:spPr>
          <a:xfrm>
            <a:off x="5334000" y="3365500"/>
            <a:ext cx="584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KPI 5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장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+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임박 마일스톤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+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인력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+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도메인별 진척률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0233EAF-288C-4B90-B23A-D44D9D2C153E}"/>
              </a:ext>
            </a:extLst>
          </p:cNvPr>
          <p:cNvSpPr/>
          <p:nvPr/>
        </p:nvSpPr>
        <p:spPr>
          <a:xfrm>
            <a:off x="762000" y="3797300"/>
            <a:ext cx="10668000" cy="584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2678B6-64A3-4295-ADBB-179513AFA1D9}"/>
              </a:ext>
            </a:extLst>
          </p:cNvPr>
          <p:cNvSpPr txBox="1"/>
          <p:nvPr/>
        </p:nvSpPr>
        <p:spPr>
          <a:xfrm>
            <a:off x="1016000" y="3949700"/>
            <a:ext cx="406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F0F0F0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CC594B-28C5-44D3-983F-8D1F86FC2787}"/>
              </a:ext>
            </a:extLst>
          </p:cNvPr>
          <p:cNvSpPr txBox="1"/>
          <p:nvPr/>
        </p:nvSpPr>
        <p:spPr>
          <a:xfrm>
            <a:off x="5334000" y="3949700"/>
            <a:ext cx="584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리스트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간단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)  / 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상세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프로젝트별 시트 분리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)</a:t>
            </a:r>
            <a:endParaRPr lang="ko-KR" altLang="en-US" sz="1300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46A9C16-0B92-40E1-A7A1-FD3032EC2CE8}"/>
              </a:ext>
            </a:extLst>
          </p:cNvPr>
          <p:cNvSpPr/>
          <p:nvPr/>
        </p:nvSpPr>
        <p:spPr>
          <a:xfrm>
            <a:off x="762000" y="4381500"/>
            <a:ext cx="10668000" cy="584200"/>
          </a:xfrm>
          <a:prstGeom prst="rect">
            <a:avLst/>
          </a:prstGeom>
          <a:solidFill>
            <a:srgbClr val="1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485EAF-9335-4DA4-9332-51AC56738BD0}"/>
              </a:ext>
            </a:extLst>
          </p:cNvPr>
          <p:cNvSpPr txBox="1"/>
          <p:nvPr/>
        </p:nvSpPr>
        <p:spPr>
          <a:xfrm>
            <a:off x="1016000" y="4533900"/>
            <a:ext cx="406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F0F0F0"/>
                </a:solidFill>
                <a:latin typeface="맑은 고딕"/>
                <a:ea typeface="맑은 고딕"/>
              </a:rPr>
              <a:t>인력 </a:t>
            </a:r>
            <a:r>
              <a:rPr lang="en-US" altLang="ko-KR" sz="1300" b="1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 b="1">
                <a:solidFill>
                  <a:srgbClr val="F0F0F0"/>
                </a:solidFill>
                <a:latin typeface="맑은 고딕"/>
                <a:ea typeface="맑은 고딕"/>
              </a:rPr>
              <a:t>리소스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5DA0ED-1975-4F47-9547-868B725413FE}"/>
              </a:ext>
            </a:extLst>
          </p:cNvPr>
          <p:cNvSpPr txBox="1"/>
          <p:nvPr/>
        </p:nvSpPr>
        <p:spPr>
          <a:xfrm>
            <a:off x="5334000" y="4533900"/>
            <a:ext cx="584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3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시트 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엔지니어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/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가용 풀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/ 8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주 히트맵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)</a:t>
            </a:r>
            <a:endParaRPr lang="ko-KR" altLang="en-US" sz="1300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9270BC-83BC-4D3E-A6D1-0B9C70806438}"/>
              </a:ext>
            </a:extLst>
          </p:cNvPr>
          <p:cNvSpPr/>
          <p:nvPr/>
        </p:nvSpPr>
        <p:spPr>
          <a:xfrm>
            <a:off x="762000" y="4965700"/>
            <a:ext cx="10668000" cy="5842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9E8141-4EA6-4701-B551-9E260597C102}"/>
              </a:ext>
            </a:extLst>
          </p:cNvPr>
          <p:cNvSpPr txBox="1"/>
          <p:nvPr/>
        </p:nvSpPr>
        <p:spPr>
          <a:xfrm>
            <a:off x="1016000" y="5118100"/>
            <a:ext cx="406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F0F0F0"/>
                </a:solidFill>
                <a:latin typeface="맑은 고딕"/>
                <a:ea typeface="맑은 고딕"/>
              </a:rPr>
              <a:t>이슈 </a:t>
            </a:r>
            <a:r>
              <a:rPr lang="en-US" altLang="ko-KR" sz="1300" b="1">
                <a:solidFill>
                  <a:srgbClr val="F0F0F0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300" b="1">
                <a:solidFill>
                  <a:srgbClr val="F0F0F0"/>
                </a:solidFill>
                <a:latin typeface="맑은 고딕"/>
                <a:ea typeface="맑은 고딕"/>
              </a:rPr>
              <a:t>자재 </a:t>
            </a:r>
            <a:r>
              <a:rPr lang="en-US" altLang="ko-KR" sz="1300" b="1">
                <a:solidFill>
                  <a:srgbClr val="F0F0F0"/>
                </a:solidFill>
                <a:latin typeface="맑은 고딕"/>
                <a:ea typeface="맑은 고딕"/>
              </a:rPr>
              <a:t>· AS · </a:t>
            </a:r>
            <a:r>
              <a:rPr lang="ko-KR" altLang="en-US" sz="1300" b="1">
                <a:solidFill>
                  <a:srgbClr val="F0F0F0"/>
                </a:solidFill>
                <a:latin typeface="맑은 고딕"/>
                <a:ea typeface="맑은 고딕"/>
              </a:rPr>
              <a:t>버전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215B7C-551E-4B1E-92D4-D77AA1869CD6}"/>
              </a:ext>
            </a:extLst>
          </p:cNvPr>
          <p:cNvSpPr txBox="1"/>
          <p:nvPr/>
        </p:nvSpPr>
        <p:spPr>
          <a:xfrm>
            <a:off x="5334000" y="5118100"/>
            <a:ext cx="584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단독 추출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338F7D8-A74C-45BD-AB12-C423AB595C51}"/>
              </a:ext>
            </a:extLst>
          </p:cNvPr>
          <p:cNvSpPr/>
          <p:nvPr/>
        </p:nvSpPr>
        <p:spPr>
          <a:xfrm>
            <a:off x="762000" y="5549900"/>
            <a:ext cx="10668000" cy="584200"/>
          </a:xfrm>
          <a:prstGeom prst="rect">
            <a:avLst/>
          </a:prstGeom>
          <a:solidFill>
            <a:srgbClr val="1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316EDC-2238-4111-97A7-2A66D759298E}"/>
              </a:ext>
            </a:extLst>
          </p:cNvPr>
          <p:cNvSpPr txBox="1"/>
          <p:nvPr/>
        </p:nvSpPr>
        <p:spPr>
          <a:xfrm>
            <a:off x="1016000" y="5702300"/>
            <a:ext cx="406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F0F0F0"/>
                </a:solidFill>
                <a:latin typeface="맑은 고딕"/>
                <a:ea typeface="맑은 고딕"/>
              </a:rPr>
              <a:t>주간 업무 보고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9A486B-44A8-48EF-AA66-66A23CEB18F2}"/>
              </a:ext>
            </a:extLst>
          </p:cNvPr>
          <p:cNvSpPr txBox="1"/>
          <p:nvPr/>
        </p:nvSpPr>
        <p:spPr>
          <a:xfrm>
            <a:off x="5334000" y="5702300"/>
            <a:ext cx="584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본인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1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시트 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/ 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팀 종합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=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헤더 </a:t>
            </a:r>
            <a:r>
              <a:rPr lang="en-US" altLang="ko-KR" sz="1300">
                <a:solidFill>
                  <a:srgbClr val="C8D6E5"/>
                </a:solidFill>
                <a:latin typeface="맑은 고딕"/>
                <a:ea typeface="맑은 고딕"/>
              </a:rPr>
              <a:t>+ </a:t>
            </a:r>
            <a:r>
              <a:rPr lang="ko-KR" altLang="en-US" sz="1300">
                <a:solidFill>
                  <a:srgbClr val="C8D6E5"/>
                </a:solidFill>
                <a:latin typeface="맑은 고딕"/>
                <a:ea typeface="맑은 고딕"/>
              </a:rPr>
              <a:t>부서원별 시트</a:t>
            </a:r>
          </a:p>
        </p:txBody>
      </p:sp>
    </p:spTree>
    <p:extLst>
      <p:ext uri="{BB962C8B-B14F-4D97-AF65-F5344CB8AC3E}">
        <p14:creationId xmlns:p14="http://schemas.microsoft.com/office/powerpoint/2010/main" val="423767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7A2BF0-044F-4A97-BCC4-8303489E2ECF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REPORTS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F2A834-60FE-4E18-8C5B-4B056050CED3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PDF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출력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B6BE3B-30B5-4AD6-BD04-DFFB9634D5F2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8B958C-76C6-4C86-997E-13B7D72A0D67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모두 인쇄 다이얼로그  →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"PDF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로 저장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"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활용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21CE03-1F08-4780-9F92-B7E06B13FD1E}"/>
              </a:ext>
            </a:extLst>
          </p:cNvPr>
          <p:cNvSpPr/>
          <p:nvPr/>
        </p:nvSpPr>
        <p:spPr>
          <a:xfrm>
            <a:off x="762000" y="2286000"/>
            <a:ext cx="76200" cy="1016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173995-0F54-4C8C-8CAF-926DB6C1E66D}"/>
              </a:ext>
            </a:extLst>
          </p:cNvPr>
          <p:cNvSpPr/>
          <p:nvPr/>
        </p:nvSpPr>
        <p:spPr>
          <a:xfrm>
            <a:off x="1016000" y="2286000"/>
            <a:ext cx="1041400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E4F178-CE77-4D5B-B46A-5133D792D8CF}"/>
              </a:ext>
            </a:extLst>
          </p:cNvPr>
          <p:cNvSpPr txBox="1"/>
          <p:nvPr/>
        </p:nvSpPr>
        <p:spPr>
          <a:xfrm>
            <a:off x="1270000" y="24892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00D4AA"/>
                </a:solidFill>
                <a:latin typeface="맑은 고딕"/>
                <a:ea typeface="맑은 고딕"/>
              </a:rPr>
              <a:t>검수표 탭  →  최종 완료 보고서 </a:t>
            </a:r>
            <a:r>
              <a:rPr lang="en-US" altLang="ko-KR" sz="1700" b="1">
                <a:solidFill>
                  <a:srgbClr val="00D4AA"/>
                </a:solidFill>
                <a:latin typeface="맑은 고딕"/>
                <a:ea typeface="맑은 고딕"/>
              </a:rPr>
              <a:t>(PDF)</a:t>
            </a:r>
            <a:endParaRPr lang="ko-KR" altLang="en-US" sz="17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1EA9C-2AE2-4F48-9AE1-4B52D4B37161}"/>
              </a:ext>
            </a:extLst>
          </p:cNvPr>
          <p:cNvSpPr txBox="1"/>
          <p:nvPr/>
        </p:nvSpPr>
        <p:spPr>
          <a:xfrm>
            <a:off x="1270000" y="28702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고객사 인수인계용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942A904-F77B-4983-8155-0000EDAA61D1}"/>
              </a:ext>
            </a:extLst>
          </p:cNvPr>
          <p:cNvSpPr/>
          <p:nvPr/>
        </p:nvSpPr>
        <p:spPr>
          <a:xfrm>
            <a:off x="762000" y="3492500"/>
            <a:ext cx="76200" cy="1016000"/>
          </a:xfrm>
          <a:prstGeom prst="rect">
            <a:avLst/>
          </a:prstGeom>
          <a:solidFill>
            <a:srgbClr val="667E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D5BC31-BC7E-468D-B535-0ADFC49CC378}"/>
              </a:ext>
            </a:extLst>
          </p:cNvPr>
          <p:cNvSpPr/>
          <p:nvPr/>
        </p:nvSpPr>
        <p:spPr>
          <a:xfrm>
            <a:off x="1016000" y="3492500"/>
            <a:ext cx="1041400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1B1AB0-1EB0-4654-A74D-E5809D616456}"/>
              </a:ext>
            </a:extLst>
          </p:cNvPr>
          <p:cNvSpPr txBox="1"/>
          <p:nvPr/>
        </p:nvSpPr>
        <p:spPr>
          <a:xfrm>
            <a:off x="1270000" y="36957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667EEA"/>
                </a:solidFill>
                <a:latin typeface="맑은 고딕"/>
                <a:ea typeface="맑은 고딕"/>
              </a:rPr>
              <a:t>대시보드  →  </a:t>
            </a:r>
            <a:r>
              <a:rPr lang="en-US" altLang="ko-KR" sz="1700" b="1">
                <a:solidFill>
                  <a:srgbClr val="667EEA"/>
                </a:solidFill>
                <a:latin typeface="맑은 고딕"/>
                <a:ea typeface="맑은 고딕"/>
              </a:rPr>
              <a:t>PDF </a:t>
            </a:r>
            <a:r>
              <a:rPr lang="ko-KR" altLang="en-US" sz="1700" b="1">
                <a:solidFill>
                  <a:srgbClr val="667EEA"/>
                </a:solidFill>
                <a:latin typeface="맑은 고딕"/>
                <a:ea typeface="맑은 고딕"/>
              </a:rPr>
              <a:t>출력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B659BC-51F6-4CA0-8E1D-DCB9772E90EF}"/>
              </a:ext>
            </a:extLst>
          </p:cNvPr>
          <p:cNvSpPr txBox="1"/>
          <p:nvPr/>
        </p:nvSpPr>
        <p:spPr>
          <a:xfrm>
            <a:off x="1270000" y="40767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임원 보고용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1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장 양식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2F02D1-D1E5-47D0-A513-319EF8206E65}"/>
              </a:ext>
            </a:extLst>
          </p:cNvPr>
          <p:cNvSpPr/>
          <p:nvPr/>
        </p:nvSpPr>
        <p:spPr>
          <a:xfrm>
            <a:off x="762000" y="4699000"/>
            <a:ext cx="76200" cy="10160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3DD74C-AB2C-441E-9918-EB28F3BF3D98}"/>
              </a:ext>
            </a:extLst>
          </p:cNvPr>
          <p:cNvSpPr/>
          <p:nvPr/>
        </p:nvSpPr>
        <p:spPr>
          <a:xfrm>
            <a:off x="1016000" y="4699000"/>
            <a:ext cx="10414000" cy="1016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D5BA92-30E5-4C95-9565-400799F3E945}"/>
              </a:ext>
            </a:extLst>
          </p:cNvPr>
          <p:cNvSpPr txBox="1"/>
          <p:nvPr/>
        </p:nvSpPr>
        <p:spPr>
          <a:xfrm>
            <a:off x="1270000" y="49022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F6AD55"/>
                </a:solidFill>
                <a:latin typeface="맑은 고딕"/>
                <a:ea typeface="맑은 고딕"/>
              </a:rPr>
              <a:t>주간 업무 보고  →  </a:t>
            </a:r>
            <a:r>
              <a:rPr lang="en-US" altLang="ko-KR" sz="1700" b="1">
                <a:solidFill>
                  <a:srgbClr val="F6AD55"/>
                </a:solidFill>
                <a:latin typeface="맑은 고딕"/>
                <a:ea typeface="맑은 고딕"/>
              </a:rPr>
              <a:t>"</a:t>
            </a:r>
            <a:r>
              <a:rPr lang="ko-KR" altLang="en-US" sz="1700" b="1">
                <a:solidFill>
                  <a:srgbClr val="F6AD55"/>
                </a:solidFill>
                <a:latin typeface="맑은 고딕"/>
                <a:ea typeface="맑은 고딕"/>
              </a:rPr>
              <a:t>자동 </a:t>
            </a:r>
            <a:r>
              <a:rPr lang="en-US" altLang="ko-KR" sz="1700" b="1">
                <a:solidFill>
                  <a:srgbClr val="F6AD55"/>
                </a:solidFill>
                <a:latin typeface="맑은 고딕"/>
                <a:ea typeface="맑은 고딕"/>
              </a:rPr>
              <a:t>+ PDF"</a:t>
            </a:r>
            <a:endParaRPr lang="ko-KR" altLang="en-US" sz="1700" b="1">
              <a:solidFill>
                <a:srgbClr val="F6AD55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81E1C-295D-4FAD-ADA6-D6288230F0B5}"/>
              </a:ext>
            </a:extLst>
          </p:cNvPr>
          <p:cNvSpPr txBox="1"/>
          <p:nvPr/>
        </p:nvSpPr>
        <p:spPr>
          <a:xfrm>
            <a:off x="1270000" y="52832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팀장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/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임원 보고용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B3B5D8-92E7-4224-B784-D4E1C430CEE9}"/>
              </a:ext>
            </a:extLst>
          </p:cNvPr>
          <p:cNvSpPr txBox="1"/>
          <p:nvPr/>
        </p:nvSpPr>
        <p:spPr>
          <a:xfrm>
            <a:off x="762000" y="5842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별도 라이브러리 없이 브라우저 인쇄 활용</a:t>
            </a:r>
          </a:p>
        </p:txBody>
      </p:sp>
    </p:spTree>
    <p:extLst>
      <p:ext uri="{BB962C8B-B14F-4D97-AF65-F5344CB8AC3E}">
        <p14:creationId xmlns:p14="http://schemas.microsoft.com/office/powerpoint/2010/main" val="16249785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8DF12D-3267-4A65-8399-3661EA73BCF1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QUICK REFERENCE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FB49C8-E3D9-4090-8458-EE2FB6B2018D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ENGINEER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가 매주 하는 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A64C5B-B1F5-426E-A24D-7BD173DEF702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7219B7-FD99-405F-92D8-CB47FD78805B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하루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5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분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주간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1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분이면 충분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F9F75A-1DEE-44BA-8E3B-71ABD3F02F23}"/>
              </a:ext>
            </a:extLst>
          </p:cNvPr>
          <p:cNvSpPr/>
          <p:nvPr/>
        </p:nvSpPr>
        <p:spPr>
          <a:xfrm>
            <a:off x="762000" y="2222500"/>
            <a:ext cx="1651000" cy="635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9275E-80D0-4904-8401-88A8B9122A31}"/>
              </a:ext>
            </a:extLst>
          </p:cNvPr>
          <p:cNvSpPr txBox="1"/>
          <p:nvPr/>
        </p:nvSpPr>
        <p:spPr>
          <a:xfrm>
            <a:off x="762000" y="23876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출근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3FCED7C-5289-4C2F-8B91-C4EDD0C88209}"/>
              </a:ext>
            </a:extLst>
          </p:cNvPr>
          <p:cNvSpPr/>
          <p:nvPr/>
        </p:nvSpPr>
        <p:spPr>
          <a:xfrm>
            <a:off x="2540000" y="2222500"/>
            <a:ext cx="8890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1B4CC3-8B03-4D88-8A15-B16E9FB01BCA}"/>
              </a:ext>
            </a:extLst>
          </p:cNvPr>
          <p:cNvSpPr txBox="1"/>
          <p:nvPr/>
        </p:nvSpPr>
        <p:spPr>
          <a:xfrm>
            <a:off x="2794000" y="2387600"/>
            <a:ext cx="850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종 아이콘으로 신규 활동 확인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68C73F-55BB-4914-9B4C-74EE9CF049CA}"/>
              </a:ext>
            </a:extLst>
          </p:cNvPr>
          <p:cNvSpPr/>
          <p:nvPr/>
        </p:nvSpPr>
        <p:spPr>
          <a:xfrm>
            <a:off x="762000" y="2984500"/>
            <a:ext cx="1651000" cy="635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30716-9769-42A0-99B8-CFAFFFDB83FB}"/>
              </a:ext>
            </a:extLst>
          </p:cNvPr>
          <p:cNvSpPr txBox="1"/>
          <p:nvPr/>
        </p:nvSpPr>
        <p:spPr>
          <a:xfrm>
            <a:off x="762000" y="31496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매일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706B418-DDA9-4F88-8DFB-0E8D1015E0B1}"/>
              </a:ext>
            </a:extLst>
          </p:cNvPr>
          <p:cNvSpPr/>
          <p:nvPr/>
        </p:nvSpPr>
        <p:spPr>
          <a:xfrm>
            <a:off x="2540000" y="2984500"/>
            <a:ext cx="8890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C9CB74-A028-47E6-BBE2-64DBED1DB295}"/>
              </a:ext>
            </a:extLst>
          </p:cNvPr>
          <p:cNvSpPr txBox="1"/>
          <p:nvPr/>
        </p:nvSpPr>
        <p:spPr>
          <a:xfrm>
            <a:off x="2794000" y="3149600"/>
            <a:ext cx="850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본인 배정 프로젝트의 셋업 일정 진행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+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검수표 입력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4AAE322-E645-4873-9B93-D2F04880750B}"/>
              </a:ext>
            </a:extLst>
          </p:cNvPr>
          <p:cNvSpPr/>
          <p:nvPr/>
        </p:nvSpPr>
        <p:spPr>
          <a:xfrm>
            <a:off x="762000" y="3746500"/>
            <a:ext cx="1651000" cy="635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4DF656-BDE7-450B-B5CF-F41789706249}"/>
              </a:ext>
            </a:extLst>
          </p:cNvPr>
          <p:cNvSpPr txBox="1"/>
          <p:nvPr/>
        </p:nvSpPr>
        <p:spPr>
          <a:xfrm>
            <a:off x="762000" y="39116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수시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4636925-D1A2-4B31-9E65-661FA7CD6D96}"/>
              </a:ext>
            </a:extLst>
          </p:cNvPr>
          <p:cNvSpPr/>
          <p:nvPr/>
        </p:nvSpPr>
        <p:spPr>
          <a:xfrm>
            <a:off x="2540000" y="3746500"/>
            <a:ext cx="8890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65A30E-2B6A-4915-AD54-0E4C24C4A9AF}"/>
              </a:ext>
            </a:extLst>
          </p:cNvPr>
          <p:cNvSpPr txBox="1"/>
          <p:nvPr/>
        </p:nvSpPr>
        <p:spPr>
          <a:xfrm>
            <a:off x="2794000" y="3911600"/>
            <a:ext cx="850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회의록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이슈 등록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AS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처리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버전 등록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7A7212-6425-4919-9DF4-CF81D62EF54D}"/>
              </a:ext>
            </a:extLst>
          </p:cNvPr>
          <p:cNvSpPr/>
          <p:nvPr/>
        </p:nvSpPr>
        <p:spPr>
          <a:xfrm>
            <a:off x="762000" y="4508500"/>
            <a:ext cx="1651000" cy="635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1219F8-2440-4C90-9180-F88024BD5D52}"/>
              </a:ext>
            </a:extLst>
          </p:cNvPr>
          <p:cNvSpPr txBox="1"/>
          <p:nvPr/>
        </p:nvSpPr>
        <p:spPr>
          <a:xfrm>
            <a:off x="762000" y="46736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출장 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598EC4E-2D62-4576-BD83-5F7E3FF01215}"/>
              </a:ext>
            </a:extLst>
          </p:cNvPr>
          <p:cNvSpPr/>
          <p:nvPr/>
        </p:nvSpPr>
        <p:spPr>
          <a:xfrm>
            <a:off x="2540000" y="4508500"/>
            <a:ext cx="8890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11CD32-0F44-46FE-9E68-F9CBC4A29708}"/>
              </a:ext>
            </a:extLst>
          </p:cNvPr>
          <p:cNvSpPr txBox="1"/>
          <p:nvPr/>
        </p:nvSpPr>
        <p:spPr>
          <a:xfrm>
            <a:off x="2794000" y="4673600"/>
            <a:ext cx="850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출장 일정 확인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자동 반영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A4AA47D-9264-43F1-82AA-53D093823081}"/>
              </a:ext>
            </a:extLst>
          </p:cNvPr>
          <p:cNvSpPr/>
          <p:nvPr/>
        </p:nvSpPr>
        <p:spPr>
          <a:xfrm>
            <a:off x="762000" y="5270500"/>
            <a:ext cx="1651000" cy="635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6F772F-73F4-4901-8684-33579BC62C76}"/>
              </a:ext>
            </a:extLst>
          </p:cNvPr>
          <p:cNvSpPr txBox="1"/>
          <p:nvPr/>
        </p:nvSpPr>
        <p:spPr>
          <a:xfrm>
            <a:off x="762000" y="54356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★ 금요일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63FDC00-5BE4-4DA3-A260-07D1EBB8A887}"/>
              </a:ext>
            </a:extLst>
          </p:cNvPr>
          <p:cNvSpPr/>
          <p:nvPr/>
        </p:nvSpPr>
        <p:spPr>
          <a:xfrm>
            <a:off x="2540000" y="5270500"/>
            <a:ext cx="8890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13BAB2-55F4-4D30-9BE2-40D757C082DB}"/>
              </a:ext>
            </a:extLst>
          </p:cNvPr>
          <p:cNvSpPr txBox="1"/>
          <p:nvPr/>
        </p:nvSpPr>
        <p:spPr>
          <a:xfrm>
            <a:off x="2794000" y="5435600"/>
            <a:ext cx="850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주간 업무 보고 자동 작성  →  제출</a:t>
            </a:r>
          </a:p>
        </p:txBody>
      </p:sp>
    </p:spTree>
    <p:extLst>
      <p:ext uri="{BB962C8B-B14F-4D97-AF65-F5344CB8AC3E}">
        <p14:creationId xmlns:p14="http://schemas.microsoft.com/office/powerpoint/2010/main" val="10964895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55AE82-A59E-4155-91F7-4F63FCE98380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QUICK REFERENCE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AB5FC-8809-4662-8FF3-3EF9BB63939C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PM /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팀장이 매주 하는 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280DF6-4183-4727-8C86-1B642C2CAF11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09AAF6-F072-41C5-ABB1-D6AFF4A23FA4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팀 종합 보고서도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5~10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분이면 충분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A5375E-0930-4847-9066-75A53317F45E}"/>
              </a:ext>
            </a:extLst>
          </p:cNvPr>
          <p:cNvSpPr/>
          <p:nvPr/>
        </p:nvSpPr>
        <p:spPr>
          <a:xfrm>
            <a:off x="762000" y="2222500"/>
            <a:ext cx="1651000" cy="635000"/>
          </a:xfrm>
          <a:prstGeom prst="rect">
            <a:avLst/>
          </a:prstGeom>
          <a:solidFill>
            <a:srgbClr val="667E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743E6-A4CB-48A3-9CE6-437FFEECB893}"/>
              </a:ext>
            </a:extLst>
          </p:cNvPr>
          <p:cNvSpPr txBox="1"/>
          <p:nvPr/>
        </p:nvSpPr>
        <p:spPr>
          <a:xfrm>
            <a:off x="762000" y="23876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매일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349298-83B8-49FC-A379-DCEB6DDB997F}"/>
              </a:ext>
            </a:extLst>
          </p:cNvPr>
          <p:cNvSpPr/>
          <p:nvPr/>
        </p:nvSpPr>
        <p:spPr>
          <a:xfrm>
            <a:off x="2540000" y="2222500"/>
            <a:ext cx="8890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79D926-EB95-435A-AD80-02B50B4EB7D2}"/>
              </a:ext>
            </a:extLst>
          </p:cNvPr>
          <p:cNvSpPr txBox="1"/>
          <p:nvPr/>
        </p:nvSpPr>
        <p:spPr>
          <a:xfrm>
            <a:off x="2794000" y="2387600"/>
            <a:ext cx="850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대시보드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KPI 5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장 점검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지연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위험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고객 요청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미해결 이슈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2624A7-5339-4CA8-8927-0C0EE1AEE410}"/>
              </a:ext>
            </a:extLst>
          </p:cNvPr>
          <p:cNvSpPr/>
          <p:nvPr/>
        </p:nvSpPr>
        <p:spPr>
          <a:xfrm>
            <a:off x="762000" y="2984500"/>
            <a:ext cx="1651000" cy="635000"/>
          </a:xfrm>
          <a:prstGeom prst="rect">
            <a:avLst/>
          </a:prstGeom>
          <a:solidFill>
            <a:srgbClr val="667E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517866-7AC4-4A25-A380-869B5766AE9D}"/>
              </a:ext>
            </a:extLst>
          </p:cNvPr>
          <p:cNvSpPr txBox="1"/>
          <p:nvPr/>
        </p:nvSpPr>
        <p:spPr>
          <a:xfrm>
            <a:off x="762000" y="31496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수시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58F8B1-BD3E-4B43-9198-20C627E199A7}"/>
              </a:ext>
            </a:extLst>
          </p:cNvPr>
          <p:cNvSpPr/>
          <p:nvPr/>
        </p:nvSpPr>
        <p:spPr>
          <a:xfrm>
            <a:off x="2540000" y="2984500"/>
            <a:ext cx="8890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E3CA4C-0076-466A-94C1-69AE5CC25C91}"/>
              </a:ext>
            </a:extLst>
          </p:cNvPr>
          <p:cNvSpPr txBox="1"/>
          <p:nvPr/>
        </p:nvSpPr>
        <p:spPr>
          <a:xfrm>
            <a:off x="2794000" y="3149600"/>
            <a:ext cx="850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프로젝트 진척률 점검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단계 이동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담당자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/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출장 조정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E694D9-3B96-4D8A-A032-11F711C853D9}"/>
              </a:ext>
            </a:extLst>
          </p:cNvPr>
          <p:cNvSpPr/>
          <p:nvPr/>
        </p:nvSpPr>
        <p:spPr>
          <a:xfrm>
            <a:off x="762000" y="3746500"/>
            <a:ext cx="1651000" cy="635000"/>
          </a:xfrm>
          <a:prstGeom prst="rect">
            <a:avLst/>
          </a:prstGeom>
          <a:solidFill>
            <a:srgbClr val="667E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1BF7B1-C2ED-4BAD-AA6E-44CACAC4042B}"/>
              </a:ext>
            </a:extLst>
          </p:cNvPr>
          <p:cNvSpPr txBox="1"/>
          <p:nvPr/>
        </p:nvSpPr>
        <p:spPr>
          <a:xfrm>
            <a:off x="762000" y="39116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수시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1BE10CD-A65C-40AE-8E9D-1939F691E0B4}"/>
              </a:ext>
            </a:extLst>
          </p:cNvPr>
          <p:cNvSpPr/>
          <p:nvPr/>
        </p:nvSpPr>
        <p:spPr>
          <a:xfrm>
            <a:off x="2540000" y="3746500"/>
            <a:ext cx="8890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E445DA-2227-4F01-AB4B-91059820E413}"/>
              </a:ext>
            </a:extLst>
          </p:cNvPr>
          <p:cNvSpPr txBox="1"/>
          <p:nvPr/>
        </p:nvSpPr>
        <p:spPr>
          <a:xfrm>
            <a:off x="2794000" y="3911600"/>
            <a:ext cx="850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이슈 우선순위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AS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부서 협력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EEC861-15F0-4104-B613-6A3C7821A2F2}"/>
              </a:ext>
            </a:extLst>
          </p:cNvPr>
          <p:cNvSpPr/>
          <p:nvPr/>
        </p:nvSpPr>
        <p:spPr>
          <a:xfrm>
            <a:off x="762000" y="4508500"/>
            <a:ext cx="1651000" cy="635000"/>
          </a:xfrm>
          <a:prstGeom prst="rect">
            <a:avLst/>
          </a:prstGeom>
          <a:solidFill>
            <a:srgbClr val="667E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58FEFD-460D-42C2-AA53-CE267446683E}"/>
              </a:ext>
            </a:extLst>
          </p:cNvPr>
          <p:cNvSpPr txBox="1"/>
          <p:nvPr/>
        </p:nvSpPr>
        <p:spPr>
          <a:xfrm>
            <a:off x="762000" y="46736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★ 팀장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00B2DEC-D37D-434C-9201-33501051CE81}"/>
              </a:ext>
            </a:extLst>
          </p:cNvPr>
          <p:cNvSpPr/>
          <p:nvPr/>
        </p:nvSpPr>
        <p:spPr>
          <a:xfrm>
            <a:off x="2540000" y="4508500"/>
            <a:ext cx="8890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8C06BF-6445-4761-8E59-8E38A06F68EE}"/>
              </a:ext>
            </a:extLst>
          </p:cNvPr>
          <p:cNvSpPr txBox="1"/>
          <p:nvPr/>
        </p:nvSpPr>
        <p:spPr>
          <a:xfrm>
            <a:off x="2794000" y="4673600"/>
            <a:ext cx="850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부서원 주간 보고 검토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승인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926FBB5-7A10-478D-A430-716E1FFFCBDF}"/>
              </a:ext>
            </a:extLst>
          </p:cNvPr>
          <p:cNvSpPr/>
          <p:nvPr/>
        </p:nvSpPr>
        <p:spPr>
          <a:xfrm>
            <a:off x="762000" y="5270500"/>
            <a:ext cx="1651000" cy="635000"/>
          </a:xfrm>
          <a:prstGeom prst="rect">
            <a:avLst/>
          </a:prstGeom>
          <a:solidFill>
            <a:srgbClr val="667E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559E2E-099D-4900-BB21-CEEEB8DD6524}"/>
              </a:ext>
            </a:extLst>
          </p:cNvPr>
          <p:cNvSpPr txBox="1"/>
          <p:nvPr/>
        </p:nvSpPr>
        <p:spPr>
          <a:xfrm>
            <a:off x="762000" y="5435600"/>
            <a:ext cx="165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2A3A"/>
                </a:solidFill>
                <a:latin typeface="맑은 고딕"/>
                <a:ea typeface="맑은 고딕"/>
              </a:rPr>
              <a:t>★ 월요일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B1C761E-3339-4FFC-A951-6E6C9EC413D8}"/>
              </a:ext>
            </a:extLst>
          </p:cNvPr>
          <p:cNvSpPr/>
          <p:nvPr/>
        </p:nvSpPr>
        <p:spPr>
          <a:xfrm>
            <a:off x="2540000" y="5270500"/>
            <a:ext cx="8890000" cy="635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782C6E-4429-4039-B766-94DCD073099E}"/>
              </a:ext>
            </a:extLst>
          </p:cNvPr>
          <p:cNvSpPr txBox="1"/>
          <p:nvPr/>
        </p:nvSpPr>
        <p:spPr>
          <a:xfrm>
            <a:off x="2794000" y="5435600"/>
            <a:ext cx="850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팀 종합 보고서 자동 작성  →  제출</a:t>
            </a:r>
          </a:p>
        </p:txBody>
      </p:sp>
    </p:spTree>
    <p:extLst>
      <p:ext uri="{BB962C8B-B14F-4D97-AF65-F5344CB8AC3E}">
        <p14:creationId xmlns:p14="http://schemas.microsoft.com/office/powerpoint/2010/main" val="13109883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F21E57-57B9-42D8-A1F6-2552E2862F8D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FAQ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F65D3-A522-4035-9AF7-A6918EDC5814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자주 묻는 질문 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1/2</a:t>
            </a:r>
            <a:endParaRPr lang="ko-KR" altLang="en-US" sz="3200" b="1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312782-6545-4796-B566-8A25DE56E345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261C9-F7C8-40DC-99BC-FB9BE1A9D63B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운영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일정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/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권한 관련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223006-45B4-430E-8760-6EBE972B6ADE}"/>
              </a:ext>
            </a:extLst>
          </p:cNvPr>
          <p:cNvSpPr/>
          <p:nvPr/>
        </p:nvSpPr>
        <p:spPr>
          <a:xfrm>
            <a:off x="762000" y="2159000"/>
            <a:ext cx="10668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E317F0-4FDB-4626-A14B-BA14CAC17213}"/>
              </a:ext>
            </a:extLst>
          </p:cNvPr>
          <p:cNvSpPr/>
          <p:nvPr/>
        </p:nvSpPr>
        <p:spPr>
          <a:xfrm>
            <a:off x="762000" y="2159000"/>
            <a:ext cx="50800" cy="889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17C342-8FAE-4BC9-B375-4ADB4CF41354}"/>
              </a:ext>
            </a:extLst>
          </p:cNvPr>
          <p:cNvSpPr txBox="1"/>
          <p:nvPr/>
        </p:nvSpPr>
        <p:spPr>
          <a:xfrm>
            <a:off x="1016000" y="22606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Q.  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시작일</a:t>
            </a:r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/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납기가 정해지지 않았는데</a:t>
            </a:r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?</a:t>
            </a:r>
            <a:endParaRPr lang="ko-KR" altLang="en-US" sz="14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81DA60-C413-4E1E-BABB-2CD666B721B9}"/>
              </a:ext>
            </a:extLst>
          </p:cNvPr>
          <p:cNvSpPr txBox="1"/>
          <p:nvPr/>
        </p:nvSpPr>
        <p:spPr>
          <a:xfrm>
            <a:off x="1016000" y="26162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→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"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미정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"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체크박스로 비워두기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간트차트도 안전 처리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7E3567-E603-45EF-BF4E-BF4775B839AC}"/>
              </a:ext>
            </a:extLst>
          </p:cNvPr>
          <p:cNvSpPr/>
          <p:nvPr/>
        </p:nvSpPr>
        <p:spPr>
          <a:xfrm>
            <a:off x="762000" y="3149600"/>
            <a:ext cx="10668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C42C780-93BC-4E59-9A50-94E2EF2FEDAC}"/>
              </a:ext>
            </a:extLst>
          </p:cNvPr>
          <p:cNvSpPr/>
          <p:nvPr/>
        </p:nvSpPr>
        <p:spPr>
          <a:xfrm>
            <a:off x="762000" y="3149600"/>
            <a:ext cx="50800" cy="889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EEC6DD-627A-4415-B024-CABAA948A880}"/>
              </a:ext>
            </a:extLst>
          </p:cNvPr>
          <p:cNvSpPr txBox="1"/>
          <p:nvPr/>
        </p:nvSpPr>
        <p:spPr>
          <a:xfrm>
            <a:off x="1016000" y="32512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Q.  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도메인을 잘못 골랐어요</a:t>
            </a:r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.</a:t>
            </a:r>
            <a:endParaRPr lang="ko-KR" altLang="en-US" sz="14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48DF59-5FEC-44F7-8539-BAE044DA1FF1}"/>
              </a:ext>
            </a:extLst>
          </p:cNvPr>
          <p:cNvSpPr txBox="1"/>
          <p:nvPr/>
        </p:nvSpPr>
        <p:spPr>
          <a:xfrm>
            <a:off x="1016000" y="36068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→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ADMIN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에게 요청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활동 로그 자동 기록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)</a:t>
            </a:r>
            <a:endParaRPr lang="ko-KR" altLang="en-US" sz="13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0B2BF96-2891-4E82-A44C-582E1493CB30}"/>
              </a:ext>
            </a:extLst>
          </p:cNvPr>
          <p:cNvSpPr/>
          <p:nvPr/>
        </p:nvSpPr>
        <p:spPr>
          <a:xfrm>
            <a:off x="762000" y="4140200"/>
            <a:ext cx="10668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8A5EDC-4BB0-488C-A5CC-CC9893DD36A7}"/>
              </a:ext>
            </a:extLst>
          </p:cNvPr>
          <p:cNvSpPr/>
          <p:nvPr/>
        </p:nvSpPr>
        <p:spPr>
          <a:xfrm>
            <a:off x="762000" y="4140200"/>
            <a:ext cx="50800" cy="889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C63AD2-B98D-411A-BBDD-6470069955D6}"/>
              </a:ext>
            </a:extLst>
          </p:cNvPr>
          <p:cNvSpPr txBox="1"/>
          <p:nvPr/>
        </p:nvSpPr>
        <p:spPr>
          <a:xfrm>
            <a:off x="1016000" y="42418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Q.  Buy-off 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했는데 검수 항목 수정해야 해요</a:t>
            </a:r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.</a:t>
            </a:r>
            <a:endParaRPr lang="ko-KR" altLang="en-US" sz="14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494D0F-21FA-4C65-A9BD-3F8DFFE280AC}"/>
              </a:ext>
            </a:extLst>
          </p:cNvPr>
          <p:cNvSpPr txBox="1"/>
          <p:nvPr/>
        </p:nvSpPr>
        <p:spPr>
          <a:xfrm>
            <a:off x="1016000" y="45974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→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ADMIN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만 가능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사인 취소도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ADMIN</a:t>
            </a:r>
            <a:endParaRPr lang="ko-KR" altLang="en-US" sz="13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DDD1C7-34B5-408D-B9AE-CE819C608526}"/>
              </a:ext>
            </a:extLst>
          </p:cNvPr>
          <p:cNvSpPr/>
          <p:nvPr/>
        </p:nvSpPr>
        <p:spPr>
          <a:xfrm>
            <a:off x="762000" y="5130800"/>
            <a:ext cx="10668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2A5ECE-50AA-429B-A72B-3F571C6B0CB7}"/>
              </a:ext>
            </a:extLst>
          </p:cNvPr>
          <p:cNvSpPr/>
          <p:nvPr/>
        </p:nvSpPr>
        <p:spPr>
          <a:xfrm>
            <a:off x="762000" y="5130800"/>
            <a:ext cx="50800" cy="889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CBADD0-7B46-4D3F-A58D-41C52B481E7C}"/>
              </a:ext>
            </a:extLst>
          </p:cNvPr>
          <p:cNvSpPr txBox="1"/>
          <p:nvPr/>
        </p:nvSpPr>
        <p:spPr>
          <a:xfrm>
            <a:off x="1016000" y="52324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Q.  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모바일에서 사진 빠르게 첨부</a:t>
            </a:r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?</a:t>
            </a:r>
            <a:endParaRPr lang="ko-KR" altLang="en-US" sz="14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184E1C-DA3A-4809-87CA-0881118A2CF0}"/>
              </a:ext>
            </a:extLst>
          </p:cNvPr>
          <p:cNvSpPr txBox="1"/>
          <p:nvPr/>
        </p:nvSpPr>
        <p:spPr>
          <a:xfrm>
            <a:off x="1016000" y="55880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→  모바일 모드에서 이슈 등록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자동 모드 전환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768px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미만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AD31272-342C-4576-9064-ED879399BC58}"/>
              </a:ext>
            </a:extLst>
          </p:cNvPr>
          <p:cNvSpPr/>
          <p:nvPr/>
        </p:nvSpPr>
        <p:spPr>
          <a:xfrm>
            <a:off x="762000" y="6121400"/>
            <a:ext cx="10668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3F7CBE-2E72-4C61-A68B-036DA855FA13}"/>
              </a:ext>
            </a:extLst>
          </p:cNvPr>
          <p:cNvSpPr/>
          <p:nvPr/>
        </p:nvSpPr>
        <p:spPr>
          <a:xfrm>
            <a:off x="762000" y="6121400"/>
            <a:ext cx="50800" cy="889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1DDE89-D61E-4239-9D56-1A927D45E529}"/>
              </a:ext>
            </a:extLst>
          </p:cNvPr>
          <p:cNvSpPr txBox="1"/>
          <p:nvPr/>
        </p:nvSpPr>
        <p:spPr>
          <a:xfrm>
            <a:off x="1016000" y="62230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Q.  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같은 사람이 한 프로젝트에 출장 여러 번</a:t>
            </a:r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?</a:t>
            </a:r>
            <a:endParaRPr lang="ko-KR" altLang="en-US" sz="14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5C6D56-3AA4-475E-B77A-12967C545E43}"/>
              </a:ext>
            </a:extLst>
          </p:cNvPr>
          <p:cNvSpPr txBox="1"/>
          <p:nvPr/>
        </p:nvSpPr>
        <p:spPr>
          <a:xfrm>
            <a:off x="1016000" y="65786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→  가능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사유와 함께 모두 기록</a:t>
            </a:r>
          </a:p>
        </p:txBody>
      </p:sp>
    </p:spTree>
    <p:extLst>
      <p:ext uri="{BB962C8B-B14F-4D97-AF65-F5344CB8AC3E}">
        <p14:creationId xmlns:p14="http://schemas.microsoft.com/office/powerpoint/2010/main" val="967979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D9CB20-31CD-4FAE-B2D9-C54F3258688B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FAQ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120870-E052-462E-8C8B-C25C6E2774C4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자주 묻는 질문 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2/2</a:t>
            </a:r>
            <a:endParaRPr lang="ko-KR" altLang="en-US" sz="3200" b="1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943FF42-7819-4BC6-94DA-7D90B8988176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302D66-4D23-45CA-A0A8-8FDB92511DB5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주간 보고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파일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권한 관련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F770A6-74F8-42E3-A292-D739146372E1}"/>
              </a:ext>
            </a:extLst>
          </p:cNvPr>
          <p:cNvSpPr/>
          <p:nvPr/>
        </p:nvSpPr>
        <p:spPr>
          <a:xfrm>
            <a:off x="762000" y="2159000"/>
            <a:ext cx="10668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6A81E67-FC5B-4440-8E5F-AA8110F8976A}"/>
              </a:ext>
            </a:extLst>
          </p:cNvPr>
          <p:cNvSpPr/>
          <p:nvPr/>
        </p:nvSpPr>
        <p:spPr>
          <a:xfrm>
            <a:off x="762000" y="2159000"/>
            <a:ext cx="50800" cy="889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367FFD-410E-4949-9273-86A4E9A51491}"/>
              </a:ext>
            </a:extLst>
          </p:cNvPr>
          <p:cNvSpPr txBox="1"/>
          <p:nvPr/>
        </p:nvSpPr>
        <p:spPr>
          <a:xfrm>
            <a:off x="1016000" y="22606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Q.  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주간 보고를 다른 사람이 볼 수 있나요</a:t>
            </a:r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?</a:t>
            </a:r>
            <a:endParaRPr lang="ko-KR" altLang="en-US" sz="14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C48884-C667-4B8C-9166-9948903EB225}"/>
              </a:ext>
            </a:extLst>
          </p:cNvPr>
          <p:cNvSpPr txBox="1"/>
          <p:nvPr/>
        </p:nvSpPr>
        <p:spPr>
          <a:xfrm>
            <a:off x="1016000" y="26162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→  본인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+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팀장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같은 부서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)  +  ADMIN  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그 외엔 안 보임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9273B5-7C1E-454F-B78A-42008950AFE6}"/>
              </a:ext>
            </a:extLst>
          </p:cNvPr>
          <p:cNvSpPr/>
          <p:nvPr/>
        </p:nvSpPr>
        <p:spPr>
          <a:xfrm>
            <a:off x="762000" y="3149600"/>
            <a:ext cx="10668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3F4AD6-731B-460E-B23D-3F061E31D862}"/>
              </a:ext>
            </a:extLst>
          </p:cNvPr>
          <p:cNvSpPr/>
          <p:nvPr/>
        </p:nvSpPr>
        <p:spPr>
          <a:xfrm>
            <a:off x="762000" y="3149600"/>
            <a:ext cx="50800" cy="889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8AEC26-7A13-4ECB-A3FE-2596ED44B359}"/>
              </a:ext>
            </a:extLst>
          </p:cNvPr>
          <p:cNvSpPr txBox="1"/>
          <p:nvPr/>
        </p:nvSpPr>
        <p:spPr>
          <a:xfrm>
            <a:off x="1016000" y="32512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Q.  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팀장인데 옆 부서 보고도 보고 싶어요</a:t>
            </a:r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.</a:t>
            </a:r>
            <a:endParaRPr lang="ko-KR" altLang="en-US" sz="14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270541-0A0D-48A9-9026-76E530389149}"/>
              </a:ext>
            </a:extLst>
          </p:cNvPr>
          <p:cNvSpPr txBox="1"/>
          <p:nvPr/>
        </p:nvSpPr>
        <p:spPr>
          <a:xfrm>
            <a:off x="1016000" y="36068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→  같은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dept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만 가능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다른 부서는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ADMIN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권한 필요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A2C09B-D72C-475A-80D2-3BB56216C888}"/>
              </a:ext>
            </a:extLst>
          </p:cNvPr>
          <p:cNvSpPr/>
          <p:nvPr/>
        </p:nvSpPr>
        <p:spPr>
          <a:xfrm>
            <a:off x="762000" y="4140200"/>
            <a:ext cx="10668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D1E99D7-F061-4C88-AD84-59FFF73DF335}"/>
              </a:ext>
            </a:extLst>
          </p:cNvPr>
          <p:cNvSpPr/>
          <p:nvPr/>
        </p:nvSpPr>
        <p:spPr>
          <a:xfrm>
            <a:off x="762000" y="4140200"/>
            <a:ext cx="50800" cy="889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ED29AC-ED55-431D-8C9E-B400E898C50C}"/>
              </a:ext>
            </a:extLst>
          </p:cNvPr>
          <p:cNvSpPr txBox="1"/>
          <p:nvPr/>
        </p:nvSpPr>
        <p:spPr>
          <a:xfrm>
            <a:off x="1016000" y="42418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Q.  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자동 집계가 빠진 것 같아요</a:t>
            </a:r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.</a:t>
            </a:r>
            <a:endParaRPr lang="ko-KR" altLang="en-US" sz="14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E719A4-8456-402F-81CE-B8CD0CC4A40A}"/>
              </a:ext>
            </a:extLst>
          </p:cNvPr>
          <p:cNvSpPr txBox="1"/>
          <p:nvPr/>
        </p:nvSpPr>
        <p:spPr>
          <a:xfrm>
            <a:off x="1016000" y="45974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→  본인 이름으로 등록된 활동만 잡힘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타인 활동은 미포함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E91FBD2-4F75-472B-BE1F-B8169118F993}"/>
              </a:ext>
            </a:extLst>
          </p:cNvPr>
          <p:cNvSpPr/>
          <p:nvPr/>
        </p:nvSpPr>
        <p:spPr>
          <a:xfrm>
            <a:off x="762000" y="5130800"/>
            <a:ext cx="10668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C808826-39A4-46CF-86AC-C0E2E60DA842}"/>
              </a:ext>
            </a:extLst>
          </p:cNvPr>
          <p:cNvSpPr/>
          <p:nvPr/>
        </p:nvSpPr>
        <p:spPr>
          <a:xfrm>
            <a:off x="762000" y="5130800"/>
            <a:ext cx="50800" cy="889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DD7860-0558-41A8-A446-D9E47C0F544D}"/>
              </a:ext>
            </a:extLst>
          </p:cNvPr>
          <p:cNvSpPr txBox="1"/>
          <p:nvPr/>
        </p:nvSpPr>
        <p:spPr>
          <a:xfrm>
            <a:off x="1016000" y="52324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Q.  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사이드바에 주간 보고 메뉴가 안 보여요</a:t>
            </a:r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.</a:t>
            </a:r>
            <a:endParaRPr lang="ko-KR" altLang="en-US" sz="14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BF307C-E7B9-45AE-A050-C257168B407F}"/>
              </a:ext>
            </a:extLst>
          </p:cNvPr>
          <p:cNvSpPr txBox="1"/>
          <p:nvPr/>
        </p:nvSpPr>
        <p:spPr>
          <a:xfrm>
            <a:off x="1016000" y="55880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→  ① 시스템 설정 기능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ON  ②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사용자 관리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"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주간 보고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" 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토글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ON</a:t>
            </a:r>
            <a:endParaRPr lang="ko-KR" altLang="en-US" sz="13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15521F5-B2C7-432F-86D4-C5FC37F08441}"/>
              </a:ext>
            </a:extLst>
          </p:cNvPr>
          <p:cNvSpPr/>
          <p:nvPr/>
        </p:nvSpPr>
        <p:spPr>
          <a:xfrm>
            <a:off x="762000" y="6121400"/>
            <a:ext cx="10668000" cy="889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6839245-B647-4BA3-8F6D-257E42217297}"/>
              </a:ext>
            </a:extLst>
          </p:cNvPr>
          <p:cNvSpPr/>
          <p:nvPr/>
        </p:nvSpPr>
        <p:spPr>
          <a:xfrm>
            <a:off x="762000" y="6121400"/>
            <a:ext cx="50800" cy="8890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35DEDC-4742-4A12-AF22-09C6EF028595}"/>
              </a:ext>
            </a:extLst>
          </p:cNvPr>
          <p:cNvSpPr txBox="1"/>
          <p:nvPr/>
        </p:nvSpPr>
        <p:spPr>
          <a:xfrm>
            <a:off x="1016000" y="62230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Q.  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첨부 </a:t>
            </a:r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18MB </a:t>
            </a:r>
            <a:r>
              <a:rPr lang="ko-KR" altLang="en-US" sz="1400" b="1">
                <a:solidFill>
                  <a:srgbClr val="00D4AA"/>
                </a:solidFill>
                <a:latin typeface="맑은 고딕"/>
                <a:ea typeface="맑은 고딕"/>
              </a:rPr>
              <a:t>넘는 파일은</a:t>
            </a:r>
            <a:r>
              <a:rPr lang="en-US" altLang="ko-KR" sz="1400" b="1">
                <a:solidFill>
                  <a:srgbClr val="00D4AA"/>
                </a:solidFill>
                <a:latin typeface="맑은 고딕"/>
                <a:ea typeface="맑은 고딕"/>
              </a:rPr>
              <a:t>?</a:t>
            </a:r>
            <a:endParaRPr lang="ko-KR" altLang="en-US" sz="14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D76235-4EE8-4453-82C0-0B60D1B2CEA3}"/>
              </a:ext>
            </a:extLst>
          </p:cNvPr>
          <p:cNvSpPr txBox="1"/>
          <p:nvPr/>
        </p:nvSpPr>
        <p:spPr>
          <a:xfrm>
            <a:off x="1016000" y="65786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→  </a:t>
            </a:r>
            <a:r>
              <a:rPr lang="en-US" altLang="ko-KR" sz="1300">
                <a:solidFill>
                  <a:srgbClr val="F0F0F0"/>
                </a:solidFill>
                <a:latin typeface="맑은 고딕"/>
                <a:ea typeface="맑은 고딕"/>
              </a:rPr>
              <a:t>Drive</a:t>
            </a:r>
            <a:r>
              <a:rPr lang="ko-KR" altLang="en-US" sz="1300">
                <a:solidFill>
                  <a:srgbClr val="F0F0F0"/>
                </a:solidFill>
                <a:latin typeface="맑은 고딕"/>
                <a:ea typeface="맑은 고딕"/>
              </a:rPr>
              <a:t>에 직접 올리고 링크 공유</a:t>
            </a:r>
          </a:p>
        </p:txBody>
      </p:sp>
    </p:spTree>
    <p:extLst>
      <p:ext uri="{BB962C8B-B14F-4D97-AF65-F5344CB8AC3E}">
        <p14:creationId xmlns:p14="http://schemas.microsoft.com/office/powerpoint/2010/main" val="3001291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CAA4C7-9F19-48A2-A732-E59856D9B9DD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CLOSING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573F4-4891-4056-A38C-10ECC2C3AC72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오늘 핵심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5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가지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F833A0-243F-40C4-9A25-08F445734767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A7F02-45E4-4D0A-88C4-B3907738D959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다음 주 첫 주간 보고는 함께 시연 후 각자 작성하는 시간 권장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D58D8C-ECE8-48F6-81DE-B0A3A80E00BF}"/>
              </a:ext>
            </a:extLst>
          </p:cNvPr>
          <p:cNvSpPr/>
          <p:nvPr/>
        </p:nvSpPr>
        <p:spPr>
          <a:xfrm>
            <a:off x="762000" y="2222500"/>
            <a:ext cx="10668000" cy="762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D641DD5-5C8E-443E-B2C0-70D70A1F4F6A}"/>
              </a:ext>
            </a:extLst>
          </p:cNvPr>
          <p:cNvSpPr/>
          <p:nvPr/>
        </p:nvSpPr>
        <p:spPr>
          <a:xfrm>
            <a:off x="952500" y="2374900"/>
            <a:ext cx="457200" cy="4572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6ECDD2-7A34-443A-88E1-2A779010B886}"/>
              </a:ext>
            </a:extLst>
          </p:cNvPr>
          <p:cNvSpPr txBox="1"/>
          <p:nvPr/>
        </p:nvSpPr>
        <p:spPr>
          <a:xfrm>
            <a:off x="952500" y="2425700"/>
            <a:ext cx="457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600" b="1">
                <a:solidFill>
                  <a:srgbClr val="1A2A3A"/>
                </a:solidFill>
                <a:latin typeface="맑은 고딕"/>
                <a:ea typeface="맑은 고딕"/>
              </a:rPr>
              <a:t>1</a:t>
            </a:r>
            <a:endParaRPr lang="ko-KR" altLang="en-US" sz="16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23C7F8-0DE7-4519-9F00-32A52E1AF7EF}"/>
              </a:ext>
            </a:extLst>
          </p:cNvPr>
          <p:cNvSpPr txBox="1"/>
          <p:nvPr/>
        </p:nvSpPr>
        <p:spPr>
          <a:xfrm>
            <a:off x="1651000" y="23749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기록은 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EQ-PMS 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한 곳에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CAC79E-8C60-4B5E-B4D3-F03FA6BDA929}"/>
              </a:ext>
            </a:extLst>
          </p:cNvPr>
          <p:cNvSpPr txBox="1"/>
          <p:nvPr/>
        </p:nvSpPr>
        <p:spPr>
          <a:xfrm>
            <a:off x="1651000" y="26797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엑셀 </a:t>
            </a:r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/ </a:t>
            </a:r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메일 분산 </a:t>
            </a:r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X</a:t>
            </a:r>
            <a:endParaRPr lang="ko-KR" altLang="en-US" sz="1200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9500D4-605B-4DFB-A079-7C66E4B5BA73}"/>
              </a:ext>
            </a:extLst>
          </p:cNvPr>
          <p:cNvSpPr txBox="1"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ko-KR" altLang="en-US" sz="800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6D3643-C100-4F84-AF47-5E2672F3C693}"/>
              </a:ext>
            </a:extLst>
          </p:cNvPr>
          <p:cNvSpPr txBox="1"/>
          <p:nvPr/>
        </p:nvSpPr>
        <p:spPr>
          <a:xfrm>
            <a:off x="10795000" y="2425700"/>
            <a:ext cx="457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00D4AA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5E30D9A-FEB4-40E2-9E4C-AD5BE381849D}"/>
              </a:ext>
            </a:extLst>
          </p:cNvPr>
          <p:cNvSpPr/>
          <p:nvPr/>
        </p:nvSpPr>
        <p:spPr>
          <a:xfrm>
            <a:off x="762000" y="3111500"/>
            <a:ext cx="10668000" cy="762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8BCBE7C-0E35-443E-BEA2-4035CB1E3FB3}"/>
              </a:ext>
            </a:extLst>
          </p:cNvPr>
          <p:cNvSpPr/>
          <p:nvPr/>
        </p:nvSpPr>
        <p:spPr>
          <a:xfrm>
            <a:off x="952500" y="3263900"/>
            <a:ext cx="457200" cy="4572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5A6897-B583-48E6-9EAE-D448FE700873}"/>
              </a:ext>
            </a:extLst>
          </p:cNvPr>
          <p:cNvSpPr txBox="1"/>
          <p:nvPr/>
        </p:nvSpPr>
        <p:spPr>
          <a:xfrm>
            <a:off x="952500" y="3314700"/>
            <a:ext cx="457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600" b="1">
                <a:solidFill>
                  <a:srgbClr val="1A2A3A"/>
                </a:solidFill>
                <a:latin typeface="맑은 고딕"/>
                <a:ea typeface="맑은 고딕"/>
              </a:rPr>
              <a:t>2</a:t>
            </a:r>
            <a:endParaRPr lang="ko-KR" altLang="en-US" sz="16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686F92-EDE6-4DCB-842D-6814C17D0B46}"/>
              </a:ext>
            </a:extLst>
          </p:cNvPr>
          <p:cNvSpPr txBox="1"/>
          <p:nvPr/>
        </p:nvSpPr>
        <p:spPr>
          <a:xfrm>
            <a:off x="1651000" y="32639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간트는 휠로 줌  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·  Shift+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휠로 이동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3B8DBE-3D2D-4819-8EA7-D45FB31314D6}"/>
              </a:ext>
            </a:extLst>
          </p:cNvPr>
          <p:cNvSpPr txBox="1"/>
          <p:nvPr/>
        </p:nvSpPr>
        <p:spPr>
          <a:xfrm>
            <a:off x="1651000" y="35687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0.5x ~ 4x</a:t>
            </a:r>
            <a:endParaRPr lang="ko-KR" altLang="en-US" sz="1200">
              <a:solidFill>
                <a:srgbClr val="C8D6E5"/>
              </a:solidFill>
              <a:latin typeface="맑은 고딕"/>
              <a:ea typeface="맑은 고딕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4368A6-2699-4ACB-B24B-C385806AFD41}"/>
              </a:ext>
            </a:extLst>
          </p:cNvPr>
          <p:cNvSpPr txBox="1"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ko-KR" altLang="en-US" sz="800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886C02-9621-42FD-AA2E-03FF698B276C}"/>
              </a:ext>
            </a:extLst>
          </p:cNvPr>
          <p:cNvSpPr txBox="1"/>
          <p:nvPr/>
        </p:nvSpPr>
        <p:spPr>
          <a:xfrm>
            <a:off x="10795000" y="3314700"/>
            <a:ext cx="457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00D4AA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B1272F7-2825-45A0-B7AC-4F3681C7747B}"/>
              </a:ext>
            </a:extLst>
          </p:cNvPr>
          <p:cNvSpPr/>
          <p:nvPr/>
        </p:nvSpPr>
        <p:spPr>
          <a:xfrm>
            <a:off x="762000" y="4000500"/>
            <a:ext cx="10668000" cy="762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DFDAB43-8835-41E4-93F0-8E05493D6CAA}"/>
              </a:ext>
            </a:extLst>
          </p:cNvPr>
          <p:cNvSpPr/>
          <p:nvPr/>
        </p:nvSpPr>
        <p:spPr>
          <a:xfrm>
            <a:off x="952500" y="4152900"/>
            <a:ext cx="457200" cy="4572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9822BD-60AD-42D4-AF90-2FCD97345ADD}"/>
              </a:ext>
            </a:extLst>
          </p:cNvPr>
          <p:cNvSpPr txBox="1"/>
          <p:nvPr/>
        </p:nvSpPr>
        <p:spPr>
          <a:xfrm>
            <a:off x="952500" y="4203700"/>
            <a:ext cx="457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600" b="1">
                <a:solidFill>
                  <a:srgbClr val="1A2A3A"/>
                </a:solidFill>
                <a:latin typeface="맑은 고딕"/>
                <a:ea typeface="맑은 고딕"/>
              </a:rPr>
              <a:t>3</a:t>
            </a:r>
            <a:endParaRPr lang="ko-KR" altLang="en-US" sz="16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B17C68-A906-4686-9111-3F9157936972}"/>
              </a:ext>
            </a:extLst>
          </p:cNvPr>
          <p:cNvSpPr txBox="1"/>
          <p:nvPr/>
        </p:nvSpPr>
        <p:spPr>
          <a:xfrm>
            <a:off x="1651000" y="41529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회의록 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= 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빠른 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상세 모드  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+  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다중 파일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FB4DA0-B662-4171-8DA3-2B0272421A3C}"/>
              </a:ext>
            </a:extLst>
          </p:cNvPr>
          <p:cNvSpPr txBox="1"/>
          <p:nvPr/>
        </p:nvSpPr>
        <p:spPr>
          <a:xfrm>
            <a:off x="10795000" y="4203700"/>
            <a:ext cx="457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00D4AA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B8887E8-37F7-465D-B026-52F577E001FE}"/>
              </a:ext>
            </a:extLst>
          </p:cNvPr>
          <p:cNvSpPr/>
          <p:nvPr/>
        </p:nvSpPr>
        <p:spPr>
          <a:xfrm>
            <a:off x="762000" y="4889500"/>
            <a:ext cx="10668000" cy="762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DAA06EA-2440-45C8-BBF2-4C2C96D27BF0}"/>
              </a:ext>
            </a:extLst>
          </p:cNvPr>
          <p:cNvSpPr/>
          <p:nvPr/>
        </p:nvSpPr>
        <p:spPr>
          <a:xfrm>
            <a:off x="952500" y="5041900"/>
            <a:ext cx="457200" cy="4572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9FCFC9-1313-45FD-BADC-565930E5F3FF}"/>
              </a:ext>
            </a:extLst>
          </p:cNvPr>
          <p:cNvSpPr txBox="1"/>
          <p:nvPr/>
        </p:nvSpPr>
        <p:spPr>
          <a:xfrm>
            <a:off x="952500" y="5092700"/>
            <a:ext cx="457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600" b="1">
                <a:solidFill>
                  <a:srgbClr val="1A2A3A"/>
                </a:solidFill>
                <a:latin typeface="맑은 고딕"/>
                <a:ea typeface="맑은 고딕"/>
              </a:rPr>
              <a:t>4</a:t>
            </a:r>
            <a:endParaRPr lang="ko-KR" altLang="en-US" sz="16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639550-4210-4BF3-83CF-EBC7D5748F2A}"/>
              </a:ext>
            </a:extLst>
          </p:cNvPr>
          <p:cNvSpPr txBox="1"/>
          <p:nvPr/>
        </p:nvSpPr>
        <p:spPr>
          <a:xfrm>
            <a:off x="1651000" y="50419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주간 보고 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= 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자동 작성  </a:t>
            </a: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</a:rPr>
              <a:t>+  1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분 다듬기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30E967-E020-49EA-9E08-25EE72AB93C0}"/>
              </a:ext>
            </a:extLst>
          </p:cNvPr>
          <p:cNvSpPr txBox="1"/>
          <p:nvPr/>
        </p:nvSpPr>
        <p:spPr>
          <a:xfrm>
            <a:off x="1651000" y="53467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30</a:t>
            </a:r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분 → </a:t>
            </a:r>
            <a:r>
              <a:rPr lang="en-US" altLang="ko-KR" sz="1200">
                <a:solidFill>
                  <a:srgbClr val="C8D6E5"/>
                </a:solidFill>
                <a:latin typeface="맑은 고딕"/>
                <a:ea typeface="맑은 고딕"/>
              </a:rPr>
              <a:t>1</a:t>
            </a:r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ED2B44-287D-4D3A-BDC0-160D64EF1CA8}"/>
              </a:ext>
            </a:extLst>
          </p:cNvPr>
          <p:cNvSpPr txBox="1"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800">
                <a:solidFill>
                  <a:srgbClr val="1A2A3A"/>
                </a:solidFill>
                <a:latin typeface="맑은 고딕"/>
                <a:ea typeface="맑은 고딕"/>
              </a:rPr>
              <a:t>30</a:t>
            </a:r>
            <a:r>
              <a:rPr lang="ko-KR" altLang="en-US" sz="800">
                <a:solidFill>
                  <a:srgbClr val="1A2A3A"/>
                </a:solidFill>
                <a:latin typeface="맑은 고딕"/>
                <a:ea typeface="맑은 고딕"/>
              </a:rPr>
              <a:t>분 → </a:t>
            </a:r>
            <a:r>
              <a:rPr lang="en-US" altLang="ko-KR" sz="800">
                <a:solidFill>
                  <a:srgbClr val="1A2A3A"/>
                </a:solidFill>
                <a:latin typeface="맑은 고딕"/>
                <a:ea typeface="맑은 고딕"/>
              </a:rPr>
              <a:t>1</a:t>
            </a:r>
            <a:r>
              <a:rPr lang="ko-KR" altLang="en-US" sz="800">
                <a:solidFill>
                  <a:srgbClr val="1A2A3A"/>
                </a:solidFill>
                <a:latin typeface="맑은 고딕"/>
                <a:ea typeface="맑은 고딕"/>
              </a:rPr>
              <a:t>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9C9F47-DCFB-4986-9F1D-7CB55C4920CD}"/>
              </a:ext>
            </a:extLst>
          </p:cNvPr>
          <p:cNvSpPr txBox="1"/>
          <p:nvPr/>
        </p:nvSpPr>
        <p:spPr>
          <a:xfrm>
            <a:off x="10795000" y="5092700"/>
            <a:ext cx="457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00D4AA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EE53CEA-5BC6-4FFC-B73A-7106928150DD}"/>
              </a:ext>
            </a:extLst>
          </p:cNvPr>
          <p:cNvSpPr/>
          <p:nvPr/>
        </p:nvSpPr>
        <p:spPr>
          <a:xfrm>
            <a:off x="762000" y="5778500"/>
            <a:ext cx="10668000" cy="7620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890EA096-3B61-464E-A92E-8863E8ACB369}"/>
              </a:ext>
            </a:extLst>
          </p:cNvPr>
          <p:cNvSpPr/>
          <p:nvPr/>
        </p:nvSpPr>
        <p:spPr>
          <a:xfrm>
            <a:off x="952500" y="5930900"/>
            <a:ext cx="457200" cy="4572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C88EFC-1B1C-4B02-9945-77FC0B18AF12}"/>
              </a:ext>
            </a:extLst>
          </p:cNvPr>
          <p:cNvSpPr txBox="1"/>
          <p:nvPr/>
        </p:nvSpPr>
        <p:spPr>
          <a:xfrm>
            <a:off x="952500" y="5981700"/>
            <a:ext cx="457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600" b="1">
                <a:solidFill>
                  <a:srgbClr val="1A2A3A"/>
                </a:solidFill>
                <a:latin typeface="맑은 고딕"/>
                <a:ea typeface="맑은 고딕"/>
              </a:rPr>
              <a:t>5</a:t>
            </a:r>
            <a:endParaRPr lang="ko-KR" altLang="en-US" sz="1600" b="1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57806D-BF2C-4695-A1F8-00CA211A0AB3}"/>
              </a:ext>
            </a:extLst>
          </p:cNvPr>
          <p:cNvSpPr txBox="1"/>
          <p:nvPr/>
        </p:nvSpPr>
        <p:spPr>
          <a:xfrm>
            <a:off x="1651000" y="59309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</a:rPr>
              <a:t>모르겠으면 헤더의 ❓ 도움말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C2852F-E0E8-4642-9A27-4CB67CE0A366}"/>
              </a:ext>
            </a:extLst>
          </p:cNvPr>
          <p:cNvSpPr txBox="1"/>
          <p:nvPr/>
        </p:nvSpPr>
        <p:spPr>
          <a:xfrm>
            <a:off x="1651000" y="62357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C8D6E5"/>
                </a:solidFill>
                <a:latin typeface="맑은 고딕"/>
                <a:ea typeface="맑은 고딕"/>
              </a:rPr>
              <a:t>이 가이드 그대로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07ED87-0E7E-4547-9E3B-BE632211EEFA}"/>
              </a:ext>
            </a:extLst>
          </p:cNvPr>
          <p:cNvSpPr txBox="1"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ko-KR" altLang="en-US" sz="800">
              <a:solidFill>
                <a:srgbClr val="1A2A3A"/>
              </a:solidFill>
              <a:latin typeface="맑은 고딕"/>
              <a:ea typeface="맑은 고딕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F43571-3FBC-46B7-B079-57DD8807BF68}"/>
              </a:ext>
            </a:extLst>
          </p:cNvPr>
          <p:cNvSpPr txBox="1"/>
          <p:nvPr/>
        </p:nvSpPr>
        <p:spPr>
          <a:xfrm>
            <a:off x="10795000" y="5981700"/>
            <a:ext cx="457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00D4AA"/>
                </a:solidFill>
                <a:latin typeface="맑은 고딕"/>
                <a:ea typeface="맑은 고딕"/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19827118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A401C3-C94B-4C14-85C7-B4EC265F0158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0D4AA"/>
                </a:solidFill>
                <a:latin typeface="맑은 고딕"/>
                <a:ea typeface="맑은 고딕"/>
              </a:rPr>
              <a:t>CLOSING</a:t>
            </a:r>
            <a:endParaRPr lang="ko-KR" altLang="en-US" sz="1200" b="1">
              <a:solidFill>
                <a:srgbClr val="00D4AA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94CF87-7D81-4FB7-B994-512EACDA8B23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지원  </a:t>
            </a:r>
            <a:r>
              <a:rPr lang="en-US" altLang="ko-KR" sz="3200" b="1">
                <a:solidFill>
                  <a:srgbClr val="F0F0F0"/>
                </a:solidFill>
                <a:latin typeface="맑은 고딕"/>
                <a:ea typeface="맑은 고딕"/>
              </a:rPr>
              <a:t>/  </a:t>
            </a:r>
            <a:r>
              <a:rPr lang="ko-KR" altLang="en-US" sz="3200" b="1">
                <a:solidFill>
                  <a:srgbClr val="F0F0F0"/>
                </a:solidFill>
                <a:latin typeface="맑은 고딕"/>
                <a:ea typeface="맑은 고딕"/>
              </a:rPr>
              <a:t>문의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1AF695-8E15-4A33-B18A-684B1FF1062D}"/>
              </a:ext>
            </a:extLst>
          </p:cNvPr>
          <p:cNvSpPr/>
          <p:nvPr/>
        </p:nvSpPr>
        <p:spPr>
          <a:xfrm>
            <a:off x="762000" y="1460500"/>
            <a:ext cx="508000" cy="254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7D02C9-86D6-402F-A9EB-7615F7448E3E}"/>
              </a:ext>
            </a:extLst>
          </p:cNvPr>
          <p:cNvSpPr txBox="1"/>
          <p:nvPr/>
        </p:nvSpPr>
        <p:spPr>
          <a:xfrm>
            <a:off x="762000" y="1587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Q&amp;A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시간으로 마무리  </a:t>
            </a:r>
            <a:r>
              <a:rPr lang="en-US" altLang="ko-KR" sz="1400">
                <a:solidFill>
                  <a:srgbClr val="C8D6E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400">
                <a:solidFill>
                  <a:srgbClr val="C8D6E5"/>
                </a:solidFill>
                <a:latin typeface="맑은 고딕"/>
                <a:ea typeface="맑은 고딕"/>
              </a:rPr>
              <a:t>실제 본인 데이터로 한 번씩 들어가 보도록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7D3700-8FEF-438A-8EB8-BBD3A9C90C44}"/>
              </a:ext>
            </a:extLst>
          </p:cNvPr>
          <p:cNvSpPr/>
          <p:nvPr/>
        </p:nvSpPr>
        <p:spPr>
          <a:xfrm>
            <a:off x="762000" y="2222500"/>
            <a:ext cx="10668000" cy="8255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A2727C-49AD-47AF-AF7B-2B790EBAF6E9}"/>
              </a:ext>
            </a:extLst>
          </p:cNvPr>
          <p:cNvSpPr/>
          <p:nvPr/>
        </p:nvSpPr>
        <p:spPr>
          <a:xfrm>
            <a:off x="762000" y="2222500"/>
            <a:ext cx="76200" cy="8255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88BFF0-65E7-4940-A6EC-F337CEDAA6F9}"/>
              </a:ext>
            </a:extLst>
          </p:cNvPr>
          <p:cNvSpPr txBox="1"/>
          <p:nvPr/>
        </p:nvSpPr>
        <p:spPr>
          <a:xfrm>
            <a:off x="1143000" y="2349500"/>
            <a:ext cx="355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00D4AA"/>
                </a:solidFill>
                <a:latin typeface="맑은 고딕"/>
                <a:ea typeface="맑은 고딕"/>
              </a:rPr>
              <a:t>시스템 문의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355CCB-1827-4A01-BFD2-A9B4F068DB68}"/>
              </a:ext>
            </a:extLst>
          </p:cNvPr>
          <p:cNvSpPr txBox="1"/>
          <p:nvPr/>
        </p:nvSpPr>
        <p:spPr>
          <a:xfrm>
            <a:off x="4826000" y="2451100"/>
            <a:ext cx="635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AX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혁신실 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/ 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본 프로젝트 담당자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9CCFA9-12EA-47A9-A7E5-269F85A96EAA}"/>
              </a:ext>
            </a:extLst>
          </p:cNvPr>
          <p:cNvSpPr/>
          <p:nvPr/>
        </p:nvSpPr>
        <p:spPr>
          <a:xfrm>
            <a:off x="762000" y="3175000"/>
            <a:ext cx="10668000" cy="8255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3C91E6-34DA-4AC0-A069-45DCC46E078B}"/>
              </a:ext>
            </a:extLst>
          </p:cNvPr>
          <p:cNvSpPr/>
          <p:nvPr/>
        </p:nvSpPr>
        <p:spPr>
          <a:xfrm>
            <a:off x="762000" y="3175000"/>
            <a:ext cx="76200" cy="825500"/>
          </a:xfrm>
          <a:prstGeom prst="rect">
            <a:avLst/>
          </a:prstGeom>
          <a:solidFill>
            <a:srgbClr val="667E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5D1958-1648-4045-8A3E-82798E407274}"/>
              </a:ext>
            </a:extLst>
          </p:cNvPr>
          <p:cNvSpPr txBox="1"/>
          <p:nvPr/>
        </p:nvSpPr>
        <p:spPr>
          <a:xfrm>
            <a:off x="1143000" y="3302000"/>
            <a:ext cx="355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667EEA"/>
                </a:solidFill>
                <a:latin typeface="맑은 고딕"/>
                <a:ea typeface="맑은 고딕"/>
              </a:rPr>
              <a:t>권한  </a:t>
            </a:r>
            <a:r>
              <a:rPr lang="en-US" altLang="ko-KR" sz="1700" b="1">
                <a:solidFill>
                  <a:srgbClr val="667EEA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700" b="1">
                <a:solidFill>
                  <a:srgbClr val="667EEA"/>
                </a:solidFill>
                <a:latin typeface="맑은 고딕"/>
                <a:ea typeface="맑은 고딕"/>
              </a:rPr>
              <a:t>계정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B9D443-04D8-4460-BF3E-80D7ECC7699D}"/>
              </a:ext>
            </a:extLst>
          </p:cNvPr>
          <p:cNvSpPr txBox="1"/>
          <p:nvPr/>
        </p:nvSpPr>
        <p:spPr>
          <a:xfrm>
            <a:off x="4826000" y="3403600"/>
            <a:ext cx="635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</a:rPr>
              <a:t>ADMIN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7C2F47C-25D9-4BF5-B483-5030BBCB059D}"/>
              </a:ext>
            </a:extLst>
          </p:cNvPr>
          <p:cNvSpPr/>
          <p:nvPr/>
        </p:nvSpPr>
        <p:spPr>
          <a:xfrm>
            <a:off x="762000" y="4127500"/>
            <a:ext cx="10668000" cy="8255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257F464-D288-4F27-BB8C-1AB8F5A03FCD}"/>
              </a:ext>
            </a:extLst>
          </p:cNvPr>
          <p:cNvSpPr/>
          <p:nvPr/>
        </p:nvSpPr>
        <p:spPr>
          <a:xfrm>
            <a:off x="762000" y="4127500"/>
            <a:ext cx="76200" cy="825500"/>
          </a:xfrm>
          <a:prstGeom prst="rect">
            <a:avLst/>
          </a:prstGeom>
          <a:solidFill>
            <a:srgbClr val="F6AD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A78C10-3F72-42C4-94C0-9D319BA40B94}"/>
              </a:ext>
            </a:extLst>
          </p:cNvPr>
          <p:cNvSpPr txBox="1"/>
          <p:nvPr/>
        </p:nvSpPr>
        <p:spPr>
          <a:xfrm>
            <a:off x="1143000" y="4254500"/>
            <a:ext cx="355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F6AD55"/>
                </a:solidFill>
                <a:latin typeface="맑은 고딕"/>
                <a:ea typeface="맑은 고딕"/>
              </a:rPr>
              <a:t>버그  </a:t>
            </a:r>
            <a:r>
              <a:rPr lang="en-US" altLang="ko-KR" sz="1700" b="1">
                <a:solidFill>
                  <a:srgbClr val="F6AD55"/>
                </a:solidFill>
                <a:latin typeface="맑은 고딕"/>
                <a:ea typeface="맑은 고딕"/>
              </a:rPr>
              <a:t>·  </a:t>
            </a:r>
            <a:r>
              <a:rPr lang="ko-KR" altLang="en-US" sz="1700" b="1">
                <a:solidFill>
                  <a:srgbClr val="F6AD55"/>
                </a:solidFill>
                <a:latin typeface="맑은 고딕"/>
                <a:ea typeface="맑은 고딕"/>
              </a:rPr>
              <a:t>개선 요청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A5A3C3-A502-4361-9C5F-3D3259987926}"/>
              </a:ext>
            </a:extLst>
          </p:cNvPr>
          <p:cNvSpPr txBox="1"/>
          <p:nvPr/>
        </p:nvSpPr>
        <p:spPr>
          <a:xfrm>
            <a:off x="4826000" y="4356100"/>
            <a:ext cx="635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사내 채널 또는 직접 등록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935DEC-48EE-44EC-BD4D-4DE631556898}"/>
              </a:ext>
            </a:extLst>
          </p:cNvPr>
          <p:cNvSpPr/>
          <p:nvPr/>
        </p:nvSpPr>
        <p:spPr>
          <a:xfrm>
            <a:off x="762000" y="5080000"/>
            <a:ext cx="10668000" cy="825500"/>
          </a:xfrm>
          <a:prstGeom prst="rect">
            <a:avLst/>
          </a:prstGeom>
          <a:solidFill>
            <a:srgbClr val="243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EFD8BFC-97D3-4DEE-A71E-A784685BF2E8}"/>
              </a:ext>
            </a:extLst>
          </p:cNvPr>
          <p:cNvSpPr/>
          <p:nvPr/>
        </p:nvSpPr>
        <p:spPr>
          <a:xfrm>
            <a:off x="762000" y="5080000"/>
            <a:ext cx="76200" cy="825500"/>
          </a:xfrm>
          <a:prstGeom prst="rect">
            <a:avLst/>
          </a:prstGeom>
          <a:solidFill>
            <a:srgbClr val="63B3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D4D5CE-ED54-40F9-98A0-BB062C571E83}"/>
              </a:ext>
            </a:extLst>
          </p:cNvPr>
          <p:cNvSpPr txBox="1"/>
          <p:nvPr/>
        </p:nvSpPr>
        <p:spPr>
          <a:xfrm>
            <a:off x="1143000" y="5207000"/>
            <a:ext cx="355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63B3ED"/>
                </a:solidFill>
                <a:latin typeface="맑은 고딕"/>
                <a:ea typeface="맑은 고딕"/>
              </a:rPr>
              <a:t>피드백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6C7E22-0F6B-4B8C-B832-A7472597FE1B}"/>
              </a:ext>
            </a:extLst>
          </p:cNvPr>
          <p:cNvSpPr txBox="1"/>
          <p:nvPr/>
        </p:nvSpPr>
        <p:spPr>
          <a:xfrm>
            <a:off x="4826000" y="5308600"/>
            <a:ext cx="635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</a:rPr>
              <a:t>신규 기능은 사용 패턴 기반으로 추가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59EAF9-6B46-4EE8-9498-8FEC2E7694BA}"/>
              </a:ext>
            </a:extLst>
          </p:cNvPr>
          <p:cNvSpPr txBox="1"/>
          <p:nvPr/>
        </p:nvSpPr>
        <p:spPr>
          <a:xfrm>
            <a:off x="762000" y="6096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800" b="1">
                <a:solidFill>
                  <a:srgbClr val="F0F0F0"/>
                </a:solidFill>
                <a:latin typeface="맑은 고딕"/>
                <a:ea typeface="맑은 고딕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572482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78317028896]">
  <a:themeElements>
    <a:clrScheme name="Dark Modern Bright">
      <a:dk1>
        <a:srgbClr val="F0F0F0"/>
      </a:dk1>
      <a:lt1>
        <a:srgbClr val="1A2A3A"/>
      </a:lt1>
      <a:dk2>
        <a:srgbClr val="C8D6E5"/>
      </a:dk2>
      <a:lt2>
        <a:srgbClr val="243648"/>
      </a:lt2>
      <a:accent1>
        <a:srgbClr val="00D4AA"/>
      </a:accent1>
      <a:accent2>
        <a:srgbClr val="667EEA"/>
      </a:accent2>
      <a:accent3>
        <a:srgbClr val="63B3ED"/>
      </a:accent3>
      <a:accent4>
        <a:srgbClr val="E53E3E"/>
      </a:accent4>
      <a:accent5>
        <a:srgbClr val="38A169"/>
      </a:accent5>
      <a:accent6>
        <a:srgbClr val="F6AD55"/>
      </a:accent6>
      <a:hlink>
        <a:srgbClr val="0563C1"/>
      </a:hlink>
      <a:folHlink>
        <a:srgbClr val="954F72"/>
      </a:folHlink>
    </a:clrScheme>
    <a:fontScheme name="Dark Modern Bright">
      <a:majorFont>
        <a:latin typeface="Pretendard" panose="020F0302020204030204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AAAC42-7AFD-4287-88D3-D56ADD52F118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bfaccdbd-bc23-401b-9cd9-fcd62206dc4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3904</Words>
  <Application>Microsoft Office PowerPoint</Application>
  <PresentationFormat>와이드스크린</PresentationFormat>
  <Paragraphs>751</Paragraphs>
  <Slides>57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1" baseType="lpstr">
      <vt:lpstr>Pretendard</vt:lpstr>
      <vt:lpstr>맑은 고딕</vt:lpstr>
      <vt:lpstr>Arial</vt:lpstr>
      <vt:lpstr>Office 테마 [1778317028896]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</cp:revision>
  <dcterms:created xsi:type="dcterms:W3CDTF">2026-05-09T08:54:55Z</dcterms:created>
  <dcterms:modified xsi:type="dcterms:W3CDTF">2026-05-09T10:42:47Z</dcterms:modified>
</cp:coreProperties>
</file>